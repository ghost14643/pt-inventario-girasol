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Cambria Bold" charset="1" panose="02040803050406030204"/>
      <p:regular r:id="rId21"/>
    </p:embeddedFont>
    <p:embeddedFont>
      <p:font typeface="Calibri (MS)" charset="1" panose="020F0502020204030204"/>
      <p:regular r:id="rId22"/>
    </p:embeddedFont>
    <p:embeddedFont>
      <p:font typeface="Calibri (MS) Bold" charset="1" panose="020F07020304040302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notesMasters/notesMaster1.xml" Type="http://schemas.openxmlformats.org/officeDocument/2006/relationships/notesMaster"/><Relationship Id="rId19" Target="theme/theme2.xml" Type="http://schemas.openxmlformats.org/officeDocument/2006/relationships/theme"/><Relationship Id="rId2" Target="presProps.xml" Type="http://schemas.openxmlformats.org/officeDocument/2006/relationships/presProps"/><Relationship Id="rId20" Target="notesSlides/notesSlide1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notesSlides/notesSlide4.xml" Type="http://schemas.openxmlformats.org/officeDocument/2006/relationships/notesSlide"/><Relationship Id="rId27" Target="notesSlides/notesSlide5.xml" Type="http://schemas.openxmlformats.org/officeDocument/2006/relationships/notesSlide"/><Relationship Id="rId28" Target="notesSlides/notesSlide6.xml" Type="http://schemas.openxmlformats.org/officeDocument/2006/relationships/notesSlide"/><Relationship Id="rId29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8.xml" Type="http://schemas.openxmlformats.org/officeDocument/2006/relationships/notesSlide"/><Relationship Id="rId31" Target="notesSlides/notesSlide9.xml" Type="http://schemas.openxmlformats.org/officeDocument/2006/relationships/notesSlide"/><Relationship Id="rId32" Target="notesSlides/notesSlide10.xml" Type="http://schemas.openxmlformats.org/officeDocument/2006/relationships/notesSlide"/><Relationship Id="rId33" Target="notesSlides/notesSlide11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97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57383" y="-2207257"/>
            <a:ext cx="9169403" cy="9169403"/>
            <a:chOff x="0" y="0"/>
            <a:chExt cx="12225871" cy="12225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225909" cy="12225909"/>
            </a:xfrm>
            <a:custGeom>
              <a:avLst/>
              <a:gdLst/>
              <a:ahLst/>
              <a:cxnLst/>
              <a:rect r="r" b="b" t="t" l="l"/>
              <a:pathLst>
                <a:path h="12225909" w="12225909">
                  <a:moveTo>
                    <a:pt x="0" y="6112891"/>
                  </a:moveTo>
                  <a:cubicBezTo>
                    <a:pt x="0" y="2736850"/>
                    <a:pt x="2736850" y="0"/>
                    <a:pt x="6112891" y="0"/>
                  </a:cubicBezTo>
                  <a:cubicBezTo>
                    <a:pt x="9488932" y="0"/>
                    <a:pt x="12225909" y="2736850"/>
                    <a:pt x="12225909" y="6112891"/>
                  </a:cubicBezTo>
                  <a:cubicBezTo>
                    <a:pt x="12225909" y="9488932"/>
                    <a:pt x="9489059" y="12225909"/>
                    <a:pt x="6112891" y="12225909"/>
                  </a:cubicBezTo>
                  <a:cubicBezTo>
                    <a:pt x="2736723" y="12225909"/>
                    <a:pt x="0" y="9489059"/>
                    <a:pt x="0" y="611289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4983463" y="6205223"/>
            <a:ext cx="4780283" cy="4780283"/>
            <a:chOff x="0" y="0"/>
            <a:chExt cx="6373711" cy="637371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373749" cy="6373749"/>
            </a:xfrm>
            <a:custGeom>
              <a:avLst/>
              <a:gdLst/>
              <a:ahLst/>
              <a:cxnLst/>
              <a:rect r="r" b="b" t="t" l="l"/>
              <a:pathLst>
                <a:path h="6373749" w="6373749">
                  <a:moveTo>
                    <a:pt x="0" y="3186811"/>
                  </a:moveTo>
                  <a:cubicBezTo>
                    <a:pt x="0" y="1426845"/>
                    <a:pt x="1426845" y="0"/>
                    <a:pt x="3186811" y="0"/>
                  </a:cubicBezTo>
                  <a:cubicBezTo>
                    <a:pt x="4946777" y="0"/>
                    <a:pt x="6373749" y="1426845"/>
                    <a:pt x="6373749" y="3186811"/>
                  </a:cubicBezTo>
                  <a:cubicBezTo>
                    <a:pt x="6373749" y="4946777"/>
                    <a:pt x="4946904" y="6373749"/>
                    <a:pt x="3186811" y="6373749"/>
                  </a:cubicBezTo>
                  <a:cubicBezTo>
                    <a:pt x="1426718" y="6373749"/>
                    <a:pt x="0" y="4946904"/>
                    <a:pt x="0" y="3186811"/>
                  </a:cubicBezTo>
                  <a:close/>
                </a:path>
              </a:pathLst>
            </a:custGeom>
            <a:solidFill>
              <a:srgbClr val="3E5C9A"/>
            </a:solidFill>
            <a:ln w="25400" cap="sq">
              <a:solidFill>
                <a:srgbClr val="3E5C9A"/>
              </a:solidFill>
              <a:prstDash val="solid"/>
              <a:miter/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1097280" y="1809750"/>
            <a:ext cx="10972800" cy="1847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60"/>
              </a:lnSpc>
            </a:pPr>
            <a:r>
              <a:rPr lang="en-US" sz="108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EasyStock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7280" y="3754755"/>
            <a:ext cx="10241280" cy="1731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DCE3F0"/>
                </a:solidFill>
                <a:latin typeface="Calibri (MS)"/>
                <a:ea typeface="Calibri (MS)"/>
                <a:cs typeface="Calibri (MS)"/>
                <a:sym typeface="Calibri (MS)"/>
              </a:rPr>
              <a:t>Plataforma web de punto de venta e inventario para la tienda Girasol, Chiloé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97280" y="6699885"/>
            <a:ext cx="1097280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Isabel Alvarado · Bárbara Ortega · Matías Parancán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7280" y="7459980"/>
            <a:ext cx="11338560" cy="1318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CE3F0"/>
                </a:solidFill>
                <a:latin typeface="Calibri (MS)"/>
                <a:ea typeface="Calibri (MS)"/>
                <a:cs typeface="Calibri (MS)"/>
                <a:sym typeface="Calibri (MS)"/>
              </a:rPr>
              <a:t>Profesor patrocinante: German Barrientos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CE3F0"/>
                </a:solidFill>
                <a:latin typeface="Calibri (MS)"/>
                <a:ea typeface="Calibri (MS)"/>
                <a:cs typeface="Calibri (MS)"/>
                <a:sym typeface="Calibri (MS)"/>
              </a:rPr>
              <a:t>Proyecto APT · Portafolio de Título · Ingeniería en Informática · Puerto Montt 2026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975716"/>
            <a:ext cx="12805286" cy="4803500"/>
            <a:chOff x="0" y="0"/>
            <a:chExt cx="17073715" cy="64046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073714" cy="6404666"/>
            </a:xfrm>
            <a:custGeom>
              <a:avLst/>
              <a:gdLst/>
              <a:ahLst/>
              <a:cxnLst/>
              <a:rect r="r" b="b" t="t" l="l"/>
              <a:pathLst>
                <a:path h="6404666" w="17073714">
                  <a:moveTo>
                    <a:pt x="0" y="0"/>
                  </a:moveTo>
                  <a:lnTo>
                    <a:pt x="17073714" y="0"/>
                  </a:lnTo>
                  <a:lnTo>
                    <a:pt x="17073714" y="6404666"/>
                  </a:lnTo>
                  <a:lnTo>
                    <a:pt x="0" y="6404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6" r="-28534" b="1800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7073715" cy="64141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El problema en la tienda Girasol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14400" y="2676525"/>
            <a:ext cx="6217920" cy="2992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F2A44"/>
                </a:solidFill>
                <a:latin typeface="Calibri (MS)"/>
                <a:ea typeface="Calibri (MS)"/>
                <a:cs typeface="Calibri (MS)"/>
                <a:sym typeface="Calibri (MS)"/>
              </a:rPr>
              <a:t>Tienda de ropa en la Isla Grande de Chiloé, con atención personalizada y baja digitalización previa.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4400" y="5785485"/>
            <a:ext cx="6217920" cy="2626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Afecta a los dueños, que no controlan su inventario, y a los clientes, que esperan más por una atención lenta.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034023" y="2730503"/>
            <a:ext cx="9352283" cy="1671323"/>
            <a:chOff x="0" y="0"/>
            <a:chExt cx="12469711" cy="22284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469622" cy="2228342"/>
            </a:xfrm>
            <a:custGeom>
              <a:avLst/>
              <a:gdLst/>
              <a:ahLst/>
              <a:cxnLst/>
              <a:rect r="r" b="b" t="t" l="l"/>
              <a:pathLst>
                <a:path h="2228342" w="12469622">
                  <a:moveTo>
                    <a:pt x="0" y="297053"/>
                  </a:moveTo>
                  <a:cubicBezTo>
                    <a:pt x="0" y="132969"/>
                    <a:pt x="132969" y="0"/>
                    <a:pt x="297053" y="0"/>
                  </a:cubicBezTo>
                  <a:lnTo>
                    <a:pt x="12172569" y="0"/>
                  </a:lnTo>
                  <a:cubicBezTo>
                    <a:pt x="12336652" y="0"/>
                    <a:pt x="12469622" y="132969"/>
                    <a:pt x="12469622" y="297053"/>
                  </a:cubicBezTo>
                  <a:lnTo>
                    <a:pt x="12469622" y="1931289"/>
                  </a:lnTo>
                  <a:cubicBezTo>
                    <a:pt x="12469622" y="2095373"/>
                    <a:pt x="12336652" y="2228342"/>
                    <a:pt x="12172569" y="2228342"/>
                  </a:cubicBezTo>
                  <a:lnTo>
                    <a:pt x="297053" y="2228342"/>
                  </a:lnTo>
                  <a:cubicBezTo>
                    <a:pt x="132969" y="2228469"/>
                    <a:pt x="0" y="2095373"/>
                    <a:pt x="0" y="1931289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8399783" y="3004823"/>
            <a:ext cx="1122683" cy="1122683"/>
            <a:chOff x="0" y="0"/>
            <a:chExt cx="1496911" cy="14969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96822" cy="1496822"/>
            </a:xfrm>
            <a:custGeom>
              <a:avLst/>
              <a:gdLst/>
              <a:ahLst/>
              <a:cxnLst/>
              <a:rect r="r" b="b" t="t" l="l"/>
              <a:pathLst>
                <a:path h="1496822" w="1496822">
                  <a:moveTo>
                    <a:pt x="0" y="748411"/>
                  </a:moveTo>
                  <a:cubicBezTo>
                    <a:pt x="0" y="335153"/>
                    <a:pt x="335153" y="0"/>
                    <a:pt x="748411" y="0"/>
                  </a:cubicBezTo>
                  <a:cubicBezTo>
                    <a:pt x="1161669" y="0"/>
                    <a:pt x="1496822" y="335153"/>
                    <a:pt x="1496822" y="748411"/>
                  </a:cubicBezTo>
                  <a:cubicBezTo>
                    <a:pt x="1496822" y="1161669"/>
                    <a:pt x="1161669" y="1496822"/>
                    <a:pt x="748411" y="1496822"/>
                  </a:cubicBezTo>
                  <a:cubicBezTo>
                    <a:pt x="335153" y="1496822"/>
                    <a:pt x="0" y="1161796"/>
                    <a:pt x="0" y="74841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8412480" y="3017520"/>
            <a:ext cx="1097280" cy="1097280"/>
            <a:chOff x="0" y="0"/>
            <a:chExt cx="1463040" cy="14630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146304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875520" y="2743200"/>
            <a:ext cx="7132320" cy="1645920"/>
            <a:chOff x="0" y="0"/>
            <a:chExt cx="9509760" cy="21945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5097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5" r="0" b="-3443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9509760" cy="2251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Errores en el conteo de existencias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034023" y="4742183"/>
            <a:ext cx="9352283" cy="1671323"/>
            <a:chOff x="0" y="0"/>
            <a:chExt cx="12469711" cy="22284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469622" cy="2228342"/>
            </a:xfrm>
            <a:custGeom>
              <a:avLst/>
              <a:gdLst/>
              <a:ahLst/>
              <a:cxnLst/>
              <a:rect r="r" b="b" t="t" l="l"/>
              <a:pathLst>
                <a:path h="2228342" w="12469622">
                  <a:moveTo>
                    <a:pt x="0" y="297053"/>
                  </a:moveTo>
                  <a:cubicBezTo>
                    <a:pt x="0" y="132969"/>
                    <a:pt x="132969" y="0"/>
                    <a:pt x="297053" y="0"/>
                  </a:cubicBezTo>
                  <a:lnTo>
                    <a:pt x="12172569" y="0"/>
                  </a:lnTo>
                  <a:cubicBezTo>
                    <a:pt x="12336652" y="0"/>
                    <a:pt x="12469622" y="132969"/>
                    <a:pt x="12469622" y="297053"/>
                  </a:cubicBezTo>
                  <a:lnTo>
                    <a:pt x="12469622" y="1931289"/>
                  </a:lnTo>
                  <a:cubicBezTo>
                    <a:pt x="12469622" y="2095373"/>
                    <a:pt x="12336652" y="2228342"/>
                    <a:pt x="12172569" y="2228342"/>
                  </a:cubicBezTo>
                  <a:lnTo>
                    <a:pt x="297053" y="2228342"/>
                  </a:lnTo>
                  <a:cubicBezTo>
                    <a:pt x="132969" y="2228469"/>
                    <a:pt x="0" y="2095373"/>
                    <a:pt x="0" y="1931289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399783" y="5016503"/>
            <a:ext cx="1122683" cy="1122683"/>
            <a:chOff x="0" y="0"/>
            <a:chExt cx="1496911" cy="149691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96822" cy="1496822"/>
            </a:xfrm>
            <a:custGeom>
              <a:avLst/>
              <a:gdLst/>
              <a:ahLst/>
              <a:cxnLst/>
              <a:rect r="r" b="b" t="t" l="l"/>
              <a:pathLst>
                <a:path h="1496822" w="1496822">
                  <a:moveTo>
                    <a:pt x="0" y="748411"/>
                  </a:moveTo>
                  <a:cubicBezTo>
                    <a:pt x="0" y="335153"/>
                    <a:pt x="335153" y="0"/>
                    <a:pt x="748411" y="0"/>
                  </a:cubicBezTo>
                  <a:cubicBezTo>
                    <a:pt x="1161669" y="0"/>
                    <a:pt x="1496822" y="335153"/>
                    <a:pt x="1496822" y="748411"/>
                  </a:cubicBezTo>
                  <a:cubicBezTo>
                    <a:pt x="1496822" y="1161669"/>
                    <a:pt x="1161669" y="1496822"/>
                    <a:pt x="748411" y="1496822"/>
                  </a:cubicBezTo>
                  <a:cubicBezTo>
                    <a:pt x="335153" y="1496822"/>
                    <a:pt x="0" y="1161796"/>
                    <a:pt x="0" y="74841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8412480" y="5029200"/>
            <a:ext cx="1097280" cy="1097280"/>
            <a:chOff x="0" y="0"/>
            <a:chExt cx="1463040" cy="14630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146304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875520" y="4754880"/>
            <a:ext cx="7132320" cy="1645920"/>
            <a:chOff x="0" y="0"/>
            <a:chExt cx="9509760" cy="21945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5097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5" r="0" b="-3443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9509760" cy="2251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Sin visibilidad de las ventas en tiempo real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8034023" y="6753863"/>
            <a:ext cx="9352283" cy="1671323"/>
            <a:chOff x="0" y="0"/>
            <a:chExt cx="12469711" cy="222843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469622" cy="2228342"/>
            </a:xfrm>
            <a:custGeom>
              <a:avLst/>
              <a:gdLst/>
              <a:ahLst/>
              <a:cxnLst/>
              <a:rect r="r" b="b" t="t" l="l"/>
              <a:pathLst>
                <a:path h="2228342" w="12469622">
                  <a:moveTo>
                    <a:pt x="0" y="297053"/>
                  </a:moveTo>
                  <a:cubicBezTo>
                    <a:pt x="0" y="132969"/>
                    <a:pt x="132969" y="0"/>
                    <a:pt x="297053" y="0"/>
                  </a:cubicBezTo>
                  <a:lnTo>
                    <a:pt x="12172569" y="0"/>
                  </a:lnTo>
                  <a:cubicBezTo>
                    <a:pt x="12336652" y="0"/>
                    <a:pt x="12469622" y="132969"/>
                    <a:pt x="12469622" y="297053"/>
                  </a:cubicBezTo>
                  <a:lnTo>
                    <a:pt x="12469622" y="1931289"/>
                  </a:lnTo>
                  <a:cubicBezTo>
                    <a:pt x="12469622" y="2095373"/>
                    <a:pt x="12336652" y="2228342"/>
                    <a:pt x="12172569" y="2228342"/>
                  </a:cubicBezTo>
                  <a:lnTo>
                    <a:pt x="297053" y="2228342"/>
                  </a:lnTo>
                  <a:cubicBezTo>
                    <a:pt x="132969" y="2228469"/>
                    <a:pt x="0" y="2095373"/>
                    <a:pt x="0" y="1931289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8399783" y="7028183"/>
            <a:ext cx="1122683" cy="1122683"/>
            <a:chOff x="0" y="0"/>
            <a:chExt cx="1496911" cy="149691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496822" cy="1496822"/>
            </a:xfrm>
            <a:custGeom>
              <a:avLst/>
              <a:gdLst/>
              <a:ahLst/>
              <a:cxnLst/>
              <a:rect r="r" b="b" t="t" l="l"/>
              <a:pathLst>
                <a:path h="1496822" w="1496822">
                  <a:moveTo>
                    <a:pt x="0" y="748411"/>
                  </a:moveTo>
                  <a:cubicBezTo>
                    <a:pt x="0" y="335153"/>
                    <a:pt x="335153" y="0"/>
                    <a:pt x="748411" y="0"/>
                  </a:cubicBezTo>
                  <a:cubicBezTo>
                    <a:pt x="1161669" y="0"/>
                    <a:pt x="1496822" y="335153"/>
                    <a:pt x="1496822" y="748411"/>
                  </a:cubicBezTo>
                  <a:cubicBezTo>
                    <a:pt x="1496822" y="1161669"/>
                    <a:pt x="1161669" y="1496822"/>
                    <a:pt x="748411" y="1496822"/>
                  </a:cubicBezTo>
                  <a:cubicBezTo>
                    <a:pt x="335153" y="1496822"/>
                    <a:pt x="0" y="1161796"/>
                    <a:pt x="0" y="74841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8412480" y="7040880"/>
            <a:ext cx="1097280" cy="1097280"/>
            <a:chOff x="0" y="0"/>
            <a:chExt cx="1463040" cy="14630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146304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875520" y="6766560"/>
            <a:ext cx="7132320" cy="1645920"/>
            <a:chOff x="0" y="0"/>
            <a:chExt cx="9509760" cy="21945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5097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5" r="0" b="-34435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57150"/>
              <a:ext cx="9509760" cy="2251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Registro manual de productos uno a uno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2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975716"/>
            <a:ext cx="3828742" cy="4694633"/>
            <a:chOff x="0" y="0"/>
            <a:chExt cx="5104990" cy="62595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104990" cy="6259511"/>
            </a:xfrm>
            <a:custGeom>
              <a:avLst/>
              <a:gdLst/>
              <a:ahLst/>
              <a:cxnLst/>
              <a:rect r="r" b="b" t="t" l="l"/>
              <a:pathLst>
                <a:path h="6259511" w="5104990">
                  <a:moveTo>
                    <a:pt x="0" y="0"/>
                  </a:moveTo>
                  <a:lnTo>
                    <a:pt x="5104990" y="0"/>
                  </a:lnTo>
                  <a:lnTo>
                    <a:pt x="5104990" y="6259511"/>
                  </a:lnTo>
                  <a:lnTo>
                    <a:pt x="0" y="62595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731" r="-329885" b="1610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5104990" cy="6269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Objetivos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1703" y="2456183"/>
            <a:ext cx="16484603" cy="2311403"/>
            <a:chOff x="0" y="0"/>
            <a:chExt cx="21979471" cy="30818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79510" cy="3081909"/>
            </a:xfrm>
            <a:custGeom>
              <a:avLst/>
              <a:gdLst/>
              <a:ahLst/>
              <a:cxnLst/>
              <a:rect r="r" b="b" t="t" l="l"/>
              <a:pathLst>
                <a:path h="3081909" w="21979510">
                  <a:moveTo>
                    <a:pt x="0" y="295910"/>
                  </a:moveTo>
                  <a:cubicBezTo>
                    <a:pt x="0" y="132461"/>
                    <a:pt x="132461" y="0"/>
                    <a:pt x="295910" y="0"/>
                  </a:cubicBezTo>
                  <a:lnTo>
                    <a:pt x="21683599" y="0"/>
                  </a:lnTo>
                  <a:cubicBezTo>
                    <a:pt x="21847048" y="0"/>
                    <a:pt x="21979510" y="132461"/>
                    <a:pt x="21979510" y="295910"/>
                  </a:cubicBezTo>
                  <a:lnTo>
                    <a:pt x="21979510" y="2785999"/>
                  </a:lnTo>
                  <a:cubicBezTo>
                    <a:pt x="21979510" y="2949448"/>
                    <a:pt x="21847048" y="3081909"/>
                    <a:pt x="21683599" y="3081909"/>
                  </a:cubicBezTo>
                  <a:lnTo>
                    <a:pt x="295910" y="3081909"/>
                  </a:lnTo>
                  <a:cubicBezTo>
                    <a:pt x="132461" y="3081909"/>
                    <a:pt x="0" y="2949448"/>
                    <a:pt x="0" y="2785999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371600" y="2604135"/>
            <a:ext cx="15544800" cy="596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b="true" sz="21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GENERAL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71600" y="3133725"/>
            <a:ext cx="15544800" cy="152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Diseñar e implementar una plataforma web de punto de venta e inventario con arquitectura de tres capas, para optimizar la atención, automatizar el stock en tiempo real y asegurar un registro confiable.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01703" y="5290823"/>
            <a:ext cx="5146043" cy="3865883"/>
            <a:chOff x="0" y="0"/>
            <a:chExt cx="6861391" cy="51545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61429" cy="5154549"/>
            </a:xfrm>
            <a:custGeom>
              <a:avLst/>
              <a:gdLst/>
              <a:ahLst/>
              <a:cxnLst/>
              <a:rect r="r" b="b" t="t" l="l"/>
              <a:pathLst>
                <a:path h="5154549" w="6861429">
                  <a:moveTo>
                    <a:pt x="0" y="294513"/>
                  </a:moveTo>
                  <a:cubicBezTo>
                    <a:pt x="0" y="131826"/>
                    <a:pt x="131826" y="0"/>
                    <a:pt x="294513" y="0"/>
                  </a:cubicBezTo>
                  <a:lnTo>
                    <a:pt x="6566916" y="0"/>
                  </a:lnTo>
                  <a:cubicBezTo>
                    <a:pt x="6729603" y="0"/>
                    <a:pt x="6861429" y="131826"/>
                    <a:pt x="6861429" y="294513"/>
                  </a:cubicBezTo>
                  <a:lnTo>
                    <a:pt x="6861429" y="4860036"/>
                  </a:lnTo>
                  <a:cubicBezTo>
                    <a:pt x="6861429" y="5022723"/>
                    <a:pt x="6729603" y="5154549"/>
                    <a:pt x="6566916" y="5154549"/>
                  </a:cubicBezTo>
                  <a:lnTo>
                    <a:pt x="294513" y="5154549"/>
                  </a:lnTo>
                  <a:cubicBezTo>
                    <a:pt x="131826" y="5154549"/>
                    <a:pt x="0" y="5022596"/>
                    <a:pt x="0" y="4860036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267463" y="5565143"/>
            <a:ext cx="939803" cy="939803"/>
            <a:chOff x="0" y="0"/>
            <a:chExt cx="1253071" cy="125307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253109" cy="1253109"/>
            </a:xfrm>
            <a:custGeom>
              <a:avLst/>
              <a:gdLst/>
              <a:ahLst/>
              <a:cxnLst/>
              <a:rect r="r" b="b" t="t" l="l"/>
              <a:pathLst>
                <a:path h="1253109" w="1253109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cubicBezTo>
                    <a:pt x="972439" y="0"/>
                    <a:pt x="1253109" y="280543"/>
                    <a:pt x="1253109" y="626491"/>
                  </a:cubicBezTo>
                  <a:cubicBezTo>
                    <a:pt x="1253109" y="972439"/>
                    <a:pt x="972566" y="1253109"/>
                    <a:pt x="626491" y="1253109"/>
                  </a:cubicBezTo>
                  <a:cubicBezTo>
                    <a:pt x="280416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280160" y="5577840"/>
            <a:ext cx="914400" cy="914400"/>
            <a:chOff x="0" y="0"/>
            <a:chExt cx="1219200" cy="12192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21920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80160" y="6699885"/>
            <a:ext cx="4389120" cy="226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1F2A44"/>
                </a:solidFill>
                <a:latin typeface="Calibri (MS)"/>
                <a:ea typeface="Calibri (MS)"/>
                <a:cs typeface="Calibri (MS)"/>
                <a:sym typeface="Calibri (MS)"/>
              </a:rPr>
              <a:t>Analizar los requerimientos de ventas, inventario y caja, y definir la arquitectura de datos y las historias de usuario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570983" y="5290823"/>
            <a:ext cx="5146043" cy="3865883"/>
            <a:chOff x="0" y="0"/>
            <a:chExt cx="6861391" cy="515451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61429" cy="5154549"/>
            </a:xfrm>
            <a:custGeom>
              <a:avLst/>
              <a:gdLst/>
              <a:ahLst/>
              <a:cxnLst/>
              <a:rect r="r" b="b" t="t" l="l"/>
              <a:pathLst>
                <a:path h="5154549" w="6861429">
                  <a:moveTo>
                    <a:pt x="0" y="294513"/>
                  </a:moveTo>
                  <a:cubicBezTo>
                    <a:pt x="0" y="131826"/>
                    <a:pt x="131826" y="0"/>
                    <a:pt x="294513" y="0"/>
                  </a:cubicBezTo>
                  <a:lnTo>
                    <a:pt x="6566916" y="0"/>
                  </a:lnTo>
                  <a:cubicBezTo>
                    <a:pt x="6729603" y="0"/>
                    <a:pt x="6861429" y="131826"/>
                    <a:pt x="6861429" y="294513"/>
                  </a:cubicBezTo>
                  <a:lnTo>
                    <a:pt x="6861429" y="4860036"/>
                  </a:lnTo>
                  <a:cubicBezTo>
                    <a:pt x="6861429" y="5022723"/>
                    <a:pt x="6729603" y="5154549"/>
                    <a:pt x="6566916" y="5154549"/>
                  </a:cubicBezTo>
                  <a:lnTo>
                    <a:pt x="294513" y="5154549"/>
                  </a:lnTo>
                  <a:cubicBezTo>
                    <a:pt x="131826" y="5154549"/>
                    <a:pt x="0" y="5022596"/>
                    <a:pt x="0" y="4860036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936743" y="5565143"/>
            <a:ext cx="939803" cy="939803"/>
            <a:chOff x="0" y="0"/>
            <a:chExt cx="1253071" cy="125307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53109" cy="1253109"/>
            </a:xfrm>
            <a:custGeom>
              <a:avLst/>
              <a:gdLst/>
              <a:ahLst/>
              <a:cxnLst/>
              <a:rect r="r" b="b" t="t" l="l"/>
              <a:pathLst>
                <a:path h="1253109" w="1253109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cubicBezTo>
                    <a:pt x="972439" y="0"/>
                    <a:pt x="1253109" y="280543"/>
                    <a:pt x="1253109" y="626491"/>
                  </a:cubicBezTo>
                  <a:cubicBezTo>
                    <a:pt x="1253109" y="972439"/>
                    <a:pt x="972566" y="1253109"/>
                    <a:pt x="626491" y="1253109"/>
                  </a:cubicBezTo>
                  <a:cubicBezTo>
                    <a:pt x="280416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949440" y="5577840"/>
            <a:ext cx="914400" cy="914400"/>
            <a:chOff x="0" y="0"/>
            <a:chExt cx="1219200" cy="12192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121920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949440" y="6699885"/>
            <a:ext cx="4389120" cy="226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1F2A44"/>
                </a:solidFill>
                <a:latin typeface="Calibri (MS)"/>
                <a:ea typeface="Calibri (MS)"/>
                <a:cs typeface="Calibri (MS)"/>
                <a:sym typeface="Calibri (MS)"/>
              </a:rPr>
              <a:t>Desarrollar los módulos clave: arqueo, clientes, facturas, inventario y ventas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240263" y="5290823"/>
            <a:ext cx="5146043" cy="3865883"/>
            <a:chOff x="0" y="0"/>
            <a:chExt cx="6861391" cy="515451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61429" cy="5154549"/>
            </a:xfrm>
            <a:custGeom>
              <a:avLst/>
              <a:gdLst/>
              <a:ahLst/>
              <a:cxnLst/>
              <a:rect r="r" b="b" t="t" l="l"/>
              <a:pathLst>
                <a:path h="5154549" w="6861429">
                  <a:moveTo>
                    <a:pt x="0" y="294513"/>
                  </a:moveTo>
                  <a:cubicBezTo>
                    <a:pt x="0" y="131826"/>
                    <a:pt x="131826" y="0"/>
                    <a:pt x="294513" y="0"/>
                  </a:cubicBezTo>
                  <a:lnTo>
                    <a:pt x="6566916" y="0"/>
                  </a:lnTo>
                  <a:cubicBezTo>
                    <a:pt x="6729603" y="0"/>
                    <a:pt x="6861429" y="131826"/>
                    <a:pt x="6861429" y="294513"/>
                  </a:cubicBezTo>
                  <a:lnTo>
                    <a:pt x="6861429" y="4860036"/>
                  </a:lnTo>
                  <a:cubicBezTo>
                    <a:pt x="6861429" y="5022723"/>
                    <a:pt x="6729603" y="5154549"/>
                    <a:pt x="6566916" y="5154549"/>
                  </a:cubicBezTo>
                  <a:lnTo>
                    <a:pt x="294513" y="5154549"/>
                  </a:lnTo>
                  <a:cubicBezTo>
                    <a:pt x="131826" y="5154549"/>
                    <a:pt x="0" y="5022596"/>
                    <a:pt x="0" y="4860036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2606023" y="5565143"/>
            <a:ext cx="939803" cy="939803"/>
            <a:chOff x="0" y="0"/>
            <a:chExt cx="1253071" cy="125307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53109" cy="1253109"/>
            </a:xfrm>
            <a:custGeom>
              <a:avLst/>
              <a:gdLst/>
              <a:ahLst/>
              <a:cxnLst/>
              <a:rect r="r" b="b" t="t" l="l"/>
              <a:pathLst>
                <a:path h="1253109" w="1253109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cubicBezTo>
                    <a:pt x="972439" y="0"/>
                    <a:pt x="1253109" y="280543"/>
                    <a:pt x="1253109" y="626491"/>
                  </a:cubicBezTo>
                  <a:cubicBezTo>
                    <a:pt x="1253109" y="972439"/>
                    <a:pt x="972566" y="1253109"/>
                    <a:pt x="626491" y="1253109"/>
                  </a:cubicBezTo>
                  <a:cubicBezTo>
                    <a:pt x="280416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618720" y="5577840"/>
            <a:ext cx="914400" cy="914400"/>
            <a:chOff x="0" y="0"/>
            <a:chExt cx="1219200" cy="1219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66675"/>
              <a:ext cx="121920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2618720" y="6699885"/>
            <a:ext cx="4389120" cy="226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1F2A44"/>
                </a:solidFill>
                <a:latin typeface="Calibri (MS)"/>
                <a:ea typeface="Calibri (MS)"/>
                <a:cs typeface="Calibri (MS)"/>
                <a:sym typeface="Calibri (MS)"/>
              </a:rPr>
              <a:t>Evaluar el sistema con pruebas, midiendo tiempos administrativos y exactitud del stock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3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975716"/>
            <a:ext cx="8806121" cy="4694633"/>
            <a:chOff x="0" y="0"/>
            <a:chExt cx="11741494" cy="62595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41494" cy="6259511"/>
            </a:xfrm>
            <a:custGeom>
              <a:avLst/>
              <a:gdLst/>
              <a:ahLst/>
              <a:cxnLst/>
              <a:rect r="r" b="b" t="t" l="l"/>
              <a:pathLst>
                <a:path h="6259511" w="11741494">
                  <a:moveTo>
                    <a:pt x="0" y="0"/>
                  </a:moveTo>
                  <a:lnTo>
                    <a:pt x="11741494" y="0"/>
                  </a:lnTo>
                  <a:lnTo>
                    <a:pt x="11741494" y="6259511"/>
                  </a:lnTo>
                  <a:lnTo>
                    <a:pt x="0" y="62595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731" r="-86906" b="1610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1741494" cy="6269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La solución: EasyStock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1703" y="2547623"/>
            <a:ext cx="4963163" cy="3683003"/>
            <a:chOff x="0" y="0"/>
            <a:chExt cx="6617551" cy="49106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617589" cy="4910709"/>
            </a:xfrm>
            <a:custGeom>
              <a:avLst/>
              <a:gdLst/>
              <a:ahLst/>
              <a:cxnLst/>
              <a:rect r="r" b="b" t="t" l="l"/>
              <a:pathLst>
                <a:path h="4910709" w="6617589">
                  <a:moveTo>
                    <a:pt x="0" y="294640"/>
                  </a:moveTo>
                  <a:cubicBezTo>
                    <a:pt x="0" y="131953"/>
                    <a:pt x="131953" y="0"/>
                    <a:pt x="294640" y="0"/>
                  </a:cubicBezTo>
                  <a:lnTo>
                    <a:pt x="6322949" y="0"/>
                  </a:lnTo>
                  <a:cubicBezTo>
                    <a:pt x="6485636" y="0"/>
                    <a:pt x="6617589" y="131953"/>
                    <a:pt x="6617589" y="294640"/>
                  </a:cubicBezTo>
                  <a:lnTo>
                    <a:pt x="6617589" y="4616069"/>
                  </a:lnTo>
                  <a:cubicBezTo>
                    <a:pt x="6617589" y="4778756"/>
                    <a:pt x="6485636" y="4910709"/>
                    <a:pt x="6322949" y="4910709"/>
                  </a:cubicBezTo>
                  <a:lnTo>
                    <a:pt x="294640" y="4910709"/>
                  </a:lnTo>
                  <a:cubicBezTo>
                    <a:pt x="131953" y="4910709"/>
                    <a:pt x="0" y="4778756"/>
                    <a:pt x="0" y="4616069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80160" y="2825115"/>
            <a:ext cx="4206240" cy="7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 b="true">
                <a:solidFill>
                  <a:srgbClr val="1F2A44"/>
                </a:solidFill>
                <a:latin typeface="Cambria Bold"/>
                <a:ea typeface="Cambria Bold"/>
                <a:cs typeface="Cambria Bold"/>
                <a:sym typeface="Cambria Bold"/>
              </a:rPr>
              <a:t>Interfaz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0160" y="3682365"/>
            <a:ext cx="4206240" cy="226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React, Vite y Tailwind, con Tauri para la app de escritorio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985767" y="4010663"/>
            <a:ext cx="647195" cy="756923"/>
            <a:chOff x="0" y="0"/>
            <a:chExt cx="862927" cy="100923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62965" cy="1009269"/>
            </a:xfrm>
            <a:custGeom>
              <a:avLst/>
              <a:gdLst/>
              <a:ahLst/>
              <a:cxnLst/>
              <a:rect r="r" b="b" t="t" l="l"/>
              <a:pathLst>
                <a:path h="1009269" w="862965">
                  <a:moveTo>
                    <a:pt x="0" y="252349"/>
                  </a:moveTo>
                  <a:lnTo>
                    <a:pt x="431419" y="252349"/>
                  </a:lnTo>
                  <a:lnTo>
                    <a:pt x="431419" y="0"/>
                  </a:lnTo>
                  <a:lnTo>
                    <a:pt x="862965" y="504571"/>
                  </a:lnTo>
                  <a:lnTo>
                    <a:pt x="431419" y="1009269"/>
                  </a:lnTo>
                  <a:lnTo>
                    <a:pt x="431419" y="756920"/>
                  </a:lnTo>
                  <a:lnTo>
                    <a:pt x="0" y="756920"/>
                  </a:ln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6753863" y="2547623"/>
            <a:ext cx="4963163" cy="3683003"/>
            <a:chOff x="0" y="0"/>
            <a:chExt cx="6617551" cy="491067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17589" cy="4910709"/>
            </a:xfrm>
            <a:custGeom>
              <a:avLst/>
              <a:gdLst/>
              <a:ahLst/>
              <a:cxnLst/>
              <a:rect r="r" b="b" t="t" l="l"/>
              <a:pathLst>
                <a:path h="4910709" w="6617589">
                  <a:moveTo>
                    <a:pt x="0" y="294640"/>
                  </a:moveTo>
                  <a:cubicBezTo>
                    <a:pt x="0" y="131953"/>
                    <a:pt x="131953" y="0"/>
                    <a:pt x="294640" y="0"/>
                  </a:cubicBezTo>
                  <a:lnTo>
                    <a:pt x="6322949" y="0"/>
                  </a:lnTo>
                  <a:cubicBezTo>
                    <a:pt x="6485636" y="0"/>
                    <a:pt x="6617589" y="131953"/>
                    <a:pt x="6617589" y="294640"/>
                  </a:cubicBezTo>
                  <a:lnTo>
                    <a:pt x="6617589" y="4616069"/>
                  </a:lnTo>
                  <a:cubicBezTo>
                    <a:pt x="6617589" y="4778756"/>
                    <a:pt x="6485636" y="4910709"/>
                    <a:pt x="6322949" y="4910709"/>
                  </a:cubicBezTo>
                  <a:lnTo>
                    <a:pt x="294640" y="4910709"/>
                  </a:lnTo>
                  <a:cubicBezTo>
                    <a:pt x="131953" y="4910709"/>
                    <a:pt x="0" y="4778756"/>
                    <a:pt x="0" y="4616069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132320" y="2825115"/>
            <a:ext cx="4206240" cy="7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 b="true">
                <a:solidFill>
                  <a:srgbClr val="1F2A44"/>
                </a:solidFill>
                <a:latin typeface="Cambria Bold"/>
                <a:ea typeface="Cambria Bold"/>
                <a:cs typeface="Cambria Bold"/>
                <a:sym typeface="Cambria Bold"/>
              </a:rPr>
              <a:t>API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32320" y="3682365"/>
            <a:ext cx="4206240" cy="226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Python y FastAPI con la lógica de negocio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837927" y="4010663"/>
            <a:ext cx="647195" cy="756923"/>
            <a:chOff x="0" y="0"/>
            <a:chExt cx="862927" cy="100923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62965" cy="1009269"/>
            </a:xfrm>
            <a:custGeom>
              <a:avLst/>
              <a:gdLst/>
              <a:ahLst/>
              <a:cxnLst/>
              <a:rect r="r" b="b" t="t" l="l"/>
              <a:pathLst>
                <a:path h="1009269" w="862965">
                  <a:moveTo>
                    <a:pt x="0" y="252349"/>
                  </a:moveTo>
                  <a:lnTo>
                    <a:pt x="431419" y="252349"/>
                  </a:lnTo>
                  <a:lnTo>
                    <a:pt x="431419" y="0"/>
                  </a:lnTo>
                  <a:lnTo>
                    <a:pt x="862965" y="504571"/>
                  </a:lnTo>
                  <a:lnTo>
                    <a:pt x="431419" y="1009269"/>
                  </a:lnTo>
                  <a:lnTo>
                    <a:pt x="431419" y="756920"/>
                  </a:lnTo>
                  <a:lnTo>
                    <a:pt x="0" y="756920"/>
                  </a:ln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606023" y="2547623"/>
            <a:ext cx="4963163" cy="3683003"/>
            <a:chOff x="0" y="0"/>
            <a:chExt cx="6617551" cy="491067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617589" cy="4910709"/>
            </a:xfrm>
            <a:custGeom>
              <a:avLst/>
              <a:gdLst/>
              <a:ahLst/>
              <a:cxnLst/>
              <a:rect r="r" b="b" t="t" l="l"/>
              <a:pathLst>
                <a:path h="4910709" w="6617589">
                  <a:moveTo>
                    <a:pt x="0" y="294640"/>
                  </a:moveTo>
                  <a:cubicBezTo>
                    <a:pt x="0" y="131953"/>
                    <a:pt x="131953" y="0"/>
                    <a:pt x="294640" y="0"/>
                  </a:cubicBezTo>
                  <a:lnTo>
                    <a:pt x="6322949" y="0"/>
                  </a:lnTo>
                  <a:cubicBezTo>
                    <a:pt x="6485636" y="0"/>
                    <a:pt x="6617589" y="131953"/>
                    <a:pt x="6617589" y="294640"/>
                  </a:cubicBezTo>
                  <a:lnTo>
                    <a:pt x="6617589" y="4616069"/>
                  </a:lnTo>
                  <a:cubicBezTo>
                    <a:pt x="6617589" y="4778756"/>
                    <a:pt x="6485636" y="4910709"/>
                    <a:pt x="6322949" y="4910709"/>
                  </a:cubicBezTo>
                  <a:lnTo>
                    <a:pt x="294640" y="4910709"/>
                  </a:lnTo>
                  <a:cubicBezTo>
                    <a:pt x="131953" y="4910709"/>
                    <a:pt x="0" y="4778756"/>
                    <a:pt x="0" y="4616069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2984480" y="2825115"/>
            <a:ext cx="4206240" cy="7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 b="true">
                <a:solidFill>
                  <a:srgbClr val="1F2A44"/>
                </a:solidFill>
                <a:latin typeface="Cambria Bold"/>
                <a:ea typeface="Cambria Bold"/>
                <a:cs typeface="Cambria Bold"/>
                <a:sym typeface="Cambria Bold"/>
              </a:rPr>
              <a:t>Base de datos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984480" y="3682365"/>
            <a:ext cx="4206240" cy="226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Modelo relacional con categorías, tallas, colores, stock, usuarios y proveedores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6699885"/>
            <a:ext cx="731520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1F2A4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Módulos funcionales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01703" y="7485383"/>
            <a:ext cx="2951483" cy="939803"/>
            <a:chOff x="0" y="0"/>
            <a:chExt cx="3935311" cy="125307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935222" cy="1252982"/>
            </a:xfrm>
            <a:custGeom>
              <a:avLst/>
              <a:gdLst/>
              <a:ahLst/>
              <a:cxnLst/>
              <a:rect r="r" b="b" t="t" l="l"/>
              <a:pathLst>
                <a:path h="1252982" w="3935222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lnTo>
                    <a:pt x="3308731" y="0"/>
                  </a:lnTo>
                  <a:cubicBezTo>
                    <a:pt x="3654806" y="0"/>
                    <a:pt x="3935222" y="280543"/>
                    <a:pt x="3935222" y="626491"/>
                  </a:cubicBezTo>
                  <a:cubicBezTo>
                    <a:pt x="3935222" y="972439"/>
                    <a:pt x="3654679" y="1252982"/>
                    <a:pt x="3308731" y="1252982"/>
                  </a:cubicBezTo>
                  <a:lnTo>
                    <a:pt x="626491" y="1252982"/>
                  </a:lnTo>
                  <a:cubicBezTo>
                    <a:pt x="280543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914400" y="7498080"/>
            <a:ext cx="2926080" cy="914400"/>
            <a:chOff x="0" y="0"/>
            <a:chExt cx="3901440" cy="12192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901440" cy="1219200"/>
            </a:xfrm>
            <a:custGeom>
              <a:avLst/>
              <a:gdLst/>
              <a:ahLst/>
              <a:cxnLst/>
              <a:rect r="r" b="b" t="t" l="l"/>
              <a:pathLst>
                <a:path h="12192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66675"/>
              <a:ext cx="390144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Arqueo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4193543" y="7485383"/>
            <a:ext cx="2951483" cy="939803"/>
            <a:chOff x="0" y="0"/>
            <a:chExt cx="3935311" cy="125307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935222" cy="1252982"/>
            </a:xfrm>
            <a:custGeom>
              <a:avLst/>
              <a:gdLst/>
              <a:ahLst/>
              <a:cxnLst/>
              <a:rect r="r" b="b" t="t" l="l"/>
              <a:pathLst>
                <a:path h="1252982" w="3935222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lnTo>
                    <a:pt x="3308731" y="0"/>
                  </a:lnTo>
                  <a:cubicBezTo>
                    <a:pt x="3654806" y="0"/>
                    <a:pt x="3935222" y="280543"/>
                    <a:pt x="3935222" y="626491"/>
                  </a:cubicBezTo>
                  <a:cubicBezTo>
                    <a:pt x="3935222" y="972439"/>
                    <a:pt x="3654679" y="1252982"/>
                    <a:pt x="3308731" y="1252982"/>
                  </a:cubicBezTo>
                  <a:lnTo>
                    <a:pt x="626491" y="1252982"/>
                  </a:lnTo>
                  <a:cubicBezTo>
                    <a:pt x="280543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4206240" y="7498080"/>
            <a:ext cx="2926080" cy="914400"/>
            <a:chOff x="0" y="0"/>
            <a:chExt cx="3901440" cy="1219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901440" cy="1219200"/>
            </a:xfrm>
            <a:custGeom>
              <a:avLst/>
              <a:gdLst/>
              <a:ahLst/>
              <a:cxnLst/>
              <a:rect r="r" b="b" t="t" l="l"/>
              <a:pathLst>
                <a:path h="12192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66675"/>
              <a:ext cx="390144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Clientes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485383" y="7485383"/>
            <a:ext cx="2951483" cy="939803"/>
            <a:chOff x="0" y="0"/>
            <a:chExt cx="3935311" cy="125307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935222" cy="1252982"/>
            </a:xfrm>
            <a:custGeom>
              <a:avLst/>
              <a:gdLst/>
              <a:ahLst/>
              <a:cxnLst/>
              <a:rect r="r" b="b" t="t" l="l"/>
              <a:pathLst>
                <a:path h="1252982" w="3935222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lnTo>
                    <a:pt x="3308731" y="0"/>
                  </a:lnTo>
                  <a:cubicBezTo>
                    <a:pt x="3654806" y="0"/>
                    <a:pt x="3935222" y="280543"/>
                    <a:pt x="3935222" y="626491"/>
                  </a:cubicBezTo>
                  <a:cubicBezTo>
                    <a:pt x="3935222" y="972439"/>
                    <a:pt x="3654679" y="1252982"/>
                    <a:pt x="3308731" y="1252982"/>
                  </a:cubicBezTo>
                  <a:lnTo>
                    <a:pt x="626491" y="1252982"/>
                  </a:lnTo>
                  <a:cubicBezTo>
                    <a:pt x="280543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7498080" y="7498080"/>
            <a:ext cx="2926080" cy="914400"/>
            <a:chOff x="0" y="0"/>
            <a:chExt cx="3901440" cy="12192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901440" cy="1219200"/>
            </a:xfrm>
            <a:custGeom>
              <a:avLst/>
              <a:gdLst/>
              <a:ahLst/>
              <a:cxnLst/>
              <a:rect r="r" b="b" t="t" l="l"/>
              <a:pathLst>
                <a:path h="12192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66675"/>
              <a:ext cx="390144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Facturas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0777223" y="7485383"/>
            <a:ext cx="2951483" cy="939803"/>
            <a:chOff x="0" y="0"/>
            <a:chExt cx="3935311" cy="125307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935222" cy="1252982"/>
            </a:xfrm>
            <a:custGeom>
              <a:avLst/>
              <a:gdLst/>
              <a:ahLst/>
              <a:cxnLst/>
              <a:rect r="r" b="b" t="t" l="l"/>
              <a:pathLst>
                <a:path h="1252982" w="3935222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lnTo>
                    <a:pt x="3308731" y="0"/>
                  </a:lnTo>
                  <a:cubicBezTo>
                    <a:pt x="3654806" y="0"/>
                    <a:pt x="3935222" y="280543"/>
                    <a:pt x="3935222" y="626491"/>
                  </a:cubicBezTo>
                  <a:cubicBezTo>
                    <a:pt x="3935222" y="972439"/>
                    <a:pt x="3654679" y="1252982"/>
                    <a:pt x="3308731" y="1252982"/>
                  </a:cubicBezTo>
                  <a:lnTo>
                    <a:pt x="626491" y="1252982"/>
                  </a:lnTo>
                  <a:cubicBezTo>
                    <a:pt x="280543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0789920" y="7498080"/>
            <a:ext cx="2926080" cy="914400"/>
            <a:chOff x="0" y="0"/>
            <a:chExt cx="3901440" cy="12192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901440" cy="1219200"/>
            </a:xfrm>
            <a:custGeom>
              <a:avLst/>
              <a:gdLst/>
              <a:ahLst/>
              <a:cxnLst/>
              <a:rect r="r" b="b" t="t" l="l"/>
              <a:pathLst>
                <a:path h="12192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66675"/>
              <a:ext cx="390144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Inventario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4069063" y="7485383"/>
            <a:ext cx="2951483" cy="939803"/>
            <a:chOff x="0" y="0"/>
            <a:chExt cx="3935311" cy="1253071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935222" cy="1252982"/>
            </a:xfrm>
            <a:custGeom>
              <a:avLst/>
              <a:gdLst/>
              <a:ahLst/>
              <a:cxnLst/>
              <a:rect r="r" b="b" t="t" l="l"/>
              <a:pathLst>
                <a:path h="1252982" w="3935222">
                  <a:moveTo>
                    <a:pt x="0" y="626491"/>
                  </a:moveTo>
                  <a:cubicBezTo>
                    <a:pt x="0" y="280543"/>
                    <a:pt x="280543" y="0"/>
                    <a:pt x="626491" y="0"/>
                  </a:cubicBezTo>
                  <a:lnTo>
                    <a:pt x="3308731" y="0"/>
                  </a:lnTo>
                  <a:cubicBezTo>
                    <a:pt x="3654806" y="0"/>
                    <a:pt x="3935222" y="280543"/>
                    <a:pt x="3935222" y="626491"/>
                  </a:cubicBezTo>
                  <a:cubicBezTo>
                    <a:pt x="3935222" y="972439"/>
                    <a:pt x="3654679" y="1252982"/>
                    <a:pt x="3308731" y="1252982"/>
                  </a:cubicBezTo>
                  <a:lnTo>
                    <a:pt x="626491" y="1252982"/>
                  </a:lnTo>
                  <a:cubicBezTo>
                    <a:pt x="280543" y="1253109"/>
                    <a:pt x="0" y="972566"/>
                    <a:pt x="0" y="626491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4081760" y="7498080"/>
            <a:ext cx="2926080" cy="914400"/>
            <a:chOff x="0" y="0"/>
            <a:chExt cx="3901440" cy="12192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901440" cy="1219200"/>
            </a:xfrm>
            <a:custGeom>
              <a:avLst/>
              <a:gdLst/>
              <a:ahLst/>
              <a:cxnLst/>
              <a:rect r="r" b="b" t="t" l="l"/>
              <a:pathLst>
                <a:path h="12192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66675"/>
              <a:ext cx="390144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Ventas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14400" y="8648700"/>
            <a:ext cx="12801600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Incluye impresora térmica, escáner y despliegue con Docker.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4</a:t>
            </a:r>
          </a:p>
        </p:txBody>
      </p:sp>
      <p:sp>
        <p:nvSpPr>
          <p:cNvPr name="Freeform 49" id="49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975716"/>
            <a:ext cx="8518411" cy="4694633"/>
            <a:chOff x="0" y="0"/>
            <a:chExt cx="11357882" cy="62595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57881" cy="6259511"/>
            </a:xfrm>
            <a:custGeom>
              <a:avLst/>
              <a:gdLst/>
              <a:ahLst/>
              <a:cxnLst/>
              <a:rect r="r" b="b" t="t" l="l"/>
              <a:pathLst>
                <a:path h="6259511" w="11357881">
                  <a:moveTo>
                    <a:pt x="0" y="0"/>
                  </a:moveTo>
                  <a:lnTo>
                    <a:pt x="11357881" y="0"/>
                  </a:lnTo>
                  <a:lnTo>
                    <a:pt x="11357881" y="6259511"/>
                  </a:lnTo>
                  <a:lnTo>
                    <a:pt x="0" y="62595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731" r="-93219" b="1610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1357882" cy="6269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Metodología y equipo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1703" y="2547623"/>
            <a:ext cx="7706363" cy="6426203"/>
            <a:chOff x="0" y="0"/>
            <a:chExt cx="10275151" cy="85682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275062" cy="8568183"/>
            </a:xfrm>
            <a:custGeom>
              <a:avLst/>
              <a:gdLst/>
              <a:ahLst/>
              <a:cxnLst/>
              <a:rect r="r" b="b" t="t" l="l"/>
              <a:pathLst>
                <a:path h="8568183" w="10275062">
                  <a:moveTo>
                    <a:pt x="0" y="293751"/>
                  </a:moveTo>
                  <a:cubicBezTo>
                    <a:pt x="0" y="131572"/>
                    <a:pt x="131572" y="0"/>
                    <a:pt x="293751" y="0"/>
                  </a:cubicBezTo>
                  <a:lnTo>
                    <a:pt x="9981311" y="0"/>
                  </a:lnTo>
                  <a:cubicBezTo>
                    <a:pt x="10143617" y="0"/>
                    <a:pt x="10275062" y="131572"/>
                    <a:pt x="10275062" y="293751"/>
                  </a:cubicBezTo>
                  <a:lnTo>
                    <a:pt x="10275062" y="8274431"/>
                  </a:lnTo>
                  <a:cubicBezTo>
                    <a:pt x="10275062" y="8436737"/>
                    <a:pt x="10143490" y="8568182"/>
                    <a:pt x="9981311" y="8568182"/>
                  </a:cubicBezTo>
                  <a:lnTo>
                    <a:pt x="293751" y="8568182"/>
                  </a:lnTo>
                  <a:cubicBezTo>
                    <a:pt x="131572" y="8568309"/>
                    <a:pt x="0" y="8436737"/>
                    <a:pt x="0" y="8274431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63040" y="2916555"/>
            <a:ext cx="6583680" cy="1106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0"/>
              </a:lnSpc>
            </a:pPr>
            <a:r>
              <a:rPr lang="en-US" b="true" sz="560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Kanban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3040" y="4139565"/>
            <a:ext cx="6583680" cy="4455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Flujo continuo e incremental sobre un tablero compartido, que permite ajustar la carga semana a semana.</a:t>
            </a:r>
          </a:p>
          <a:p>
            <a:pPr algn="l">
              <a:lnSpc>
                <a:spcPts val="3359"/>
              </a:lnSpc>
            </a:pP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Para las etapas de desarrollo más complejas se evaluó pasar a Scrum, con sprints.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131303" y="2547623"/>
            <a:ext cx="8255003" cy="1854203"/>
            <a:chOff x="0" y="0"/>
            <a:chExt cx="11006671" cy="247227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006709" cy="2472309"/>
            </a:xfrm>
            <a:custGeom>
              <a:avLst/>
              <a:gdLst/>
              <a:ahLst/>
              <a:cxnLst/>
              <a:rect r="r" b="b" t="t" l="l"/>
              <a:pathLst>
                <a:path h="2472309" w="11006709">
                  <a:moveTo>
                    <a:pt x="0" y="296672"/>
                  </a:moveTo>
                  <a:cubicBezTo>
                    <a:pt x="0" y="132842"/>
                    <a:pt x="132842" y="0"/>
                    <a:pt x="296672" y="0"/>
                  </a:cubicBezTo>
                  <a:lnTo>
                    <a:pt x="10710037" y="0"/>
                  </a:lnTo>
                  <a:cubicBezTo>
                    <a:pt x="10873867" y="0"/>
                    <a:pt x="11006709" y="132842"/>
                    <a:pt x="11006709" y="296672"/>
                  </a:cubicBezTo>
                  <a:lnTo>
                    <a:pt x="11006709" y="2175637"/>
                  </a:lnTo>
                  <a:cubicBezTo>
                    <a:pt x="11006709" y="2339467"/>
                    <a:pt x="10873867" y="2472309"/>
                    <a:pt x="10710037" y="2472309"/>
                  </a:cubicBezTo>
                  <a:lnTo>
                    <a:pt x="296672" y="2472309"/>
                  </a:lnTo>
                  <a:cubicBezTo>
                    <a:pt x="132842" y="2472309"/>
                    <a:pt x="0" y="2339467"/>
                    <a:pt x="0" y="2175637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9497063" y="2913383"/>
            <a:ext cx="1122683" cy="1122683"/>
            <a:chOff x="0" y="0"/>
            <a:chExt cx="1496911" cy="14969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96822" cy="1496822"/>
            </a:xfrm>
            <a:custGeom>
              <a:avLst/>
              <a:gdLst/>
              <a:ahLst/>
              <a:cxnLst/>
              <a:rect r="r" b="b" t="t" l="l"/>
              <a:pathLst>
                <a:path h="1496822" w="1496822">
                  <a:moveTo>
                    <a:pt x="0" y="748411"/>
                  </a:moveTo>
                  <a:cubicBezTo>
                    <a:pt x="0" y="335153"/>
                    <a:pt x="335153" y="0"/>
                    <a:pt x="748411" y="0"/>
                  </a:cubicBezTo>
                  <a:cubicBezTo>
                    <a:pt x="1161669" y="0"/>
                    <a:pt x="1496822" y="335153"/>
                    <a:pt x="1496822" y="748411"/>
                  </a:cubicBezTo>
                  <a:cubicBezTo>
                    <a:pt x="1496822" y="1161669"/>
                    <a:pt x="1161669" y="1496822"/>
                    <a:pt x="748411" y="1496822"/>
                  </a:cubicBezTo>
                  <a:cubicBezTo>
                    <a:pt x="335153" y="1496822"/>
                    <a:pt x="0" y="1161796"/>
                    <a:pt x="0" y="74841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509760" y="2926080"/>
            <a:ext cx="1097280" cy="1097280"/>
            <a:chOff x="0" y="0"/>
            <a:chExt cx="1463040" cy="1463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46304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IA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0972800" y="2777490"/>
            <a:ext cx="6217920" cy="69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1F2A4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Isabel Alvarado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972800" y="3444621"/>
            <a:ext cx="6217920" cy="615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Líder de proyecto y frontend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131303" y="4742183"/>
            <a:ext cx="8255003" cy="1854203"/>
            <a:chOff x="0" y="0"/>
            <a:chExt cx="11006671" cy="247227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006709" cy="2472309"/>
            </a:xfrm>
            <a:custGeom>
              <a:avLst/>
              <a:gdLst/>
              <a:ahLst/>
              <a:cxnLst/>
              <a:rect r="r" b="b" t="t" l="l"/>
              <a:pathLst>
                <a:path h="2472309" w="11006709">
                  <a:moveTo>
                    <a:pt x="0" y="296672"/>
                  </a:moveTo>
                  <a:cubicBezTo>
                    <a:pt x="0" y="132842"/>
                    <a:pt x="132842" y="0"/>
                    <a:pt x="296672" y="0"/>
                  </a:cubicBezTo>
                  <a:lnTo>
                    <a:pt x="10710037" y="0"/>
                  </a:lnTo>
                  <a:cubicBezTo>
                    <a:pt x="10873867" y="0"/>
                    <a:pt x="11006709" y="132842"/>
                    <a:pt x="11006709" y="296672"/>
                  </a:cubicBezTo>
                  <a:lnTo>
                    <a:pt x="11006709" y="2175637"/>
                  </a:lnTo>
                  <a:cubicBezTo>
                    <a:pt x="11006709" y="2339467"/>
                    <a:pt x="10873867" y="2472309"/>
                    <a:pt x="10710037" y="2472309"/>
                  </a:cubicBezTo>
                  <a:lnTo>
                    <a:pt x="296672" y="2472309"/>
                  </a:lnTo>
                  <a:cubicBezTo>
                    <a:pt x="132842" y="2472309"/>
                    <a:pt x="0" y="2339467"/>
                    <a:pt x="0" y="2175637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497063" y="5107943"/>
            <a:ext cx="1122683" cy="1122683"/>
            <a:chOff x="0" y="0"/>
            <a:chExt cx="1496911" cy="149691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96822" cy="1496822"/>
            </a:xfrm>
            <a:custGeom>
              <a:avLst/>
              <a:gdLst/>
              <a:ahLst/>
              <a:cxnLst/>
              <a:rect r="r" b="b" t="t" l="l"/>
              <a:pathLst>
                <a:path h="1496822" w="1496822">
                  <a:moveTo>
                    <a:pt x="0" y="748411"/>
                  </a:moveTo>
                  <a:cubicBezTo>
                    <a:pt x="0" y="335153"/>
                    <a:pt x="335153" y="0"/>
                    <a:pt x="748411" y="0"/>
                  </a:cubicBezTo>
                  <a:cubicBezTo>
                    <a:pt x="1161669" y="0"/>
                    <a:pt x="1496822" y="335153"/>
                    <a:pt x="1496822" y="748411"/>
                  </a:cubicBezTo>
                  <a:cubicBezTo>
                    <a:pt x="1496822" y="1161669"/>
                    <a:pt x="1161669" y="1496822"/>
                    <a:pt x="748411" y="1496822"/>
                  </a:cubicBezTo>
                  <a:cubicBezTo>
                    <a:pt x="335153" y="1496822"/>
                    <a:pt x="0" y="1161796"/>
                    <a:pt x="0" y="74841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509760" y="5120640"/>
            <a:ext cx="1097280" cy="1097280"/>
            <a:chOff x="0" y="0"/>
            <a:chExt cx="146304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66675"/>
              <a:ext cx="146304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MP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0972800" y="4972050"/>
            <a:ext cx="6217920" cy="69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1F2A4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Matías Parancán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972800" y="5639181"/>
            <a:ext cx="6217920" cy="615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Backend y hardware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131303" y="6936743"/>
            <a:ext cx="8255003" cy="1854203"/>
            <a:chOff x="0" y="0"/>
            <a:chExt cx="11006671" cy="247227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006709" cy="2472309"/>
            </a:xfrm>
            <a:custGeom>
              <a:avLst/>
              <a:gdLst/>
              <a:ahLst/>
              <a:cxnLst/>
              <a:rect r="r" b="b" t="t" l="l"/>
              <a:pathLst>
                <a:path h="2472309" w="11006709">
                  <a:moveTo>
                    <a:pt x="0" y="296672"/>
                  </a:moveTo>
                  <a:cubicBezTo>
                    <a:pt x="0" y="132842"/>
                    <a:pt x="132842" y="0"/>
                    <a:pt x="296672" y="0"/>
                  </a:cubicBezTo>
                  <a:lnTo>
                    <a:pt x="10710037" y="0"/>
                  </a:lnTo>
                  <a:cubicBezTo>
                    <a:pt x="10873867" y="0"/>
                    <a:pt x="11006709" y="132842"/>
                    <a:pt x="11006709" y="296672"/>
                  </a:cubicBezTo>
                  <a:lnTo>
                    <a:pt x="11006709" y="2175637"/>
                  </a:lnTo>
                  <a:cubicBezTo>
                    <a:pt x="11006709" y="2339467"/>
                    <a:pt x="10873867" y="2472309"/>
                    <a:pt x="10710037" y="2472309"/>
                  </a:cubicBezTo>
                  <a:lnTo>
                    <a:pt x="296672" y="2472309"/>
                  </a:lnTo>
                  <a:cubicBezTo>
                    <a:pt x="132842" y="2472309"/>
                    <a:pt x="0" y="2339467"/>
                    <a:pt x="0" y="2175637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9497063" y="7302503"/>
            <a:ext cx="1122683" cy="1122683"/>
            <a:chOff x="0" y="0"/>
            <a:chExt cx="1496911" cy="149691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496822" cy="1496822"/>
            </a:xfrm>
            <a:custGeom>
              <a:avLst/>
              <a:gdLst/>
              <a:ahLst/>
              <a:cxnLst/>
              <a:rect r="r" b="b" t="t" l="l"/>
              <a:pathLst>
                <a:path h="1496822" w="1496822">
                  <a:moveTo>
                    <a:pt x="0" y="748411"/>
                  </a:moveTo>
                  <a:cubicBezTo>
                    <a:pt x="0" y="335153"/>
                    <a:pt x="335153" y="0"/>
                    <a:pt x="748411" y="0"/>
                  </a:cubicBezTo>
                  <a:cubicBezTo>
                    <a:pt x="1161669" y="0"/>
                    <a:pt x="1496822" y="335153"/>
                    <a:pt x="1496822" y="748411"/>
                  </a:cubicBezTo>
                  <a:cubicBezTo>
                    <a:pt x="1496822" y="1161669"/>
                    <a:pt x="1161669" y="1496822"/>
                    <a:pt x="748411" y="1496822"/>
                  </a:cubicBezTo>
                  <a:cubicBezTo>
                    <a:pt x="335153" y="1496822"/>
                    <a:pt x="0" y="1161796"/>
                    <a:pt x="0" y="74841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9509760" y="7315200"/>
            <a:ext cx="1097280" cy="1097280"/>
            <a:chOff x="0" y="0"/>
            <a:chExt cx="1463040" cy="14630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66675"/>
              <a:ext cx="146304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10972800" y="7166610"/>
            <a:ext cx="6217920" cy="69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1F2A4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Bárbara Ortega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972800" y="7833741"/>
            <a:ext cx="6217920" cy="615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Documentación y QA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640080"/>
            <a:ext cx="16459200" cy="1463040"/>
            <a:chOff x="0" y="0"/>
            <a:chExt cx="21945600" cy="1950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206" r="0" b="-16920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960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Plan de trabajo en cuatro etapas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" y="2547623"/>
            <a:ext cx="3865883" cy="6243323"/>
            <a:chOff x="0" y="0"/>
            <a:chExt cx="5154511" cy="832443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154549" cy="8324469"/>
            </a:xfrm>
            <a:custGeom>
              <a:avLst/>
              <a:gdLst/>
              <a:ahLst/>
              <a:cxnLst/>
              <a:rect r="r" b="b" t="t" l="l"/>
              <a:pathLst>
                <a:path h="8324469" w="5154549">
                  <a:moveTo>
                    <a:pt x="0" y="294513"/>
                  </a:moveTo>
                  <a:cubicBezTo>
                    <a:pt x="0" y="131826"/>
                    <a:pt x="131826" y="0"/>
                    <a:pt x="294513" y="0"/>
                  </a:cubicBezTo>
                  <a:lnTo>
                    <a:pt x="4860036" y="0"/>
                  </a:lnTo>
                  <a:cubicBezTo>
                    <a:pt x="5022723" y="0"/>
                    <a:pt x="5154549" y="131826"/>
                    <a:pt x="5154549" y="294513"/>
                  </a:cubicBezTo>
                  <a:lnTo>
                    <a:pt x="5154549" y="8029956"/>
                  </a:lnTo>
                  <a:cubicBezTo>
                    <a:pt x="5154549" y="8192643"/>
                    <a:pt x="5022723" y="8324469"/>
                    <a:pt x="4860036" y="8324469"/>
                  </a:cubicBezTo>
                  <a:lnTo>
                    <a:pt x="294513" y="8324469"/>
                  </a:lnTo>
                  <a:cubicBezTo>
                    <a:pt x="131826" y="8324469"/>
                    <a:pt x="0" y="8192516"/>
                    <a:pt x="0" y="8029956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67463" y="2913383"/>
            <a:ext cx="1031243" cy="1031243"/>
            <a:chOff x="0" y="0"/>
            <a:chExt cx="1374991" cy="13749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74902" cy="1374902"/>
            </a:xfrm>
            <a:custGeom>
              <a:avLst/>
              <a:gdLst/>
              <a:ahLst/>
              <a:cxnLst/>
              <a:rect r="r" b="b" t="t" l="l"/>
              <a:pathLst>
                <a:path h="1374902" w="1374902">
                  <a:moveTo>
                    <a:pt x="0" y="687451"/>
                  </a:moveTo>
                  <a:cubicBezTo>
                    <a:pt x="0" y="307848"/>
                    <a:pt x="307848" y="0"/>
                    <a:pt x="687451" y="0"/>
                  </a:cubicBezTo>
                  <a:cubicBezTo>
                    <a:pt x="1067054" y="0"/>
                    <a:pt x="1374902" y="307848"/>
                    <a:pt x="1374902" y="687451"/>
                  </a:cubicBezTo>
                  <a:cubicBezTo>
                    <a:pt x="1374902" y="1067054"/>
                    <a:pt x="1067054" y="1374902"/>
                    <a:pt x="687451" y="1374902"/>
                  </a:cubicBezTo>
                  <a:cubicBezTo>
                    <a:pt x="307848" y="1374902"/>
                    <a:pt x="0" y="1067181"/>
                    <a:pt x="0" y="68745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80160" y="2926080"/>
            <a:ext cx="1005840" cy="1005840"/>
            <a:chOff x="0" y="0"/>
            <a:chExt cx="1341120" cy="13411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411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341120">
                  <a:moveTo>
                    <a:pt x="0" y="0"/>
                  </a:moveTo>
                  <a:lnTo>
                    <a:pt x="1341120" y="0"/>
                  </a:lnTo>
                  <a:lnTo>
                    <a:pt x="13411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341120" cy="13982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80160" y="4196715"/>
            <a:ext cx="32004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1F2A44"/>
                </a:solidFill>
                <a:latin typeface="Cambria Bold"/>
                <a:ea typeface="Cambria Bold"/>
                <a:cs typeface="Cambria Bold"/>
                <a:sym typeface="Cambria Bold"/>
              </a:rPr>
              <a:t>Análisis y diseño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0160" y="5448300"/>
            <a:ext cx="3200400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E5C9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 ago al 11 sep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80160" y="6151245"/>
            <a:ext cx="3200400" cy="2444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Requerimientos, prototipos en Figma y modelo Entidad-Relación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456183" y="3059687"/>
            <a:ext cx="2037083" cy="756923"/>
            <a:chOff x="0" y="0"/>
            <a:chExt cx="2716111" cy="100923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716022" cy="1009142"/>
            </a:xfrm>
            <a:custGeom>
              <a:avLst/>
              <a:gdLst/>
              <a:ahLst/>
              <a:cxnLst/>
              <a:rect r="r" b="b" t="t" l="l"/>
              <a:pathLst>
                <a:path h="1009142" w="2716022">
                  <a:moveTo>
                    <a:pt x="0" y="504571"/>
                  </a:moveTo>
                  <a:cubicBezTo>
                    <a:pt x="0" y="225933"/>
                    <a:pt x="225933" y="0"/>
                    <a:pt x="504571" y="0"/>
                  </a:cubicBezTo>
                  <a:lnTo>
                    <a:pt x="2211451" y="0"/>
                  </a:lnTo>
                  <a:cubicBezTo>
                    <a:pt x="2490089" y="0"/>
                    <a:pt x="2716022" y="225933"/>
                    <a:pt x="2716022" y="504571"/>
                  </a:cubicBezTo>
                  <a:cubicBezTo>
                    <a:pt x="2716022" y="783209"/>
                    <a:pt x="2490089" y="1009142"/>
                    <a:pt x="2211451" y="1009142"/>
                  </a:cubicBezTo>
                  <a:lnTo>
                    <a:pt x="504571" y="1009142"/>
                  </a:lnTo>
                  <a:cubicBezTo>
                    <a:pt x="225933" y="1009269"/>
                    <a:pt x="0" y="783336"/>
                    <a:pt x="0" y="504571"/>
                  </a:cubicBezTo>
                  <a:close/>
                </a:path>
              </a:pathLst>
            </a:custGeom>
            <a:solidFill>
              <a:srgbClr val="2F7D6B"/>
            </a:solidFill>
            <a:ln w="25400" cap="sq">
              <a:solidFill>
                <a:srgbClr val="2F7D6B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2468880" y="3072384"/>
            <a:ext cx="2011680" cy="731520"/>
            <a:chOff x="0" y="0"/>
            <a:chExt cx="2682240" cy="9753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682240" cy="975360"/>
            </a:xfrm>
            <a:custGeom>
              <a:avLst/>
              <a:gdLst/>
              <a:ahLst/>
              <a:cxnLst/>
              <a:rect r="r" b="b" t="t" l="l"/>
              <a:pathLst>
                <a:path h="975360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83" r="0" b="-358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268224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Completada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107943" y="2547623"/>
            <a:ext cx="3865883" cy="6243323"/>
            <a:chOff x="0" y="0"/>
            <a:chExt cx="5154511" cy="832443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154549" cy="8324469"/>
            </a:xfrm>
            <a:custGeom>
              <a:avLst/>
              <a:gdLst/>
              <a:ahLst/>
              <a:cxnLst/>
              <a:rect r="r" b="b" t="t" l="l"/>
              <a:pathLst>
                <a:path h="8324469" w="5154549">
                  <a:moveTo>
                    <a:pt x="0" y="294513"/>
                  </a:moveTo>
                  <a:cubicBezTo>
                    <a:pt x="0" y="131826"/>
                    <a:pt x="131826" y="0"/>
                    <a:pt x="294513" y="0"/>
                  </a:cubicBezTo>
                  <a:lnTo>
                    <a:pt x="4860036" y="0"/>
                  </a:lnTo>
                  <a:cubicBezTo>
                    <a:pt x="5022723" y="0"/>
                    <a:pt x="5154549" y="131826"/>
                    <a:pt x="5154549" y="294513"/>
                  </a:cubicBezTo>
                  <a:lnTo>
                    <a:pt x="5154549" y="8029956"/>
                  </a:lnTo>
                  <a:cubicBezTo>
                    <a:pt x="5154549" y="8192643"/>
                    <a:pt x="5022723" y="8324469"/>
                    <a:pt x="4860036" y="8324469"/>
                  </a:cubicBezTo>
                  <a:lnTo>
                    <a:pt x="294513" y="8324469"/>
                  </a:lnTo>
                  <a:cubicBezTo>
                    <a:pt x="131826" y="8324469"/>
                    <a:pt x="0" y="8192516"/>
                    <a:pt x="0" y="8029956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473703" y="2913383"/>
            <a:ext cx="1031243" cy="1031243"/>
            <a:chOff x="0" y="0"/>
            <a:chExt cx="1374991" cy="137499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74902" cy="1374902"/>
            </a:xfrm>
            <a:custGeom>
              <a:avLst/>
              <a:gdLst/>
              <a:ahLst/>
              <a:cxnLst/>
              <a:rect r="r" b="b" t="t" l="l"/>
              <a:pathLst>
                <a:path h="1374902" w="1374902">
                  <a:moveTo>
                    <a:pt x="0" y="687451"/>
                  </a:moveTo>
                  <a:cubicBezTo>
                    <a:pt x="0" y="307848"/>
                    <a:pt x="307848" y="0"/>
                    <a:pt x="687451" y="0"/>
                  </a:cubicBezTo>
                  <a:cubicBezTo>
                    <a:pt x="1067054" y="0"/>
                    <a:pt x="1374902" y="307848"/>
                    <a:pt x="1374902" y="687451"/>
                  </a:cubicBezTo>
                  <a:cubicBezTo>
                    <a:pt x="1374902" y="1067054"/>
                    <a:pt x="1067054" y="1374902"/>
                    <a:pt x="687451" y="1374902"/>
                  </a:cubicBezTo>
                  <a:cubicBezTo>
                    <a:pt x="307848" y="1374902"/>
                    <a:pt x="0" y="1067181"/>
                    <a:pt x="0" y="68745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5486400" y="2926080"/>
            <a:ext cx="1005840" cy="1005840"/>
            <a:chOff x="0" y="0"/>
            <a:chExt cx="1341120" cy="13411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411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341120">
                  <a:moveTo>
                    <a:pt x="0" y="0"/>
                  </a:moveTo>
                  <a:lnTo>
                    <a:pt x="1341120" y="0"/>
                  </a:lnTo>
                  <a:lnTo>
                    <a:pt x="13411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341120" cy="13982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5486400" y="4196715"/>
            <a:ext cx="32004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1F2A44"/>
                </a:solidFill>
                <a:latin typeface="Cambria Bold"/>
                <a:ea typeface="Cambria Bold"/>
                <a:cs typeface="Cambria Bold"/>
                <a:sym typeface="Cambria Bold"/>
              </a:rPr>
              <a:t>Construcción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486400" y="5448300"/>
            <a:ext cx="3200400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E5C9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14 sep al 6 nov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486400" y="6151245"/>
            <a:ext cx="3200400" cy="2444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Base de datos, stock, panel de reportes, interfaz y MVP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314183" y="2547623"/>
            <a:ext cx="3865883" cy="6243323"/>
            <a:chOff x="0" y="0"/>
            <a:chExt cx="5154511" cy="832443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154549" cy="8324469"/>
            </a:xfrm>
            <a:custGeom>
              <a:avLst/>
              <a:gdLst/>
              <a:ahLst/>
              <a:cxnLst/>
              <a:rect r="r" b="b" t="t" l="l"/>
              <a:pathLst>
                <a:path h="8324469" w="5154549">
                  <a:moveTo>
                    <a:pt x="0" y="294513"/>
                  </a:moveTo>
                  <a:cubicBezTo>
                    <a:pt x="0" y="131826"/>
                    <a:pt x="131826" y="0"/>
                    <a:pt x="294513" y="0"/>
                  </a:cubicBezTo>
                  <a:lnTo>
                    <a:pt x="4860036" y="0"/>
                  </a:lnTo>
                  <a:cubicBezTo>
                    <a:pt x="5022723" y="0"/>
                    <a:pt x="5154549" y="131826"/>
                    <a:pt x="5154549" y="294513"/>
                  </a:cubicBezTo>
                  <a:lnTo>
                    <a:pt x="5154549" y="8029956"/>
                  </a:lnTo>
                  <a:cubicBezTo>
                    <a:pt x="5154549" y="8192643"/>
                    <a:pt x="5022723" y="8324469"/>
                    <a:pt x="4860036" y="8324469"/>
                  </a:cubicBezTo>
                  <a:lnTo>
                    <a:pt x="294513" y="8324469"/>
                  </a:lnTo>
                  <a:cubicBezTo>
                    <a:pt x="131826" y="8324469"/>
                    <a:pt x="0" y="8192516"/>
                    <a:pt x="0" y="8029956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9679943" y="2913383"/>
            <a:ext cx="1031243" cy="1031243"/>
            <a:chOff x="0" y="0"/>
            <a:chExt cx="1374991" cy="137499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374902" cy="1374902"/>
            </a:xfrm>
            <a:custGeom>
              <a:avLst/>
              <a:gdLst/>
              <a:ahLst/>
              <a:cxnLst/>
              <a:rect r="r" b="b" t="t" l="l"/>
              <a:pathLst>
                <a:path h="1374902" w="1374902">
                  <a:moveTo>
                    <a:pt x="0" y="687451"/>
                  </a:moveTo>
                  <a:cubicBezTo>
                    <a:pt x="0" y="307848"/>
                    <a:pt x="307848" y="0"/>
                    <a:pt x="687451" y="0"/>
                  </a:cubicBezTo>
                  <a:cubicBezTo>
                    <a:pt x="1067054" y="0"/>
                    <a:pt x="1374902" y="307848"/>
                    <a:pt x="1374902" y="687451"/>
                  </a:cubicBezTo>
                  <a:cubicBezTo>
                    <a:pt x="1374902" y="1067054"/>
                    <a:pt x="1067054" y="1374902"/>
                    <a:pt x="687451" y="1374902"/>
                  </a:cubicBezTo>
                  <a:cubicBezTo>
                    <a:pt x="307848" y="1374902"/>
                    <a:pt x="0" y="1067181"/>
                    <a:pt x="0" y="68745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9692640" y="2926080"/>
            <a:ext cx="1005840" cy="1005840"/>
            <a:chOff x="0" y="0"/>
            <a:chExt cx="1341120" cy="13411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3411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341120">
                  <a:moveTo>
                    <a:pt x="0" y="0"/>
                  </a:moveTo>
                  <a:lnTo>
                    <a:pt x="1341120" y="0"/>
                  </a:lnTo>
                  <a:lnTo>
                    <a:pt x="13411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57150"/>
              <a:ext cx="1341120" cy="13982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9692640" y="4196715"/>
            <a:ext cx="32004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1F2A44"/>
                </a:solidFill>
                <a:latin typeface="Cambria Bold"/>
                <a:ea typeface="Cambria Bold"/>
                <a:cs typeface="Cambria Bold"/>
                <a:sym typeface="Cambria Bold"/>
              </a:rPr>
              <a:t>Pruebas y validación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692640" y="5448300"/>
            <a:ext cx="3200400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E5C9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9 al 27 nov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692640" y="6151245"/>
            <a:ext cx="3200400" cy="2444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Plan de pruebas y validación con datos de un día real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3520423" y="2547623"/>
            <a:ext cx="3865883" cy="6243323"/>
            <a:chOff x="0" y="0"/>
            <a:chExt cx="5154511" cy="832443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154549" cy="8324469"/>
            </a:xfrm>
            <a:custGeom>
              <a:avLst/>
              <a:gdLst/>
              <a:ahLst/>
              <a:cxnLst/>
              <a:rect r="r" b="b" t="t" l="l"/>
              <a:pathLst>
                <a:path h="8324469" w="5154549">
                  <a:moveTo>
                    <a:pt x="0" y="294513"/>
                  </a:moveTo>
                  <a:cubicBezTo>
                    <a:pt x="0" y="131826"/>
                    <a:pt x="131826" y="0"/>
                    <a:pt x="294513" y="0"/>
                  </a:cubicBezTo>
                  <a:lnTo>
                    <a:pt x="4860036" y="0"/>
                  </a:lnTo>
                  <a:cubicBezTo>
                    <a:pt x="5022723" y="0"/>
                    <a:pt x="5154549" y="131826"/>
                    <a:pt x="5154549" y="294513"/>
                  </a:cubicBezTo>
                  <a:lnTo>
                    <a:pt x="5154549" y="8029956"/>
                  </a:lnTo>
                  <a:cubicBezTo>
                    <a:pt x="5154549" y="8192643"/>
                    <a:pt x="5022723" y="8324469"/>
                    <a:pt x="4860036" y="8324469"/>
                  </a:cubicBezTo>
                  <a:lnTo>
                    <a:pt x="294513" y="8324469"/>
                  </a:lnTo>
                  <a:cubicBezTo>
                    <a:pt x="131826" y="8324469"/>
                    <a:pt x="0" y="8192516"/>
                    <a:pt x="0" y="8029956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3886183" y="2913383"/>
            <a:ext cx="1031243" cy="1031243"/>
            <a:chOff x="0" y="0"/>
            <a:chExt cx="1374991" cy="1374991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374902" cy="1374902"/>
            </a:xfrm>
            <a:custGeom>
              <a:avLst/>
              <a:gdLst/>
              <a:ahLst/>
              <a:cxnLst/>
              <a:rect r="r" b="b" t="t" l="l"/>
              <a:pathLst>
                <a:path h="1374902" w="1374902">
                  <a:moveTo>
                    <a:pt x="0" y="687451"/>
                  </a:moveTo>
                  <a:cubicBezTo>
                    <a:pt x="0" y="307848"/>
                    <a:pt x="307848" y="0"/>
                    <a:pt x="687451" y="0"/>
                  </a:cubicBezTo>
                  <a:cubicBezTo>
                    <a:pt x="1067054" y="0"/>
                    <a:pt x="1374902" y="307848"/>
                    <a:pt x="1374902" y="687451"/>
                  </a:cubicBezTo>
                  <a:cubicBezTo>
                    <a:pt x="1374902" y="1067054"/>
                    <a:pt x="1067054" y="1374902"/>
                    <a:pt x="687451" y="1374902"/>
                  </a:cubicBezTo>
                  <a:cubicBezTo>
                    <a:pt x="307848" y="1374902"/>
                    <a:pt x="0" y="1067181"/>
                    <a:pt x="0" y="68745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3898880" y="2926080"/>
            <a:ext cx="1005840" cy="1005840"/>
            <a:chOff x="0" y="0"/>
            <a:chExt cx="1341120" cy="13411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3411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341120">
                  <a:moveTo>
                    <a:pt x="0" y="0"/>
                  </a:moveTo>
                  <a:lnTo>
                    <a:pt x="1341120" y="0"/>
                  </a:lnTo>
                  <a:lnTo>
                    <a:pt x="13411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1341120" cy="13982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3898880" y="4196715"/>
            <a:ext cx="32004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1F2A44"/>
                </a:solidFill>
                <a:latin typeface="Cambria Bold"/>
                <a:ea typeface="Cambria Bold"/>
                <a:cs typeface="Cambria Bold"/>
                <a:sym typeface="Cambria Bold"/>
              </a:rPr>
              <a:t>Cierre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898880" y="5448300"/>
            <a:ext cx="3200400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E5C9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30 nov al 4 dic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3898880" y="6151245"/>
            <a:ext cx="3200400" cy="2444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Evidencias, Carta Gantt final y presentación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6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666871" y="3046981"/>
            <a:ext cx="2037083" cy="756923"/>
            <a:chOff x="0" y="0"/>
            <a:chExt cx="2716111" cy="1009231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716022" cy="1009142"/>
            </a:xfrm>
            <a:custGeom>
              <a:avLst/>
              <a:gdLst/>
              <a:ahLst/>
              <a:cxnLst/>
              <a:rect r="r" b="b" t="t" l="l"/>
              <a:pathLst>
                <a:path h="1009142" w="2716022">
                  <a:moveTo>
                    <a:pt x="0" y="504571"/>
                  </a:moveTo>
                  <a:cubicBezTo>
                    <a:pt x="0" y="225933"/>
                    <a:pt x="225933" y="0"/>
                    <a:pt x="504571" y="0"/>
                  </a:cubicBezTo>
                  <a:lnTo>
                    <a:pt x="2211451" y="0"/>
                  </a:lnTo>
                  <a:cubicBezTo>
                    <a:pt x="2490089" y="0"/>
                    <a:pt x="2716022" y="225933"/>
                    <a:pt x="2716022" y="504571"/>
                  </a:cubicBezTo>
                  <a:cubicBezTo>
                    <a:pt x="2716022" y="783209"/>
                    <a:pt x="2490089" y="1009142"/>
                    <a:pt x="2211451" y="1009142"/>
                  </a:cubicBezTo>
                  <a:lnTo>
                    <a:pt x="504571" y="1009142"/>
                  </a:lnTo>
                  <a:cubicBezTo>
                    <a:pt x="225933" y="1009269"/>
                    <a:pt x="0" y="783336"/>
                    <a:pt x="0" y="504571"/>
                  </a:cubicBezTo>
                  <a:close/>
                </a:path>
              </a:pathLst>
            </a:custGeom>
            <a:solidFill>
              <a:srgbClr val="2F7D6B"/>
            </a:solidFill>
            <a:ln w="25400" cap="sq">
              <a:solidFill>
                <a:srgbClr val="2F7D6B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679568" y="3059678"/>
            <a:ext cx="2011680" cy="731520"/>
            <a:chOff x="0" y="0"/>
            <a:chExt cx="2682240" cy="9753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682240" cy="975360"/>
            </a:xfrm>
            <a:custGeom>
              <a:avLst/>
              <a:gdLst/>
              <a:ahLst/>
              <a:cxnLst/>
              <a:rect r="r" b="b" t="t" l="l"/>
              <a:pathLst>
                <a:path h="975360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83" r="0" b="-3583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268224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 Proceso</a:t>
              </a:r>
            </a:p>
          </p:txBody>
        </p:sp>
      </p:grpSp>
      <p:sp>
        <p:nvSpPr>
          <p:cNvPr name="Freeform 56" id="56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640080"/>
            <a:ext cx="16459200" cy="1463040"/>
            <a:chOff x="0" y="0"/>
            <a:chExt cx="21945600" cy="1950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206" r="0" b="-16920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960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Aporte de Isabel Alvarado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1703" y="2547623"/>
            <a:ext cx="5328923" cy="6426203"/>
            <a:chOff x="0" y="0"/>
            <a:chExt cx="7105231" cy="85682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105269" cy="8568310"/>
            </a:xfrm>
            <a:custGeom>
              <a:avLst/>
              <a:gdLst/>
              <a:ahLst/>
              <a:cxnLst/>
              <a:rect r="r" b="b" t="t" l="l"/>
              <a:pathLst>
                <a:path h="8568310" w="7105269">
                  <a:moveTo>
                    <a:pt x="0" y="294005"/>
                  </a:moveTo>
                  <a:cubicBezTo>
                    <a:pt x="0" y="131572"/>
                    <a:pt x="131572" y="0"/>
                    <a:pt x="294005" y="0"/>
                  </a:cubicBezTo>
                  <a:lnTo>
                    <a:pt x="6811264" y="0"/>
                  </a:lnTo>
                  <a:cubicBezTo>
                    <a:pt x="6973697" y="0"/>
                    <a:pt x="7105269" y="131572"/>
                    <a:pt x="7105269" y="294005"/>
                  </a:cubicBezTo>
                  <a:lnTo>
                    <a:pt x="7105269" y="8274304"/>
                  </a:lnTo>
                  <a:cubicBezTo>
                    <a:pt x="7105269" y="8436737"/>
                    <a:pt x="6973697" y="8568310"/>
                    <a:pt x="6811264" y="8568310"/>
                  </a:cubicBezTo>
                  <a:lnTo>
                    <a:pt x="294005" y="8568310"/>
                  </a:lnTo>
                  <a:cubicBezTo>
                    <a:pt x="131572" y="8568309"/>
                    <a:pt x="0" y="8436610"/>
                    <a:pt x="0" y="8274304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633223" y="3096263"/>
            <a:ext cx="1671323" cy="1671323"/>
            <a:chOff x="0" y="0"/>
            <a:chExt cx="2228431" cy="22284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8342" cy="2228342"/>
            </a:xfrm>
            <a:custGeom>
              <a:avLst/>
              <a:gdLst/>
              <a:ahLst/>
              <a:cxnLst/>
              <a:rect r="r" b="b" t="t" l="l"/>
              <a:pathLst>
                <a:path h="2228342" w="2228342">
                  <a:moveTo>
                    <a:pt x="0" y="1114171"/>
                  </a:moveTo>
                  <a:cubicBezTo>
                    <a:pt x="0" y="498856"/>
                    <a:pt x="498856" y="0"/>
                    <a:pt x="1114171" y="0"/>
                  </a:cubicBezTo>
                  <a:cubicBezTo>
                    <a:pt x="1729486" y="0"/>
                    <a:pt x="2228342" y="498856"/>
                    <a:pt x="2228342" y="1114171"/>
                  </a:cubicBezTo>
                  <a:cubicBezTo>
                    <a:pt x="2228342" y="1729486"/>
                    <a:pt x="1729486" y="2228342"/>
                    <a:pt x="1114171" y="2228342"/>
                  </a:cubicBezTo>
                  <a:cubicBezTo>
                    <a:pt x="498856" y="2228342"/>
                    <a:pt x="0" y="1729613"/>
                    <a:pt x="0" y="111417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645920" y="3108960"/>
            <a:ext cx="1645920" cy="1645920"/>
            <a:chOff x="0" y="0"/>
            <a:chExt cx="2194560" cy="21945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2194560" cy="2280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59"/>
                </a:lnSpc>
              </a:pPr>
              <a:r>
                <a:rPr lang="en-US" sz="48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IA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80160" y="5202555"/>
            <a:ext cx="45720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Isabel Alvarado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0160" y="6517005"/>
            <a:ext cx="4572000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Líder de proyecto y frontend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753863" y="2547623"/>
            <a:ext cx="10632443" cy="1488443"/>
            <a:chOff x="0" y="0"/>
            <a:chExt cx="14176591" cy="198459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7028183" y="2858519"/>
            <a:ext cx="866651" cy="866651"/>
            <a:chOff x="0" y="0"/>
            <a:chExt cx="1155535" cy="11555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7040880" y="2871216"/>
            <a:ext cx="841248" cy="841248"/>
            <a:chOff x="0" y="0"/>
            <a:chExt cx="1121664" cy="112166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0" y="2560320"/>
            <a:ext cx="8869680" cy="1463040"/>
            <a:chOff x="0" y="0"/>
            <a:chExt cx="11826240" cy="1950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Docker compartido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53863" y="4284983"/>
            <a:ext cx="10632443" cy="1488443"/>
            <a:chOff x="0" y="0"/>
            <a:chExt cx="14176591" cy="198459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7028183" y="4595879"/>
            <a:ext cx="866651" cy="866651"/>
            <a:chOff x="0" y="0"/>
            <a:chExt cx="1155535" cy="11555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0880" y="4608576"/>
            <a:ext cx="841248" cy="841248"/>
            <a:chOff x="0" y="0"/>
            <a:chExt cx="1121664" cy="11216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0" y="4297680"/>
            <a:ext cx="8869680" cy="1463040"/>
            <a:chOff x="0" y="0"/>
            <a:chExt cx="11826240" cy="19507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Diseño de la interfaz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753863" y="6022343"/>
            <a:ext cx="10632443" cy="1488443"/>
            <a:chOff x="0" y="0"/>
            <a:chExt cx="14176591" cy="198459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7028183" y="6333239"/>
            <a:ext cx="866651" cy="866651"/>
            <a:chOff x="0" y="0"/>
            <a:chExt cx="1155535" cy="115553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7040880" y="6345936"/>
            <a:ext cx="841248" cy="841248"/>
            <a:chOff x="0" y="0"/>
            <a:chExt cx="1121664" cy="112166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8229600" y="6035040"/>
            <a:ext cx="8869680" cy="1463040"/>
            <a:chOff x="0" y="0"/>
            <a:chExt cx="11826240" cy="19507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Módulo de facturas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7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504539" y="0"/>
            <a:ext cx="20727721" cy="10182493"/>
          </a:xfrm>
          <a:custGeom>
            <a:avLst/>
            <a:gdLst/>
            <a:ahLst/>
            <a:cxnLst/>
            <a:rect r="r" b="b" t="t" l="l"/>
            <a:pathLst>
              <a:path h="10182493" w="20727721">
                <a:moveTo>
                  <a:pt x="0" y="0"/>
                </a:moveTo>
                <a:lnTo>
                  <a:pt x="20727721" y="0"/>
                </a:lnTo>
                <a:lnTo>
                  <a:pt x="20727721" y="10182493"/>
                </a:lnTo>
                <a:lnTo>
                  <a:pt x="0" y="101824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640080"/>
            <a:ext cx="16459200" cy="1463040"/>
            <a:chOff x="0" y="0"/>
            <a:chExt cx="21945600" cy="1950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206" r="0" b="-16920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960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Aporte de Matías Parancán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1703" y="2547623"/>
            <a:ext cx="5328923" cy="6426203"/>
            <a:chOff x="0" y="0"/>
            <a:chExt cx="7105231" cy="85682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105269" cy="8568310"/>
            </a:xfrm>
            <a:custGeom>
              <a:avLst/>
              <a:gdLst/>
              <a:ahLst/>
              <a:cxnLst/>
              <a:rect r="r" b="b" t="t" l="l"/>
              <a:pathLst>
                <a:path h="8568310" w="7105269">
                  <a:moveTo>
                    <a:pt x="0" y="294005"/>
                  </a:moveTo>
                  <a:cubicBezTo>
                    <a:pt x="0" y="131572"/>
                    <a:pt x="131572" y="0"/>
                    <a:pt x="294005" y="0"/>
                  </a:cubicBezTo>
                  <a:lnTo>
                    <a:pt x="6811264" y="0"/>
                  </a:lnTo>
                  <a:cubicBezTo>
                    <a:pt x="6973697" y="0"/>
                    <a:pt x="7105269" y="131572"/>
                    <a:pt x="7105269" y="294005"/>
                  </a:cubicBezTo>
                  <a:lnTo>
                    <a:pt x="7105269" y="8274304"/>
                  </a:lnTo>
                  <a:cubicBezTo>
                    <a:pt x="7105269" y="8436737"/>
                    <a:pt x="6973697" y="8568310"/>
                    <a:pt x="6811264" y="8568310"/>
                  </a:cubicBezTo>
                  <a:lnTo>
                    <a:pt x="294005" y="8568310"/>
                  </a:lnTo>
                  <a:cubicBezTo>
                    <a:pt x="131572" y="8568309"/>
                    <a:pt x="0" y="8436610"/>
                    <a:pt x="0" y="8274304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633223" y="3096263"/>
            <a:ext cx="1671323" cy="1671323"/>
            <a:chOff x="0" y="0"/>
            <a:chExt cx="2228431" cy="22284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8342" cy="2228342"/>
            </a:xfrm>
            <a:custGeom>
              <a:avLst/>
              <a:gdLst/>
              <a:ahLst/>
              <a:cxnLst/>
              <a:rect r="r" b="b" t="t" l="l"/>
              <a:pathLst>
                <a:path h="2228342" w="2228342">
                  <a:moveTo>
                    <a:pt x="0" y="1114171"/>
                  </a:moveTo>
                  <a:cubicBezTo>
                    <a:pt x="0" y="498856"/>
                    <a:pt x="498856" y="0"/>
                    <a:pt x="1114171" y="0"/>
                  </a:cubicBezTo>
                  <a:cubicBezTo>
                    <a:pt x="1729486" y="0"/>
                    <a:pt x="2228342" y="498856"/>
                    <a:pt x="2228342" y="1114171"/>
                  </a:cubicBezTo>
                  <a:cubicBezTo>
                    <a:pt x="2228342" y="1729486"/>
                    <a:pt x="1729486" y="2228342"/>
                    <a:pt x="1114171" y="2228342"/>
                  </a:cubicBezTo>
                  <a:cubicBezTo>
                    <a:pt x="498856" y="2228342"/>
                    <a:pt x="0" y="1729613"/>
                    <a:pt x="0" y="111417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645920" y="3108960"/>
            <a:ext cx="1645920" cy="1645920"/>
            <a:chOff x="0" y="0"/>
            <a:chExt cx="2194560" cy="21945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2194560" cy="2280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59"/>
                </a:lnSpc>
              </a:pPr>
              <a:r>
                <a:rPr lang="en-US" sz="48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MP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80160" y="5202555"/>
            <a:ext cx="45720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Matías Parancán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0160" y="6517005"/>
            <a:ext cx="4572000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Backend y hardware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753863" y="2547623"/>
            <a:ext cx="10632443" cy="1488443"/>
            <a:chOff x="0" y="0"/>
            <a:chExt cx="14176591" cy="198459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7028183" y="2858519"/>
            <a:ext cx="866651" cy="866651"/>
            <a:chOff x="0" y="0"/>
            <a:chExt cx="1155535" cy="11555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7040880" y="2871216"/>
            <a:ext cx="841248" cy="841248"/>
            <a:chOff x="0" y="0"/>
            <a:chExt cx="1121664" cy="112166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0" y="2560320"/>
            <a:ext cx="8869680" cy="1463040"/>
            <a:chOff x="0" y="0"/>
            <a:chExt cx="11826240" cy="1950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Gestión de ventas y stock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53863" y="4284983"/>
            <a:ext cx="10632443" cy="1488443"/>
            <a:chOff x="0" y="0"/>
            <a:chExt cx="14176591" cy="198459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7028183" y="4595879"/>
            <a:ext cx="866651" cy="866651"/>
            <a:chOff x="0" y="0"/>
            <a:chExt cx="1155535" cy="11555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0880" y="4608576"/>
            <a:ext cx="841248" cy="841248"/>
            <a:chOff x="0" y="0"/>
            <a:chExt cx="1121664" cy="11216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0" y="4297680"/>
            <a:ext cx="8869680" cy="1463040"/>
            <a:chOff x="0" y="0"/>
            <a:chExt cx="11826240" cy="19507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Poblado inicial de la base de datos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753863" y="6022343"/>
            <a:ext cx="10632443" cy="1488443"/>
            <a:chOff x="0" y="0"/>
            <a:chExt cx="14176591" cy="198459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7028183" y="6333239"/>
            <a:ext cx="866651" cy="866651"/>
            <a:chOff x="0" y="0"/>
            <a:chExt cx="1155535" cy="115553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7040880" y="6345936"/>
            <a:ext cx="841248" cy="841248"/>
            <a:chOff x="0" y="0"/>
            <a:chExt cx="1121664" cy="112166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8229600" y="6035040"/>
            <a:ext cx="8869680" cy="1463040"/>
            <a:chOff x="0" y="0"/>
            <a:chExt cx="11826240" cy="19507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Formulario para registrar y guardar pagos con tarjeta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766560" y="7955280"/>
            <a:ext cx="10607040" cy="914400"/>
            <a:chOff x="0" y="0"/>
            <a:chExt cx="14142720" cy="12192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414272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4142720">
                  <a:moveTo>
                    <a:pt x="0" y="0"/>
                  </a:moveTo>
                  <a:lnTo>
                    <a:pt x="14142720" y="0"/>
                  </a:lnTo>
                  <a:lnTo>
                    <a:pt x="141427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4142720" cy="1257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5B6477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Evidencia: Modelo Entidad-Relación y repositorio en GitHub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640080"/>
            <a:ext cx="16459200" cy="1463040"/>
            <a:chOff x="0" y="0"/>
            <a:chExt cx="21945600" cy="1950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206" r="0" b="-16920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960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1F2A4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Aporte de Bárbara Ortega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1703" y="2547623"/>
            <a:ext cx="5328923" cy="6426203"/>
            <a:chOff x="0" y="0"/>
            <a:chExt cx="7105231" cy="85682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105269" cy="8568310"/>
            </a:xfrm>
            <a:custGeom>
              <a:avLst/>
              <a:gdLst/>
              <a:ahLst/>
              <a:cxnLst/>
              <a:rect r="r" b="b" t="t" l="l"/>
              <a:pathLst>
                <a:path h="8568310" w="7105269">
                  <a:moveTo>
                    <a:pt x="0" y="294005"/>
                  </a:moveTo>
                  <a:cubicBezTo>
                    <a:pt x="0" y="131572"/>
                    <a:pt x="131572" y="0"/>
                    <a:pt x="294005" y="0"/>
                  </a:cubicBezTo>
                  <a:lnTo>
                    <a:pt x="6811264" y="0"/>
                  </a:lnTo>
                  <a:cubicBezTo>
                    <a:pt x="6973697" y="0"/>
                    <a:pt x="7105269" y="131572"/>
                    <a:pt x="7105269" y="294005"/>
                  </a:cubicBezTo>
                  <a:lnTo>
                    <a:pt x="7105269" y="8274304"/>
                  </a:lnTo>
                  <a:cubicBezTo>
                    <a:pt x="7105269" y="8436737"/>
                    <a:pt x="6973697" y="8568310"/>
                    <a:pt x="6811264" y="8568310"/>
                  </a:cubicBezTo>
                  <a:lnTo>
                    <a:pt x="294005" y="8568310"/>
                  </a:lnTo>
                  <a:cubicBezTo>
                    <a:pt x="131572" y="8568309"/>
                    <a:pt x="0" y="8436610"/>
                    <a:pt x="0" y="8274304"/>
                  </a:cubicBezTo>
                  <a:close/>
                </a:path>
              </a:pathLst>
            </a:custGeom>
            <a:solidFill>
              <a:srgbClr val="0097B2"/>
            </a:solidFill>
            <a:ln w="25400" cap="sq">
              <a:solidFill>
                <a:srgbClr val="0097B2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633223" y="3096263"/>
            <a:ext cx="1671323" cy="1671323"/>
            <a:chOff x="0" y="0"/>
            <a:chExt cx="2228431" cy="22284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8342" cy="2228342"/>
            </a:xfrm>
            <a:custGeom>
              <a:avLst/>
              <a:gdLst/>
              <a:ahLst/>
              <a:cxnLst/>
              <a:rect r="r" b="b" t="t" l="l"/>
              <a:pathLst>
                <a:path h="2228342" w="2228342">
                  <a:moveTo>
                    <a:pt x="0" y="1114171"/>
                  </a:moveTo>
                  <a:cubicBezTo>
                    <a:pt x="0" y="498856"/>
                    <a:pt x="498856" y="0"/>
                    <a:pt x="1114171" y="0"/>
                  </a:cubicBezTo>
                  <a:cubicBezTo>
                    <a:pt x="1729486" y="0"/>
                    <a:pt x="2228342" y="498856"/>
                    <a:pt x="2228342" y="1114171"/>
                  </a:cubicBezTo>
                  <a:cubicBezTo>
                    <a:pt x="2228342" y="1729486"/>
                    <a:pt x="1729486" y="2228342"/>
                    <a:pt x="1114171" y="2228342"/>
                  </a:cubicBezTo>
                  <a:cubicBezTo>
                    <a:pt x="498856" y="2228342"/>
                    <a:pt x="0" y="1729613"/>
                    <a:pt x="0" y="1114171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645920" y="3108960"/>
            <a:ext cx="1645920" cy="1645920"/>
            <a:chOff x="0" y="0"/>
            <a:chExt cx="2194560" cy="21945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2194560" cy="2280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59"/>
                </a:lnSpc>
              </a:pPr>
              <a:r>
                <a:rPr lang="en-US" sz="48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80160" y="5202555"/>
            <a:ext cx="45720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Bárbara Ortega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0160" y="6517005"/>
            <a:ext cx="4572000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Documentación y QA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753863" y="2547623"/>
            <a:ext cx="10632443" cy="1488443"/>
            <a:chOff x="0" y="0"/>
            <a:chExt cx="14176591" cy="198459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7028183" y="2858519"/>
            <a:ext cx="866651" cy="866651"/>
            <a:chOff x="0" y="0"/>
            <a:chExt cx="1155535" cy="11555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7040880" y="2871216"/>
            <a:ext cx="841248" cy="841248"/>
            <a:chOff x="0" y="0"/>
            <a:chExt cx="1121664" cy="112166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0" y="2560320"/>
            <a:ext cx="8869680" cy="1463040"/>
            <a:chOff x="0" y="0"/>
            <a:chExt cx="11826240" cy="1950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Asistencia reuniones con la clienta en conjunto con Isabel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53863" y="4284983"/>
            <a:ext cx="10632443" cy="1488443"/>
            <a:chOff x="0" y="0"/>
            <a:chExt cx="14176591" cy="198459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7028183" y="4595879"/>
            <a:ext cx="866651" cy="866651"/>
            <a:chOff x="0" y="0"/>
            <a:chExt cx="1155535" cy="11555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0880" y="4608576"/>
            <a:ext cx="841248" cy="841248"/>
            <a:chOff x="0" y="0"/>
            <a:chExt cx="1121664" cy="11216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0" y="4297680"/>
            <a:ext cx="8869680" cy="1463040"/>
            <a:chOff x="0" y="0"/>
            <a:chExt cx="11826240" cy="19507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Elaboré la propuesta de deberia de funcionar el credito girasol 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753863" y="6022343"/>
            <a:ext cx="10632443" cy="1488443"/>
            <a:chOff x="0" y="0"/>
            <a:chExt cx="14176591" cy="198459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176629" cy="1984629"/>
            </a:xfrm>
            <a:custGeom>
              <a:avLst/>
              <a:gdLst/>
              <a:ahLst/>
              <a:cxnLst/>
              <a:rect r="r" b="b" t="t" l="l"/>
              <a:pathLst>
                <a:path h="1984629" w="14176629">
                  <a:moveTo>
                    <a:pt x="0" y="297688"/>
                  </a:moveTo>
                  <a:cubicBezTo>
                    <a:pt x="0" y="133223"/>
                    <a:pt x="133223" y="0"/>
                    <a:pt x="297688" y="0"/>
                  </a:cubicBezTo>
                  <a:lnTo>
                    <a:pt x="13878940" y="0"/>
                  </a:lnTo>
                  <a:cubicBezTo>
                    <a:pt x="14043405" y="0"/>
                    <a:pt x="14176629" y="133223"/>
                    <a:pt x="14176629" y="297688"/>
                  </a:cubicBezTo>
                  <a:lnTo>
                    <a:pt x="14176629" y="1686941"/>
                  </a:lnTo>
                  <a:cubicBezTo>
                    <a:pt x="14176629" y="1851406"/>
                    <a:pt x="14043405" y="1984629"/>
                    <a:pt x="13878940" y="1984629"/>
                  </a:cubicBezTo>
                  <a:lnTo>
                    <a:pt x="297688" y="1984629"/>
                  </a:lnTo>
                  <a:cubicBezTo>
                    <a:pt x="133223" y="1984629"/>
                    <a:pt x="0" y="1851279"/>
                    <a:pt x="0" y="1686941"/>
                  </a:cubicBezTo>
                  <a:close/>
                </a:path>
              </a:pathLst>
            </a:custGeom>
            <a:solidFill>
              <a:srgbClr val="F1F4F9"/>
            </a:solidFill>
            <a:ln w="25400" cap="sq">
              <a:solidFill>
                <a:srgbClr val="F1F4F9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7028183" y="6333239"/>
            <a:ext cx="866651" cy="866651"/>
            <a:chOff x="0" y="0"/>
            <a:chExt cx="1155535" cy="115553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55573" cy="1155573"/>
            </a:xfrm>
            <a:custGeom>
              <a:avLst/>
              <a:gdLst/>
              <a:ahLst/>
              <a:cxnLst/>
              <a:rect r="r" b="b" t="t" l="l"/>
              <a:pathLst>
                <a:path h="1155573" w="1155573">
                  <a:moveTo>
                    <a:pt x="0" y="577723"/>
                  </a:moveTo>
                  <a:cubicBezTo>
                    <a:pt x="0" y="258699"/>
                    <a:pt x="258699" y="0"/>
                    <a:pt x="577723" y="0"/>
                  </a:cubicBezTo>
                  <a:cubicBezTo>
                    <a:pt x="896747" y="0"/>
                    <a:pt x="1155573" y="258699"/>
                    <a:pt x="1155573" y="577723"/>
                  </a:cubicBezTo>
                  <a:cubicBezTo>
                    <a:pt x="1155573" y="896747"/>
                    <a:pt x="896874" y="1155573"/>
                    <a:pt x="577723" y="1155573"/>
                  </a:cubicBezTo>
                  <a:cubicBezTo>
                    <a:pt x="258572" y="1155573"/>
                    <a:pt x="0" y="896874"/>
                    <a:pt x="0" y="577723"/>
                  </a:cubicBezTo>
                  <a:close/>
                </a:path>
              </a:pathLst>
            </a:custGeom>
            <a:solidFill>
              <a:srgbClr val="7ED957"/>
            </a:solidFill>
            <a:ln w="25400" cap="sq">
              <a:solidFill>
                <a:srgbClr val="7ED957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7040880" y="6345936"/>
            <a:ext cx="841248" cy="841248"/>
            <a:chOff x="0" y="0"/>
            <a:chExt cx="1121664" cy="112166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1121664" cy="11788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1F2A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8229600" y="6035040"/>
            <a:ext cx="8869680" cy="1463040"/>
            <a:chOff x="0" y="0"/>
            <a:chExt cx="11826240" cy="19507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8262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826240">
                  <a:moveTo>
                    <a:pt x="0" y="0"/>
                  </a:moveTo>
                  <a:lnTo>
                    <a:pt x="11826240" y="0"/>
                  </a:lnTo>
                  <a:lnTo>
                    <a:pt x="118262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28" r="0" b="-68128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118262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1F2A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Realicé cambios en el código para los créditos girasol con Isabel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6733520" y="9517380"/>
            <a:ext cx="7315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477"/>
                </a:solidFill>
                <a:latin typeface="Calibri (MS)"/>
                <a:ea typeface="Calibri (MS)"/>
                <a:cs typeface="Calibri (MS)"/>
                <a:sym typeface="Calibri (MS)"/>
              </a:rPr>
              <a:t>9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97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817117" y="2554527"/>
            <a:ext cx="16459200" cy="4694633"/>
            <a:chOff x="0" y="0"/>
            <a:chExt cx="21945600" cy="62595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6259511"/>
            </a:xfrm>
            <a:custGeom>
              <a:avLst/>
              <a:gdLst/>
              <a:ahLst/>
              <a:cxnLst/>
              <a:rect r="r" b="b" t="t" l="l"/>
              <a:pathLst>
                <a:path h="6259511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59511"/>
                  </a:lnTo>
                  <a:lnTo>
                    <a:pt x="0" y="62595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731" r="0" b="1610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6269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DEMOSTRACIÓN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97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640080"/>
            <a:ext cx="16459200" cy="1463040"/>
            <a:chOff x="0" y="0"/>
            <a:chExt cx="21945600" cy="1950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206" r="0" b="-16920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960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79"/>
                </a:lnSpc>
              </a:pPr>
              <a:r>
                <a:rPr lang="en-US" sz="63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Conclusiones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1703" y="2730503"/>
            <a:ext cx="5146043" cy="4597403"/>
            <a:chOff x="0" y="0"/>
            <a:chExt cx="6861391" cy="61298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61428" cy="6129909"/>
            </a:xfrm>
            <a:custGeom>
              <a:avLst/>
              <a:gdLst/>
              <a:ahLst/>
              <a:cxnLst/>
              <a:rect r="r" b="b" t="t" l="l"/>
              <a:pathLst>
                <a:path h="6129909" w="6861428">
                  <a:moveTo>
                    <a:pt x="0" y="294259"/>
                  </a:moveTo>
                  <a:cubicBezTo>
                    <a:pt x="0" y="131699"/>
                    <a:pt x="131699" y="0"/>
                    <a:pt x="294259" y="0"/>
                  </a:cubicBezTo>
                  <a:lnTo>
                    <a:pt x="6567170" y="0"/>
                  </a:lnTo>
                  <a:cubicBezTo>
                    <a:pt x="6729730" y="0"/>
                    <a:pt x="6861428" y="131699"/>
                    <a:pt x="6861428" y="294259"/>
                  </a:cubicBezTo>
                  <a:lnTo>
                    <a:pt x="6861428" y="5835650"/>
                  </a:lnTo>
                  <a:cubicBezTo>
                    <a:pt x="6861428" y="5998210"/>
                    <a:pt x="6729730" y="6129909"/>
                    <a:pt x="6567170" y="6129909"/>
                  </a:cubicBezTo>
                  <a:lnTo>
                    <a:pt x="294259" y="6129909"/>
                  </a:lnTo>
                  <a:cubicBezTo>
                    <a:pt x="131699" y="6129909"/>
                    <a:pt x="0" y="5998083"/>
                    <a:pt x="0" y="5835650"/>
                  </a:cubicBezTo>
                  <a:close/>
                </a:path>
              </a:pathLst>
            </a:custGeom>
            <a:solidFill>
              <a:srgbClr val="2B3A5E"/>
            </a:solidFill>
            <a:ln w="25400" cap="sq">
              <a:solidFill>
                <a:srgbClr val="2B3A5E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80160" y="3089910"/>
            <a:ext cx="4389120" cy="1299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Objetivo 1 cumplido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0160" y="4505325"/>
            <a:ext cx="4389120" cy="2626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Requerimientos, prototipos y modelo de datos validados con el docente.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570983" y="2730503"/>
            <a:ext cx="5146043" cy="4597403"/>
            <a:chOff x="0" y="0"/>
            <a:chExt cx="6861391" cy="612987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61428" cy="6129909"/>
            </a:xfrm>
            <a:custGeom>
              <a:avLst/>
              <a:gdLst/>
              <a:ahLst/>
              <a:cxnLst/>
              <a:rect r="r" b="b" t="t" l="l"/>
              <a:pathLst>
                <a:path h="6129909" w="6861428">
                  <a:moveTo>
                    <a:pt x="0" y="294259"/>
                  </a:moveTo>
                  <a:cubicBezTo>
                    <a:pt x="0" y="131699"/>
                    <a:pt x="131699" y="0"/>
                    <a:pt x="294259" y="0"/>
                  </a:cubicBezTo>
                  <a:lnTo>
                    <a:pt x="6567170" y="0"/>
                  </a:lnTo>
                  <a:cubicBezTo>
                    <a:pt x="6729730" y="0"/>
                    <a:pt x="6861428" y="131699"/>
                    <a:pt x="6861428" y="294259"/>
                  </a:cubicBezTo>
                  <a:lnTo>
                    <a:pt x="6861428" y="5835650"/>
                  </a:lnTo>
                  <a:cubicBezTo>
                    <a:pt x="6861428" y="5998210"/>
                    <a:pt x="6729730" y="6129909"/>
                    <a:pt x="6567170" y="6129909"/>
                  </a:cubicBezTo>
                  <a:lnTo>
                    <a:pt x="294259" y="6129909"/>
                  </a:lnTo>
                  <a:cubicBezTo>
                    <a:pt x="131699" y="6129909"/>
                    <a:pt x="0" y="5998083"/>
                    <a:pt x="0" y="5835650"/>
                  </a:cubicBezTo>
                  <a:close/>
                </a:path>
              </a:pathLst>
            </a:custGeom>
            <a:solidFill>
              <a:srgbClr val="2B3A5E"/>
            </a:solidFill>
            <a:ln w="25400" cap="sq">
              <a:solidFill>
                <a:srgbClr val="2B3A5E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6949440" y="3089910"/>
            <a:ext cx="4389120" cy="1299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Aporte para Girasol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949440" y="4505325"/>
            <a:ext cx="4389120" cy="2626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Menos errores de stock y datos de ventas en tiempo real para decidir.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240263" y="2730503"/>
            <a:ext cx="5146043" cy="4597403"/>
            <a:chOff x="0" y="0"/>
            <a:chExt cx="6861391" cy="612987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61428" cy="6129909"/>
            </a:xfrm>
            <a:custGeom>
              <a:avLst/>
              <a:gdLst/>
              <a:ahLst/>
              <a:cxnLst/>
              <a:rect r="r" b="b" t="t" l="l"/>
              <a:pathLst>
                <a:path h="6129909" w="6861428">
                  <a:moveTo>
                    <a:pt x="0" y="294259"/>
                  </a:moveTo>
                  <a:cubicBezTo>
                    <a:pt x="0" y="131699"/>
                    <a:pt x="131699" y="0"/>
                    <a:pt x="294259" y="0"/>
                  </a:cubicBezTo>
                  <a:lnTo>
                    <a:pt x="6567170" y="0"/>
                  </a:lnTo>
                  <a:cubicBezTo>
                    <a:pt x="6729730" y="0"/>
                    <a:pt x="6861428" y="131699"/>
                    <a:pt x="6861428" y="294259"/>
                  </a:cubicBezTo>
                  <a:lnTo>
                    <a:pt x="6861428" y="5835650"/>
                  </a:lnTo>
                  <a:cubicBezTo>
                    <a:pt x="6861428" y="5998210"/>
                    <a:pt x="6729730" y="6129909"/>
                    <a:pt x="6567170" y="6129909"/>
                  </a:cubicBezTo>
                  <a:lnTo>
                    <a:pt x="294259" y="6129909"/>
                  </a:lnTo>
                  <a:cubicBezTo>
                    <a:pt x="131699" y="6129909"/>
                    <a:pt x="0" y="5998083"/>
                    <a:pt x="0" y="5835650"/>
                  </a:cubicBezTo>
                  <a:close/>
                </a:path>
              </a:pathLst>
            </a:custGeom>
            <a:solidFill>
              <a:srgbClr val="2B3A5E"/>
            </a:solidFill>
            <a:ln w="25400" cap="sq">
              <a:solidFill>
                <a:srgbClr val="2B3A5E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618720" y="3089910"/>
            <a:ext cx="4389120" cy="1299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Proyección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618720" y="4505325"/>
            <a:ext cx="4389120" cy="2626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Seguir profundizando en desarrollo Back-End y arquitectura de software.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14400" y="8037195"/>
            <a:ext cx="9144000" cy="1106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0"/>
              </a:lnSpc>
            </a:pPr>
            <a:r>
              <a:rPr lang="en-US" sz="5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¿Preguntas?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2868353" y="93704"/>
            <a:ext cx="5419647" cy="1332330"/>
          </a:xfrm>
          <a:custGeom>
            <a:avLst/>
            <a:gdLst/>
            <a:ahLst/>
            <a:cxnLst/>
            <a:rect r="r" b="b" t="t" l="l"/>
            <a:pathLst>
              <a:path h="1332330" w="5419647">
                <a:moveTo>
                  <a:pt x="0" y="0"/>
                </a:moveTo>
                <a:lnTo>
                  <a:pt x="5419647" y="0"/>
                </a:lnTo>
                <a:lnTo>
                  <a:pt x="5419647" y="1332329"/>
                </a:lnTo>
                <a:lnTo>
                  <a:pt x="0" y="13323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DAHYZC-H2PM</dc:identifier>
  <dcterms:modified xsi:type="dcterms:W3CDTF">2011-08-01T06:04:30Z</dcterms:modified>
  <cp:revision>1</cp:revision>
  <dc:title>Presentacion_EasyStock</dc:title>
</cp:coreProperties>
</file>