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82A42"/>
          </a:solidFill>
          <a:ln/>
        </p:spPr>
      </p:sp>
      <p:sp>
        <p:nvSpPr>
          <p:cNvPr id="3" name="Shape 1"/>
          <p:cNvSpPr/>
          <p:nvPr/>
        </p:nvSpPr>
        <p:spPr>
          <a:xfrm>
            <a:off x="10607040" y="4206240"/>
            <a:ext cx="3108960" cy="3108960"/>
          </a:xfrm>
          <a:prstGeom prst="ellipse">
            <a:avLst/>
          </a:prstGeom>
          <a:solidFill>
            <a:srgbClr val="1C7293"/>
          </a:solidFill>
          <a:ln/>
        </p:spPr>
      </p:sp>
      <p:sp>
        <p:nvSpPr>
          <p:cNvPr id="4" name="Shape 2"/>
          <p:cNvSpPr/>
          <p:nvPr/>
        </p:nvSpPr>
        <p:spPr>
          <a:xfrm>
            <a:off x="-1097280" y="5120640"/>
            <a:ext cx="2926080" cy="2926080"/>
          </a:xfrm>
          <a:prstGeom prst="ellipse">
            <a:avLst/>
          </a:prstGeom>
          <a:solidFill>
            <a:srgbClr val="082A42"/>
          </a:solidFill>
          <a:ln/>
        </p:spPr>
      </p:sp>
      <p:sp>
        <p:nvSpPr>
          <p:cNvPr id="5" name="Shape 3"/>
          <p:cNvSpPr/>
          <p:nvPr/>
        </p:nvSpPr>
        <p:spPr>
          <a:xfrm>
            <a:off x="685800" y="640080"/>
            <a:ext cx="868680" cy="868680"/>
          </a:xfrm>
          <a:prstGeom prst="ellipse">
            <a:avLst/>
          </a:prstGeom>
          <a:solidFill>
            <a:srgbClr val="1C7293"/>
          </a:solidFill>
          <a:ln/>
        </p:spPr>
      </p:sp>
      <p:pic>
        <p:nvPicPr>
          <p:cNvPr id="6" name="Image 0" descr="/home/claude/proyecto_apt/icons/store.png">    </p:cNvPr>
          <p:cNvPicPr>
            <a:picLocks noChangeAspect="1"/>
          </p:cNvPicPr>
          <p:nvPr/>
        </p:nvPicPr>
        <p:blipFill>
          <a:blip r:embed="rId1"/>
          <a:stretch>
            <a:fillRect/>
          </a:stretch>
        </p:blipFill>
        <p:spPr>
          <a:xfrm>
            <a:off x="894283" y="848563"/>
            <a:ext cx="451714" cy="451714"/>
          </a:xfrm>
          <a:prstGeom prst="rect">
            <a:avLst/>
          </a:prstGeom>
        </p:spPr>
      </p:pic>
      <p:sp>
        <p:nvSpPr>
          <p:cNvPr id="7" name="Text 4"/>
          <p:cNvSpPr/>
          <p:nvPr/>
        </p:nvSpPr>
        <p:spPr>
          <a:xfrm>
            <a:off x="685800" y="1691640"/>
            <a:ext cx="8229600" cy="320040"/>
          </a:xfrm>
          <a:prstGeom prst="rect">
            <a:avLst/>
          </a:prstGeom>
          <a:noFill/>
          <a:ln/>
        </p:spPr>
        <p:txBody>
          <a:bodyPr wrap="square" rtlCol="0" anchor="ctr"/>
          <a:lstStyle/>
          <a:p>
            <a:pPr indent="0" marL="0">
              <a:buNone/>
            </a:pPr>
            <a:r>
              <a:rPr lang="en-US" sz="1300" b="1" spc="150" kern="0" dirty="0">
                <a:solidFill>
                  <a:srgbClr val="9FD0DE"/>
                </a:solidFill>
                <a:latin typeface="Calibri" pitchFamily="34" charset="0"/>
                <a:ea typeface="Calibri" pitchFamily="34" charset="-122"/>
                <a:cs typeface="Calibri" pitchFamily="34" charset="-120"/>
              </a:rPr>
              <a:t>DUOC UC  ·  INGENIERÍA EN INFORMÁTICA  ·  SEDE PUERTO MONTT</a:t>
            </a:r>
            <a:endParaRPr lang="en-US" sz="1300" dirty="0"/>
          </a:p>
        </p:txBody>
      </p:sp>
      <p:sp>
        <p:nvSpPr>
          <p:cNvPr id="8" name="Text 5"/>
          <p:cNvSpPr/>
          <p:nvPr/>
        </p:nvSpPr>
        <p:spPr>
          <a:xfrm>
            <a:off x="658368" y="2057400"/>
            <a:ext cx="100584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EasyStock</a:t>
            </a:r>
            <a:endParaRPr lang="en-US" sz="6000" dirty="0"/>
          </a:p>
        </p:txBody>
      </p:sp>
      <p:sp>
        <p:nvSpPr>
          <p:cNvPr id="9" name="Text 6"/>
          <p:cNvSpPr/>
          <p:nvPr/>
        </p:nvSpPr>
        <p:spPr>
          <a:xfrm>
            <a:off x="685800" y="3200400"/>
            <a:ext cx="8961120" cy="822960"/>
          </a:xfrm>
          <a:prstGeom prst="rect">
            <a:avLst/>
          </a:prstGeom>
          <a:noFill/>
          <a:ln/>
        </p:spPr>
        <p:txBody>
          <a:bodyPr wrap="square" rtlCol="0" anchor="ctr"/>
          <a:lstStyle/>
          <a:p>
            <a:pPr indent="0" marL="0">
              <a:lnSpc>
                <a:spcPct val="115000"/>
              </a:lnSpc>
              <a:buNone/>
            </a:pPr>
            <a:r>
              <a:rPr lang="en-US" sz="1800" dirty="0">
                <a:solidFill>
                  <a:srgbClr val="D7E7EC"/>
                </a:solidFill>
                <a:latin typeface="Calibri" pitchFamily="34" charset="0"/>
                <a:ea typeface="Calibri" pitchFamily="34" charset="-122"/>
                <a:cs typeface="Calibri" pitchFamily="34" charset="-120"/>
              </a:rPr>
              <a:t>Plataforma web de Punto de Venta (POS) y Gestión de Inventario</a:t>
            </a:r>
            <a:endParaRPr lang="en-US" sz="1800" dirty="0"/>
          </a:p>
          <a:p>
            <a:pPr indent="0" marL="0">
              <a:lnSpc>
                <a:spcPct val="115000"/>
              </a:lnSpc>
              <a:buNone/>
            </a:pPr>
            <a:r>
              <a:rPr lang="en-US" sz="1800" dirty="0">
                <a:solidFill>
                  <a:srgbClr val="D7E7EC"/>
                </a:solidFill>
                <a:latin typeface="Calibri" pitchFamily="34" charset="0"/>
                <a:ea typeface="Calibri" pitchFamily="34" charset="-122"/>
                <a:cs typeface="Calibri" pitchFamily="34" charset="-120"/>
              </a:rPr>
              <a:t>para la Tienda Girasol — Isla Grande de Chiloé</a:t>
            </a:r>
            <a:endParaRPr lang="en-US" sz="1800" dirty="0"/>
          </a:p>
        </p:txBody>
      </p:sp>
      <p:sp>
        <p:nvSpPr>
          <p:cNvPr id="10" name="Shape 7"/>
          <p:cNvSpPr/>
          <p:nvPr/>
        </p:nvSpPr>
        <p:spPr>
          <a:xfrm>
            <a:off x="685800" y="4160520"/>
            <a:ext cx="3108960" cy="0"/>
          </a:xfrm>
          <a:prstGeom prst="line">
            <a:avLst/>
          </a:prstGeom>
          <a:noFill/>
          <a:ln w="25400">
            <a:solidFill>
              <a:srgbClr val="1C7293"/>
            </a:solidFill>
            <a:prstDash val="solid"/>
          </a:ln>
        </p:spPr>
      </p:sp>
      <p:sp>
        <p:nvSpPr>
          <p:cNvPr id="11" name="Text 8"/>
          <p:cNvSpPr/>
          <p:nvPr/>
        </p:nvSpPr>
        <p:spPr>
          <a:xfrm>
            <a:off x="685800" y="4279392"/>
            <a:ext cx="8686800" cy="365760"/>
          </a:xfrm>
          <a:prstGeom prst="rect">
            <a:avLst/>
          </a:prstGeom>
          <a:noFill/>
          <a:ln/>
        </p:spPr>
        <p:txBody>
          <a:bodyPr wrap="square" rtlCol="0" anchor="ctr"/>
          <a:lstStyle/>
          <a:p>
            <a:pPr indent="0" marL="0">
              <a:buNone/>
            </a:pPr>
            <a:r>
              <a:rPr lang="en-US" sz="1400" i="1" dirty="0">
                <a:solidFill>
                  <a:srgbClr val="BFDCE4"/>
                </a:solidFill>
                <a:latin typeface="Calibri" pitchFamily="34" charset="0"/>
                <a:ea typeface="Calibri" pitchFamily="34" charset="-122"/>
                <a:cs typeface="Calibri" pitchFamily="34" charset="-120"/>
              </a:rPr>
              <a:t>Definición Proyecto APT — Fase 1  |  Asignatura Capstone (Portafolio de Título)</a:t>
            </a:r>
            <a:endParaRPr lang="en-US" sz="1400" dirty="0"/>
          </a:p>
        </p:txBody>
      </p:sp>
      <p:sp>
        <p:nvSpPr>
          <p:cNvPr id="12" name="Shape 9"/>
          <p:cNvSpPr/>
          <p:nvPr/>
        </p:nvSpPr>
        <p:spPr>
          <a:xfrm>
            <a:off x="685800" y="4892040"/>
            <a:ext cx="8138160" cy="1417320"/>
          </a:xfrm>
          <a:prstGeom prst="roundRect">
            <a:avLst>
              <a:gd name="adj" fmla="val 7742"/>
            </a:avLst>
          </a:prstGeom>
          <a:solidFill>
            <a:srgbClr val="082A42"/>
          </a:solidFill>
          <a:ln w="12700">
            <a:solidFill>
              <a:srgbClr val="1C7293"/>
            </a:solidFill>
            <a:prstDash val="solid"/>
          </a:ln>
        </p:spPr>
      </p:sp>
      <p:sp>
        <p:nvSpPr>
          <p:cNvPr id="13" name="Text 10"/>
          <p:cNvSpPr/>
          <p:nvPr/>
        </p:nvSpPr>
        <p:spPr>
          <a:xfrm>
            <a:off x="960120" y="5029200"/>
            <a:ext cx="3657600" cy="274320"/>
          </a:xfrm>
          <a:prstGeom prst="rect">
            <a:avLst/>
          </a:prstGeom>
          <a:noFill/>
          <a:ln/>
        </p:spPr>
        <p:txBody>
          <a:bodyPr wrap="square" rtlCol="0" anchor="ctr"/>
          <a:lstStyle/>
          <a:p>
            <a:pPr indent="0" marL="0">
              <a:buNone/>
            </a:pPr>
            <a:r>
              <a:rPr lang="en-US" sz="1100" b="1" spc="100" kern="0" dirty="0">
                <a:solidFill>
                  <a:srgbClr val="E76F51"/>
                </a:solidFill>
                <a:latin typeface="Calibri" pitchFamily="34" charset="0"/>
                <a:ea typeface="Calibri" pitchFamily="34" charset="-122"/>
                <a:cs typeface="Calibri" pitchFamily="34" charset="-120"/>
              </a:rPr>
              <a:t>Equipo de trabajo</a:t>
            </a:r>
            <a:endParaRPr lang="en-US" sz="1100" dirty="0"/>
          </a:p>
        </p:txBody>
      </p:sp>
      <p:sp>
        <p:nvSpPr>
          <p:cNvPr id="14" name="Text 11"/>
          <p:cNvSpPr/>
          <p:nvPr/>
        </p:nvSpPr>
        <p:spPr>
          <a:xfrm>
            <a:off x="960120" y="5321808"/>
            <a:ext cx="3291840" cy="914400"/>
          </a:xfrm>
          <a:prstGeom prst="rect">
            <a:avLst/>
          </a:prstGeom>
          <a:noFill/>
          <a:ln/>
        </p:spPr>
        <p:txBody>
          <a:bodyPr wrap="square" rtlCol="0" anchor="ctr"/>
          <a:lstStyle/>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Isabel Alvarado</a:t>
            </a:r>
            <a:endParaRPr lang="en-US" sz="1400" dirty="0"/>
          </a:p>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Bárbara Ortega</a:t>
            </a:r>
            <a:endParaRPr lang="en-US" sz="1400" dirty="0"/>
          </a:p>
          <a:p>
            <a:pPr indent="0" marL="0">
              <a:lnSpc>
                <a:spcPct val="125000"/>
              </a:lnSpc>
              <a:buNone/>
            </a:pPr>
            <a:r>
              <a:rPr lang="en-US" sz="1400" b="1" dirty="0">
                <a:solidFill>
                  <a:srgbClr val="FFFFFF"/>
                </a:solidFill>
                <a:latin typeface="Calibri" pitchFamily="34" charset="0"/>
                <a:ea typeface="Calibri" pitchFamily="34" charset="-122"/>
                <a:cs typeface="Calibri" pitchFamily="34" charset="-120"/>
              </a:rPr>
              <a:t>Matías Parancán</a:t>
            </a:r>
            <a:endParaRPr lang="en-US" sz="1400" dirty="0"/>
          </a:p>
        </p:txBody>
      </p:sp>
      <p:sp>
        <p:nvSpPr>
          <p:cNvPr id="15" name="Text 12"/>
          <p:cNvSpPr/>
          <p:nvPr/>
        </p:nvSpPr>
        <p:spPr>
          <a:xfrm>
            <a:off x="4572000" y="5321808"/>
            <a:ext cx="4023360" cy="914400"/>
          </a:xfrm>
          <a:prstGeom prst="rect">
            <a:avLst/>
          </a:prstGeom>
          <a:noFill/>
          <a:ln/>
        </p:spPr>
        <p:txBody>
          <a:bodyPr wrap="square" rtlCol="0" anchor="ctr"/>
          <a:lstStyle/>
          <a:p>
            <a:pPr indent="0" marL="0">
              <a:lnSpc>
                <a:spcPct val="135000"/>
              </a:lnSpc>
              <a:buNone/>
            </a:pPr>
            <a:r>
              <a:rPr lang="en-US" sz="1300" dirty="0">
                <a:solidFill>
                  <a:srgbClr val="D7E7EC"/>
                </a:solidFill>
                <a:latin typeface="Calibri" pitchFamily="34" charset="0"/>
                <a:ea typeface="Calibri" pitchFamily="34" charset="-122"/>
                <a:cs typeface="Calibri" pitchFamily="34" charset="-120"/>
              </a:rPr>
              <a:t>Carrera: Ingeniería en Informática</a:t>
            </a:r>
            <a:endParaRPr lang="en-US" sz="1300" dirty="0"/>
          </a:p>
          <a:p>
            <a:pPr indent="0" marL="0">
              <a:lnSpc>
                <a:spcPct val="135000"/>
              </a:lnSpc>
              <a:buNone/>
            </a:pPr>
            <a:r>
              <a:rPr lang="en-US" sz="1300" dirty="0">
                <a:solidFill>
                  <a:srgbClr val="D7E7EC"/>
                </a:solidFill>
                <a:latin typeface="Calibri" pitchFamily="34" charset="0"/>
                <a:ea typeface="Calibri" pitchFamily="34" charset="-122"/>
                <a:cs typeface="Calibri" pitchFamily="34" charset="-120"/>
              </a:rPr>
              <a:t>Sede: Puerto Montt</a:t>
            </a:r>
            <a:endParaRPr lang="en-US" sz="1300" dirty="0"/>
          </a:p>
          <a:p>
            <a:pPr indent="0" marL="0">
              <a:lnSpc>
                <a:spcPct val="135000"/>
              </a:lnSpc>
              <a:buNone/>
            </a:pPr>
            <a:r>
              <a:rPr lang="en-US" sz="1300" dirty="0">
                <a:solidFill>
                  <a:srgbClr val="D7E7EC"/>
                </a:solidFill>
                <a:latin typeface="Calibri" pitchFamily="34" charset="0"/>
                <a:ea typeface="Calibri" pitchFamily="34" charset="-122"/>
                <a:cs typeface="Calibri" pitchFamily="34" charset="-120"/>
              </a:rPr>
              <a:t>Semestre: 10 ago. – 23 nov.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1. DESCRIPCIÓN Y RELEVANCIA</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¿En qué consiste EasyStock?</a:t>
            </a:r>
            <a:endParaRPr lang="en-US" sz="3000" dirty="0"/>
          </a:p>
        </p:txBody>
      </p:sp>
      <p:sp>
        <p:nvSpPr>
          <p:cNvPr id="4" name="Shape 2"/>
          <p:cNvSpPr/>
          <p:nvPr/>
        </p:nvSpPr>
        <p:spPr>
          <a:xfrm>
            <a:off x="548640" y="1234440"/>
            <a:ext cx="5532120" cy="5074920"/>
          </a:xfrm>
          <a:prstGeom prst="roundRect">
            <a:avLst>
              <a:gd name="adj" fmla="val 1802"/>
            </a:avLst>
          </a:prstGeom>
          <a:solidFill>
            <a:srgbClr val="FFFFFF"/>
          </a:solidFill>
          <a:ln/>
          <a:effectLst>
            <a:outerShdw sx="100000" sy="100000" kx="0" ky="0" algn="bl" rotWithShape="0" blurRad="101600" dist="38100" dir="5400000">
              <a:srgbClr val="1B2A38">
                <a:alpha val="18000"/>
              </a:srgbClr>
            </a:outerShdw>
          </a:effectLst>
        </p:spPr>
      </p:sp>
      <p:sp>
        <p:nvSpPr>
          <p:cNvPr id="5" name="Shape 3"/>
          <p:cNvSpPr/>
          <p:nvPr/>
        </p:nvSpPr>
        <p:spPr>
          <a:xfrm>
            <a:off x="868680" y="1536192"/>
            <a:ext cx="548640" cy="548640"/>
          </a:xfrm>
          <a:prstGeom prst="ellipse">
            <a:avLst/>
          </a:prstGeom>
          <a:solidFill>
            <a:srgbClr val="0B3C5D"/>
          </a:solidFill>
          <a:ln/>
        </p:spPr>
      </p:sp>
      <p:pic>
        <p:nvPicPr>
          <p:cNvPr id="6" name="Image 0" descr="/home/claude/proyecto_apt/icons/boxes.png">    </p:cNvPr>
          <p:cNvPicPr>
            <a:picLocks noChangeAspect="1"/>
          </p:cNvPicPr>
          <p:nvPr/>
        </p:nvPicPr>
        <p:blipFill>
          <a:blip r:embed="rId1"/>
          <a:stretch>
            <a:fillRect/>
          </a:stretch>
        </p:blipFill>
        <p:spPr>
          <a:xfrm>
            <a:off x="1000354" y="1667866"/>
            <a:ext cx="285293" cy="285293"/>
          </a:xfrm>
          <a:prstGeom prst="rect">
            <a:avLst/>
          </a:prstGeom>
        </p:spPr>
      </p:pic>
      <p:sp>
        <p:nvSpPr>
          <p:cNvPr id="7" name="Text 4"/>
          <p:cNvSpPr/>
          <p:nvPr/>
        </p:nvSpPr>
        <p:spPr>
          <a:xfrm>
            <a:off x="1554480" y="1572768"/>
            <a:ext cx="4297680" cy="457200"/>
          </a:xfrm>
          <a:prstGeom prst="rect">
            <a:avLst/>
          </a:prstGeom>
          <a:noFill/>
          <a:ln/>
        </p:spPr>
        <p:txBody>
          <a:bodyPr wrap="square" rtlCol="0" anchor="ctr"/>
          <a:lstStyle/>
          <a:p>
            <a:pPr indent="0" marL="0">
              <a:buNone/>
            </a:pPr>
            <a:r>
              <a:rPr lang="en-US" sz="1700" b="1" dirty="0">
                <a:solidFill>
                  <a:srgbClr val="0B3C5D"/>
                </a:solidFill>
                <a:latin typeface="Cambria" pitchFamily="34" charset="0"/>
                <a:ea typeface="Cambria" pitchFamily="34" charset="-122"/>
                <a:cs typeface="Cambria" pitchFamily="34" charset="-120"/>
              </a:rPr>
              <a:t>Descripción del proyecto</a:t>
            </a:r>
            <a:endParaRPr lang="en-US" sz="1700" dirty="0"/>
          </a:p>
        </p:txBody>
      </p:sp>
      <p:sp>
        <p:nvSpPr>
          <p:cNvPr id="8" name="Text 5"/>
          <p:cNvSpPr/>
          <p:nvPr/>
        </p:nvSpPr>
        <p:spPr>
          <a:xfrm>
            <a:off x="868680" y="2286000"/>
            <a:ext cx="4937760" cy="1371600"/>
          </a:xfrm>
          <a:prstGeom prst="rect">
            <a:avLst/>
          </a:prstGeom>
          <a:noFill/>
          <a:ln/>
        </p:spPr>
        <p:txBody>
          <a:bodyPr wrap="square" rtlCol="0" anchor="ctr"/>
          <a:lstStyle/>
          <a:p>
            <a:pPr indent="0" marL="0">
              <a:lnSpc>
                <a:spcPct val="125000"/>
              </a:lnSpc>
              <a:buNone/>
            </a:pPr>
            <a:r>
              <a:rPr lang="en-US" sz="1350" dirty="0">
                <a:solidFill>
                  <a:srgbClr val="22333B"/>
                </a:solidFill>
                <a:latin typeface="Calibri" pitchFamily="34" charset="0"/>
                <a:ea typeface="Calibri" pitchFamily="34" charset="-122"/>
                <a:cs typeface="Calibri" pitchFamily="34" charset="-120"/>
              </a:rPr>
              <a:t>El proyecto surge de la necesidad de modernizar la gestión de una tienda de ropa en la Isla Grande de Chiloé, que hoy no cuenta con un sistema centralizado, lo que genera errores en el conteo de existencias y falta de visibilidad sobre las ventas en tiempo real.</a:t>
            </a:r>
            <a:endParaRPr lang="en-US" sz="1350" dirty="0"/>
          </a:p>
        </p:txBody>
      </p:sp>
      <p:sp>
        <p:nvSpPr>
          <p:cNvPr id="9" name="Text 6"/>
          <p:cNvSpPr/>
          <p:nvPr/>
        </p:nvSpPr>
        <p:spPr>
          <a:xfrm>
            <a:off x="868680" y="3794760"/>
            <a:ext cx="4937760" cy="1371600"/>
          </a:xfrm>
          <a:prstGeom prst="rect">
            <a:avLst/>
          </a:prstGeom>
          <a:noFill/>
          <a:ln/>
        </p:spPr>
        <p:txBody>
          <a:bodyPr wrap="square" rtlCol="0" anchor="ctr"/>
          <a:lstStyle/>
          <a:p>
            <a:pPr indent="0" marL="0">
              <a:lnSpc>
                <a:spcPct val="125000"/>
              </a:lnSpc>
              <a:buNone/>
            </a:pPr>
            <a:r>
              <a:rPr lang="en-US" sz="1350" dirty="0">
                <a:solidFill>
                  <a:srgbClr val="22333B"/>
                </a:solidFill>
                <a:latin typeface="Calibri" pitchFamily="34" charset="0"/>
                <a:ea typeface="Calibri" pitchFamily="34" charset="-122"/>
                <a:cs typeface="Calibri" pitchFamily="34" charset="-120"/>
              </a:rPr>
              <a:t>El objetivo es desarrollar e implementar un software de inventario integral: una plataforma que gestiona el ciclo completo de los productos (ingreso, stock crítico y salida), mediante una arquitectura robusta y una interfaz intuitiva que garantice la integridad de los datos de la tienda.</a:t>
            </a:r>
            <a:endParaRPr lang="en-US" sz="1350" dirty="0"/>
          </a:p>
        </p:txBody>
      </p:sp>
      <p:sp>
        <p:nvSpPr>
          <p:cNvPr id="10" name="Text 7"/>
          <p:cNvSpPr/>
          <p:nvPr/>
        </p:nvSpPr>
        <p:spPr>
          <a:xfrm>
            <a:off x="868680" y="5806440"/>
            <a:ext cx="5029200" cy="365760"/>
          </a:xfrm>
          <a:prstGeom prst="rect">
            <a:avLst/>
          </a:prstGeom>
          <a:noFill/>
          <a:ln/>
        </p:spPr>
        <p:txBody>
          <a:bodyPr wrap="square" rtlCol="0" anchor="ctr"/>
          <a:lstStyle/>
          <a:p>
            <a:pPr indent="0" marL="0">
              <a:buNone/>
            </a:pPr>
            <a:r>
              <a:rPr lang="en-US" sz="1200" b="1" i="1" dirty="0">
                <a:solidFill>
                  <a:srgbClr val="1C7293"/>
                </a:solidFill>
                <a:latin typeface="Calibri" pitchFamily="34" charset="0"/>
                <a:ea typeface="Calibri" pitchFamily="34" charset="-122"/>
                <a:cs typeface="Calibri" pitchFamily="34" charset="-120"/>
              </a:rPr>
              <a:t>Nombre del proyecto: EasyStock  ·  Cliente: Tienda Girasol</a:t>
            </a:r>
            <a:endParaRPr lang="en-US" sz="1200" dirty="0"/>
          </a:p>
        </p:txBody>
      </p:sp>
      <p:sp>
        <p:nvSpPr>
          <p:cNvPr id="11" name="Shape 8"/>
          <p:cNvSpPr/>
          <p:nvPr/>
        </p:nvSpPr>
        <p:spPr>
          <a:xfrm>
            <a:off x="6263640" y="1234440"/>
            <a:ext cx="5394960" cy="5074920"/>
          </a:xfrm>
          <a:prstGeom prst="roundRect">
            <a:avLst>
              <a:gd name="adj" fmla="val 1802"/>
            </a:avLst>
          </a:prstGeom>
          <a:solidFill>
            <a:srgbClr val="0B3C5D"/>
          </a:solidFill>
          <a:ln/>
          <a:effectLst>
            <a:outerShdw sx="100000" sy="100000" kx="0" ky="0" algn="bl" rotWithShape="0" blurRad="101600" dist="38100" dir="5400000">
              <a:srgbClr val="1B2A38">
                <a:alpha val="18000"/>
              </a:srgbClr>
            </a:outerShdw>
          </a:effectLst>
        </p:spPr>
      </p:sp>
      <p:sp>
        <p:nvSpPr>
          <p:cNvPr id="12" name="Shape 9"/>
          <p:cNvSpPr/>
          <p:nvPr/>
        </p:nvSpPr>
        <p:spPr>
          <a:xfrm>
            <a:off x="6583680" y="1536192"/>
            <a:ext cx="548640" cy="548640"/>
          </a:xfrm>
          <a:prstGeom prst="ellipse">
            <a:avLst/>
          </a:prstGeom>
          <a:solidFill>
            <a:srgbClr val="E76F51"/>
          </a:solidFill>
          <a:ln/>
        </p:spPr>
      </p:sp>
      <p:pic>
        <p:nvPicPr>
          <p:cNvPr id="13" name="Image 1" descr="/home/claude/proyecto_apt/icons/briefcase.png">    </p:cNvPr>
          <p:cNvPicPr>
            <a:picLocks noChangeAspect="1"/>
          </p:cNvPicPr>
          <p:nvPr/>
        </p:nvPicPr>
        <p:blipFill>
          <a:blip r:embed="rId2"/>
          <a:stretch>
            <a:fillRect/>
          </a:stretch>
        </p:blipFill>
        <p:spPr>
          <a:xfrm>
            <a:off x="6715354" y="1667866"/>
            <a:ext cx="285293" cy="285293"/>
          </a:xfrm>
          <a:prstGeom prst="rect">
            <a:avLst/>
          </a:prstGeom>
        </p:spPr>
      </p:pic>
      <p:sp>
        <p:nvSpPr>
          <p:cNvPr id="14" name="Text 10"/>
          <p:cNvSpPr/>
          <p:nvPr/>
        </p:nvSpPr>
        <p:spPr>
          <a:xfrm>
            <a:off x="7269480" y="1572768"/>
            <a:ext cx="420624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Relevancia para el campo laboral</a:t>
            </a:r>
            <a:endParaRPr lang="en-US" sz="1700" dirty="0"/>
          </a:p>
        </p:txBody>
      </p:sp>
      <p:sp>
        <p:nvSpPr>
          <p:cNvPr id="15" name="Text 11"/>
          <p:cNvSpPr/>
          <p:nvPr/>
        </p:nvSpPr>
        <p:spPr>
          <a:xfrm>
            <a:off x="6583680" y="2331720"/>
            <a:ext cx="4846320" cy="3794760"/>
          </a:xfrm>
          <a:prstGeom prst="rect">
            <a:avLst/>
          </a:prstGeom>
          <a:noFill/>
          <a:ln/>
        </p:spPr>
        <p:txBody>
          <a:bodyPr wrap="square" rtlCol="0" anchor="t"/>
          <a:lstStyle/>
          <a:p>
            <a:pPr marL="342900" indent="-342900">
              <a:lnSpc>
                <a:spcPct val="115000"/>
              </a:lnSpc>
              <a:spcAft>
                <a:spcPts val="1400"/>
              </a:spcAft>
              <a:buSzPct val="100000"/>
              <a:buChar char="●"/>
            </a:pPr>
            <a:r>
              <a:rPr lang="en-US" sz="1300" dirty="0">
                <a:solidFill>
                  <a:srgbClr val="D7E7EC"/>
                </a:solidFill>
                <a:latin typeface="Calibri" pitchFamily="34" charset="0"/>
                <a:ea typeface="Calibri" pitchFamily="34" charset="-122"/>
                <a:cs typeface="Calibri" pitchFamily="34" charset="-120"/>
              </a:rPr>
              <a:t>Zonas apartadas: aplica soluciones tecnológicas en territorios geográficamente aislados, fomentando la transformación digital.</a:t>
            </a:r>
            <a:endParaRPr lang="en-US" sz="1300" dirty="0"/>
          </a:p>
          <a:p>
            <a:pPr marL="342900" indent="-342900">
              <a:lnSpc>
                <a:spcPct val="115000"/>
              </a:lnSpc>
              <a:spcAft>
                <a:spcPts val="1400"/>
              </a:spcAft>
              <a:buSzPct val="100000"/>
              <a:buChar char="●"/>
            </a:pPr>
            <a:r>
              <a:rPr lang="en-US" sz="1300" dirty="0">
                <a:solidFill>
                  <a:srgbClr val="D7E7EC"/>
                </a:solidFill>
                <a:latin typeface="Calibri" pitchFamily="34" charset="0"/>
                <a:ea typeface="Calibri" pitchFamily="34" charset="-122"/>
                <a:cs typeface="Calibri" pitchFamily="34" charset="-120"/>
              </a:rPr>
              <a:t>Demanda del mercado: el campo laboral exige profesionales capaces de implementar soluciones donde la digitalización es clave para la competitividad.</a:t>
            </a:r>
            <a:endParaRPr lang="en-US" sz="1300" dirty="0"/>
          </a:p>
          <a:p>
            <a:pPr marL="342900" indent="-342900">
              <a:lnSpc>
                <a:spcPct val="115000"/>
              </a:lnSpc>
              <a:spcAft>
                <a:spcPts val="1400"/>
              </a:spcAft>
              <a:buSzPct val="100000"/>
              <a:buChar char="●"/>
            </a:pPr>
            <a:r>
              <a:rPr lang="en-US" sz="1300" dirty="0">
                <a:solidFill>
                  <a:srgbClr val="D7E7EC"/>
                </a:solidFill>
                <a:latin typeface="Calibri" pitchFamily="34" charset="0"/>
                <a:ea typeface="Calibri" pitchFamily="34" charset="-122"/>
                <a:cs typeface="Calibri" pitchFamily="34" charset="-120"/>
              </a:rPr>
              <a:t>Contexto local: Chiloé posee características comerciales únicas; el proyecto impacta directamente a los dueños del negocio y a sus clientes.</a:t>
            </a:r>
            <a:endParaRPr lang="en-US" sz="1300" dirty="0"/>
          </a:p>
          <a:p>
            <a:pPr marL="342900" indent="-342900">
              <a:lnSpc>
                <a:spcPct val="115000"/>
              </a:lnSpc>
              <a:buSzPct val="100000"/>
              <a:buChar char="●"/>
            </a:pPr>
            <a:r>
              <a:rPr lang="en-US" sz="1300" dirty="0">
                <a:solidFill>
                  <a:srgbClr val="D7E7EC"/>
                </a:solidFill>
                <a:latin typeface="Calibri" pitchFamily="34" charset="0"/>
                <a:ea typeface="Calibri" pitchFamily="34" charset="-122"/>
                <a:cs typeface="Calibri" pitchFamily="34" charset="-120"/>
              </a:rPr>
              <a:t>Perfil profesional: fortalece competencias de desarrollo full stack, requeridas de forma creciente por la industria del software.</a:t>
            </a:r>
            <a:endParaRPr lang="en-US" sz="1300" dirty="0"/>
          </a:p>
        </p:txBody>
      </p:sp>
      <p:sp>
        <p:nvSpPr>
          <p:cNvPr id="16" name="Text 12"/>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17" name="Text 13"/>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2. PERFIL DE EGRESO</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Competencias del Plan de Estudio</a:t>
            </a:r>
            <a:endParaRPr lang="en-US" sz="3000" dirty="0"/>
          </a:p>
        </p:txBody>
      </p:sp>
      <p:sp>
        <p:nvSpPr>
          <p:cNvPr id="4" name="Shape 2"/>
          <p:cNvSpPr/>
          <p:nvPr/>
        </p:nvSpPr>
        <p:spPr>
          <a:xfrm>
            <a:off x="548640" y="1234440"/>
            <a:ext cx="5394960" cy="2011680"/>
          </a:xfrm>
          <a:prstGeom prst="roundRect">
            <a:avLst>
              <a:gd name="adj" fmla="val 4545"/>
            </a:avLst>
          </a:prstGeom>
          <a:solidFill>
            <a:srgbClr val="FFFFFF"/>
          </a:solidFill>
          <a:ln/>
          <a:effectLst>
            <a:outerShdw sx="100000" sy="100000" kx="0" ky="0" algn="bl" rotWithShape="0" blurRad="101600" dist="38100" dir="5400000">
              <a:srgbClr val="1B2A38">
                <a:alpha val="18000"/>
              </a:srgbClr>
            </a:outerShdw>
          </a:effectLst>
        </p:spPr>
      </p:sp>
      <p:sp>
        <p:nvSpPr>
          <p:cNvPr id="5" name="Shape 3"/>
          <p:cNvSpPr/>
          <p:nvPr/>
        </p:nvSpPr>
        <p:spPr>
          <a:xfrm>
            <a:off x="822960" y="1554480"/>
            <a:ext cx="685800" cy="685800"/>
          </a:xfrm>
          <a:prstGeom prst="ellipse">
            <a:avLst/>
          </a:prstGeom>
          <a:solidFill>
            <a:srgbClr val="0B3C5D"/>
          </a:solidFill>
          <a:ln/>
        </p:spPr>
      </p:sp>
      <p:pic>
        <p:nvPicPr>
          <p:cNvPr id="6" name="Image 0" descr="/home/claude/proyecto_apt/icons/vial.png">    </p:cNvPr>
          <p:cNvPicPr>
            <a:picLocks noChangeAspect="1"/>
          </p:cNvPicPr>
          <p:nvPr/>
        </p:nvPicPr>
        <p:blipFill>
          <a:blip r:embed="rId1"/>
          <a:stretch>
            <a:fillRect/>
          </a:stretch>
        </p:blipFill>
        <p:spPr>
          <a:xfrm>
            <a:off x="987552" y="1719072"/>
            <a:ext cx="356616" cy="356616"/>
          </a:xfrm>
          <a:prstGeom prst="rect">
            <a:avLst/>
          </a:prstGeom>
        </p:spPr>
      </p:pic>
      <p:sp>
        <p:nvSpPr>
          <p:cNvPr id="7" name="Text 4"/>
          <p:cNvSpPr/>
          <p:nvPr/>
        </p:nvSpPr>
        <p:spPr>
          <a:xfrm>
            <a:off x="1691640" y="1490472"/>
            <a:ext cx="1371600" cy="365760"/>
          </a:xfrm>
          <a:prstGeom prst="rect">
            <a:avLst/>
          </a:prstGeom>
          <a:noFill/>
          <a:ln/>
        </p:spPr>
        <p:txBody>
          <a:bodyPr wrap="square" rtlCol="0" anchor="ctr"/>
          <a:lstStyle/>
          <a:p>
            <a:pPr indent="0" marL="0">
              <a:buNone/>
            </a:pPr>
            <a:r>
              <a:rPr lang="en-US" sz="2000" b="1" dirty="0">
                <a:solidFill>
                  <a:srgbClr val="E76F51"/>
                </a:solidFill>
                <a:latin typeface="Cambria" pitchFamily="34" charset="0"/>
                <a:ea typeface="Cambria" pitchFamily="34" charset="-122"/>
                <a:cs typeface="Cambria" pitchFamily="34" charset="-120"/>
              </a:rPr>
              <a:t>C1</a:t>
            </a:r>
            <a:endParaRPr lang="en-US" sz="2000" dirty="0"/>
          </a:p>
        </p:txBody>
      </p:sp>
      <p:sp>
        <p:nvSpPr>
          <p:cNvPr id="8" name="Text 5"/>
          <p:cNvSpPr/>
          <p:nvPr/>
        </p:nvSpPr>
        <p:spPr>
          <a:xfrm>
            <a:off x="1691640" y="1856232"/>
            <a:ext cx="3977640" cy="1188720"/>
          </a:xfrm>
          <a:prstGeom prst="rect">
            <a:avLst/>
          </a:prstGeom>
          <a:noFill/>
          <a:ln/>
        </p:spPr>
        <p:txBody>
          <a:bodyPr wrap="square" rtlCol="0" anchor="t"/>
          <a:lstStyle/>
          <a:p>
            <a:pPr indent="0" marL="0">
              <a:lnSpc>
                <a:spcPct val="118000"/>
              </a:lnSpc>
              <a:buNone/>
            </a:pPr>
            <a:r>
              <a:rPr lang="en-US" sz="1250" dirty="0">
                <a:solidFill>
                  <a:srgbClr val="22333B"/>
                </a:solidFill>
                <a:latin typeface="Calibri" pitchFamily="34" charset="0"/>
                <a:ea typeface="Calibri" pitchFamily="34" charset="-122"/>
                <a:cs typeface="Calibri" pitchFamily="34" charset="-120"/>
              </a:rPr>
              <a:t>Realizar pruebas de certificación de productos y procesos, utilizando buenas prácticas definidas por la industria.</a:t>
            </a:r>
            <a:endParaRPr lang="en-US" sz="1250" dirty="0"/>
          </a:p>
        </p:txBody>
      </p:sp>
      <p:sp>
        <p:nvSpPr>
          <p:cNvPr id="9" name="Shape 6"/>
          <p:cNvSpPr/>
          <p:nvPr/>
        </p:nvSpPr>
        <p:spPr>
          <a:xfrm>
            <a:off x="6263640" y="1234440"/>
            <a:ext cx="5394960" cy="2011680"/>
          </a:xfrm>
          <a:prstGeom prst="roundRect">
            <a:avLst>
              <a:gd name="adj" fmla="val 4545"/>
            </a:avLst>
          </a:prstGeom>
          <a:solidFill>
            <a:srgbClr val="FFFFFF"/>
          </a:solidFill>
          <a:ln/>
          <a:effectLst>
            <a:outerShdw sx="100000" sy="100000" kx="0" ky="0" algn="bl" rotWithShape="0" blurRad="101600" dist="38100" dir="5400000">
              <a:srgbClr val="1B2A38">
                <a:alpha val="18000"/>
              </a:srgbClr>
            </a:outerShdw>
          </a:effectLst>
        </p:spPr>
      </p:sp>
      <p:sp>
        <p:nvSpPr>
          <p:cNvPr id="10" name="Shape 7"/>
          <p:cNvSpPr/>
          <p:nvPr/>
        </p:nvSpPr>
        <p:spPr>
          <a:xfrm>
            <a:off x="6537960" y="1554480"/>
            <a:ext cx="685800" cy="685800"/>
          </a:xfrm>
          <a:prstGeom prst="ellipse">
            <a:avLst/>
          </a:prstGeom>
          <a:solidFill>
            <a:srgbClr val="1C7293"/>
          </a:solidFill>
          <a:ln/>
        </p:spPr>
      </p:sp>
      <p:pic>
        <p:nvPicPr>
          <p:cNvPr id="11" name="Image 1" descr="/home/claude/proyecto_apt/icons/project.png">    </p:cNvPr>
          <p:cNvPicPr>
            <a:picLocks noChangeAspect="1"/>
          </p:cNvPicPr>
          <p:nvPr/>
        </p:nvPicPr>
        <p:blipFill>
          <a:blip r:embed="rId2"/>
          <a:stretch>
            <a:fillRect/>
          </a:stretch>
        </p:blipFill>
        <p:spPr>
          <a:xfrm>
            <a:off x="6702552" y="1719072"/>
            <a:ext cx="356616" cy="356616"/>
          </a:xfrm>
          <a:prstGeom prst="rect">
            <a:avLst/>
          </a:prstGeom>
        </p:spPr>
      </p:pic>
      <p:sp>
        <p:nvSpPr>
          <p:cNvPr id="12" name="Text 8"/>
          <p:cNvSpPr/>
          <p:nvPr/>
        </p:nvSpPr>
        <p:spPr>
          <a:xfrm>
            <a:off x="7406640" y="1490472"/>
            <a:ext cx="1371600" cy="365760"/>
          </a:xfrm>
          <a:prstGeom prst="rect">
            <a:avLst/>
          </a:prstGeom>
          <a:noFill/>
          <a:ln/>
        </p:spPr>
        <p:txBody>
          <a:bodyPr wrap="square" rtlCol="0" anchor="ctr"/>
          <a:lstStyle/>
          <a:p>
            <a:pPr indent="0" marL="0">
              <a:buNone/>
            </a:pPr>
            <a:r>
              <a:rPr lang="en-US" sz="2000" b="1" dirty="0">
                <a:solidFill>
                  <a:srgbClr val="E76F51"/>
                </a:solidFill>
                <a:latin typeface="Cambria" pitchFamily="34" charset="0"/>
                <a:ea typeface="Cambria" pitchFamily="34" charset="-122"/>
                <a:cs typeface="Cambria" pitchFamily="34" charset="-120"/>
              </a:rPr>
              <a:t>C2</a:t>
            </a:r>
            <a:endParaRPr lang="en-US" sz="2000" dirty="0"/>
          </a:p>
        </p:txBody>
      </p:sp>
      <p:sp>
        <p:nvSpPr>
          <p:cNvPr id="13" name="Text 9"/>
          <p:cNvSpPr/>
          <p:nvPr/>
        </p:nvSpPr>
        <p:spPr>
          <a:xfrm>
            <a:off x="7406640" y="1856232"/>
            <a:ext cx="3977640" cy="1188720"/>
          </a:xfrm>
          <a:prstGeom prst="rect">
            <a:avLst/>
          </a:prstGeom>
          <a:noFill/>
          <a:ln/>
        </p:spPr>
        <p:txBody>
          <a:bodyPr wrap="square" rtlCol="0" anchor="t"/>
          <a:lstStyle/>
          <a:p>
            <a:pPr indent="0" marL="0">
              <a:lnSpc>
                <a:spcPct val="118000"/>
              </a:lnSpc>
              <a:buNone/>
            </a:pPr>
            <a:r>
              <a:rPr lang="en-US" sz="1250" dirty="0">
                <a:solidFill>
                  <a:srgbClr val="22333B"/>
                </a:solidFill>
                <a:latin typeface="Calibri" pitchFamily="34" charset="0"/>
                <a:ea typeface="Calibri" pitchFamily="34" charset="-122"/>
                <a:cs typeface="Calibri" pitchFamily="34" charset="-120"/>
              </a:rPr>
              <a:t>Gestionar proyectos informáticos, ofreciendo alternativas para la toma de decisiones según los requerimientos de la organización.</a:t>
            </a:r>
            <a:endParaRPr lang="en-US" sz="1250" dirty="0"/>
          </a:p>
        </p:txBody>
      </p:sp>
      <p:sp>
        <p:nvSpPr>
          <p:cNvPr id="14" name="Shape 10"/>
          <p:cNvSpPr/>
          <p:nvPr/>
        </p:nvSpPr>
        <p:spPr>
          <a:xfrm>
            <a:off x="548640" y="3429000"/>
            <a:ext cx="5394960" cy="2011680"/>
          </a:xfrm>
          <a:prstGeom prst="roundRect">
            <a:avLst>
              <a:gd name="adj" fmla="val 4545"/>
            </a:avLst>
          </a:prstGeom>
          <a:solidFill>
            <a:srgbClr val="FFFFFF"/>
          </a:solidFill>
          <a:ln/>
          <a:effectLst>
            <a:outerShdw sx="100000" sy="100000" kx="0" ky="0" algn="bl" rotWithShape="0" blurRad="101600" dist="38100" dir="5400000">
              <a:srgbClr val="1B2A38">
                <a:alpha val="18000"/>
              </a:srgbClr>
            </a:outerShdw>
          </a:effectLst>
        </p:spPr>
      </p:sp>
      <p:sp>
        <p:nvSpPr>
          <p:cNvPr id="15" name="Shape 11"/>
          <p:cNvSpPr/>
          <p:nvPr/>
        </p:nvSpPr>
        <p:spPr>
          <a:xfrm>
            <a:off x="822960" y="3749040"/>
            <a:ext cx="685800" cy="685800"/>
          </a:xfrm>
          <a:prstGeom prst="ellipse">
            <a:avLst/>
          </a:prstGeom>
          <a:solidFill>
            <a:srgbClr val="0B3C5D"/>
          </a:solidFill>
          <a:ln/>
        </p:spPr>
      </p:sp>
      <p:pic>
        <p:nvPicPr>
          <p:cNvPr id="16" name="Image 2" descr="/home/claude/proyecto_apt/icons/database.png">    </p:cNvPr>
          <p:cNvPicPr>
            <a:picLocks noChangeAspect="1"/>
          </p:cNvPicPr>
          <p:nvPr/>
        </p:nvPicPr>
        <p:blipFill>
          <a:blip r:embed="rId3"/>
          <a:stretch>
            <a:fillRect/>
          </a:stretch>
        </p:blipFill>
        <p:spPr>
          <a:xfrm>
            <a:off x="987552" y="3913632"/>
            <a:ext cx="356616" cy="356616"/>
          </a:xfrm>
          <a:prstGeom prst="rect">
            <a:avLst/>
          </a:prstGeom>
        </p:spPr>
      </p:pic>
      <p:sp>
        <p:nvSpPr>
          <p:cNvPr id="17" name="Text 12"/>
          <p:cNvSpPr/>
          <p:nvPr/>
        </p:nvSpPr>
        <p:spPr>
          <a:xfrm>
            <a:off x="1691640" y="3685032"/>
            <a:ext cx="1371600" cy="365760"/>
          </a:xfrm>
          <a:prstGeom prst="rect">
            <a:avLst/>
          </a:prstGeom>
          <a:noFill/>
          <a:ln/>
        </p:spPr>
        <p:txBody>
          <a:bodyPr wrap="square" rtlCol="0" anchor="ctr"/>
          <a:lstStyle/>
          <a:p>
            <a:pPr indent="0" marL="0">
              <a:buNone/>
            </a:pPr>
            <a:r>
              <a:rPr lang="en-US" sz="2000" b="1" dirty="0">
                <a:solidFill>
                  <a:srgbClr val="E76F51"/>
                </a:solidFill>
                <a:latin typeface="Cambria" pitchFamily="34" charset="0"/>
                <a:ea typeface="Cambria" pitchFamily="34" charset="-122"/>
                <a:cs typeface="Cambria" pitchFamily="34" charset="-120"/>
              </a:rPr>
              <a:t>C3</a:t>
            </a:r>
            <a:endParaRPr lang="en-US" sz="2000" dirty="0"/>
          </a:p>
        </p:txBody>
      </p:sp>
      <p:sp>
        <p:nvSpPr>
          <p:cNvPr id="18" name="Text 13"/>
          <p:cNvSpPr/>
          <p:nvPr/>
        </p:nvSpPr>
        <p:spPr>
          <a:xfrm>
            <a:off x="1691640" y="4050792"/>
            <a:ext cx="3977640" cy="1188720"/>
          </a:xfrm>
          <a:prstGeom prst="rect">
            <a:avLst/>
          </a:prstGeom>
          <a:noFill/>
          <a:ln/>
        </p:spPr>
        <p:txBody>
          <a:bodyPr wrap="square" rtlCol="0" anchor="t"/>
          <a:lstStyle/>
          <a:p>
            <a:pPr indent="0" marL="0">
              <a:lnSpc>
                <a:spcPct val="118000"/>
              </a:lnSpc>
              <a:buNone/>
            </a:pPr>
            <a:r>
              <a:rPr lang="en-US" sz="1250" dirty="0">
                <a:solidFill>
                  <a:srgbClr val="22333B"/>
                </a:solidFill>
                <a:latin typeface="Calibri" pitchFamily="34" charset="0"/>
                <a:ea typeface="Calibri" pitchFamily="34" charset="-122"/>
                <a:cs typeface="Calibri" pitchFamily="34" charset="-120"/>
              </a:rPr>
              <a:t>Construir modelos de datos que soporten los requerimientos de la organización, con un diseño escalable en el tiempo.</a:t>
            </a:r>
            <a:endParaRPr lang="en-US" sz="1250" dirty="0"/>
          </a:p>
        </p:txBody>
      </p:sp>
      <p:sp>
        <p:nvSpPr>
          <p:cNvPr id="19" name="Shape 14"/>
          <p:cNvSpPr/>
          <p:nvPr/>
        </p:nvSpPr>
        <p:spPr>
          <a:xfrm>
            <a:off x="6263640" y="3429000"/>
            <a:ext cx="5394960" cy="2011680"/>
          </a:xfrm>
          <a:prstGeom prst="roundRect">
            <a:avLst>
              <a:gd name="adj" fmla="val 4545"/>
            </a:avLst>
          </a:prstGeom>
          <a:solidFill>
            <a:srgbClr val="FFFFFF"/>
          </a:solidFill>
          <a:ln/>
          <a:effectLst>
            <a:outerShdw sx="100000" sy="100000" kx="0" ky="0" algn="bl" rotWithShape="0" blurRad="101600" dist="38100" dir="5400000">
              <a:srgbClr val="1B2A38">
                <a:alpha val="18000"/>
              </a:srgbClr>
            </a:outerShdw>
          </a:effectLst>
        </p:spPr>
      </p:sp>
      <p:sp>
        <p:nvSpPr>
          <p:cNvPr id="20" name="Shape 15"/>
          <p:cNvSpPr/>
          <p:nvPr/>
        </p:nvSpPr>
        <p:spPr>
          <a:xfrm>
            <a:off x="6537960" y="3749040"/>
            <a:ext cx="685800" cy="685800"/>
          </a:xfrm>
          <a:prstGeom prst="ellipse">
            <a:avLst/>
          </a:prstGeom>
          <a:solidFill>
            <a:srgbClr val="1C7293"/>
          </a:solidFill>
          <a:ln/>
        </p:spPr>
      </p:sp>
      <p:pic>
        <p:nvPicPr>
          <p:cNvPr id="21" name="Image 3" descr="/home/claude/proyecto_apt/icons/laptopcode.png">    </p:cNvPr>
          <p:cNvPicPr>
            <a:picLocks noChangeAspect="1"/>
          </p:cNvPicPr>
          <p:nvPr/>
        </p:nvPicPr>
        <p:blipFill>
          <a:blip r:embed="rId4"/>
          <a:stretch>
            <a:fillRect/>
          </a:stretch>
        </p:blipFill>
        <p:spPr>
          <a:xfrm>
            <a:off x="6702552" y="3913632"/>
            <a:ext cx="356616" cy="356616"/>
          </a:xfrm>
          <a:prstGeom prst="rect">
            <a:avLst/>
          </a:prstGeom>
        </p:spPr>
      </p:pic>
      <p:sp>
        <p:nvSpPr>
          <p:cNvPr id="22" name="Text 16"/>
          <p:cNvSpPr/>
          <p:nvPr/>
        </p:nvSpPr>
        <p:spPr>
          <a:xfrm>
            <a:off x="7406640" y="3685032"/>
            <a:ext cx="1371600" cy="365760"/>
          </a:xfrm>
          <a:prstGeom prst="rect">
            <a:avLst/>
          </a:prstGeom>
          <a:noFill/>
          <a:ln/>
        </p:spPr>
        <p:txBody>
          <a:bodyPr wrap="square" rtlCol="0" anchor="ctr"/>
          <a:lstStyle/>
          <a:p>
            <a:pPr indent="0" marL="0">
              <a:buNone/>
            </a:pPr>
            <a:r>
              <a:rPr lang="en-US" sz="2000" b="1" dirty="0">
                <a:solidFill>
                  <a:srgbClr val="E76F51"/>
                </a:solidFill>
                <a:latin typeface="Cambria" pitchFamily="34" charset="0"/>
                <a:ea typeface="Cambria" pitchFamily="34" charset="-122"/>
                <a:cs typeface="Cambria" pitchFamily="34" charset="-120"/>
              </a:rPr>
              <a:t>C4</a:t>
            </a:r>
            <a:endParaRPr lang="en-US" sz="2000" dirty="0"/>
          </a:p>
        </p:txBody>
      </p:sp>
      <p:sp>
        <p:nvSpPr>
          <p:cNvPr id="23" name="Text 17"/>
          <p:cNvSpPr/>
          <p:nvPr/>
        </p:nvSpPr>
        <p:spPr>
          <a:xfrm>
            <a:off x="7406640" y="4050792"/>
            <a:ext cx="3977640" cy="1188720"/>
          </a:xfrm>
          <a:prstGeom prst="rect">
            <a:avLst/>
          </a:prstGeom>
          <a:noFill/>
          <a:ln/>
        </p:spPr>
        <p:txBody>
          <a:bodyPr wrap="square" rtlCol="0" anchor="t"/>
          <a:lstStyle/>
          <a:p>
            <a:pPr indent="0" marL="0">
              <a:lnSpc>
                <a:spcPct val="118000"/>
              </a:lnSpc>
              <a:buNone/>
            </a:pPr>
            <a:r>
              <a:rPr lang="en-US" sz="1250" dirty="0">
                <a:solidFill>
                  <a:srgbClr val="22333B"/>
                </a:solidFill>
                <a:latin typeface="Calibri" pitchFamily="34" charset="0"/>
                <a:ea typeface="Calibri" pitchFamily="34" charset="-122"/>
                <a:cs typeface="Calibri" pitchFamily="34" charset="-120"/>
              </a:rPr>
              <a:t>Desarrollar una solución de software sistematizando el proceso de desarrollo y mantenimiento, asegurando el logro de los objetivos.</a:t>
            </a:r>
            <a:endParaRPr lang="en-US" sz="1250" dirty="0"/>
          </a:p>
        </p:txBody>
      </p:sp>
      <p:sp>
        <p:nvSpPr>
          <p:cNvPr id="24" name="Text 18"/>
          <p:cNvSpPr/>
          <p:nvPr/>
        </p:nvSpPr>
        <p:spPr>
          <a:xfrm>
            <a:off x="548640" y="5596128"/>
            <a:ext cx="5486400" cy="292608"/>
          </a:xfrm>
          <a:prstGeom prst="rect">
            <a:avLst/>
          </a:prstGeom>
          <a:noFill/>
          <a:ln/>
        </p:spPr>
        <p:txBody>
          <a:bodyPr wrap="square" rtlCol="0" anchor="ctr"/>
          <a:lstStyle/>
          <a:p>
            <a:pPr indent="0" marL="0">
              <a:buNone/>
            </a:pPr>
            <a:r>
              <a:rPr lang="en-US" sz="1200" b="1" dirty="0">
                <a:solidFill>
                  <a:srgbClr val="0B3C5D"/>
                </a:solidFill>
                <a:latin typeface="Calibri" pitchFamily="34" charset="0"/>
                <a:ea typeface="Calibri" pitchFamily="34" charset="-122"/>
                <a:cs typeface="Calibri" pitchFamily="34" charset="-120"/>
              </a:rPr>
              <a:t>Áreas de desempeño vinculadas:</a:t>
            </a:r>
            <a:endParaRPr lang="en-US" sz="1200" dirty="0"/>
          </a:p>
        </p:txBody>
      </p:sp>
      <p:sp>
        <p:nvSpPr>
          <p:cNvPr id="25" name="Shape 19"/>
          <p:cNvSpPr/>
          <p:nvPr/>
        </p:nvSpPr>
        <p:spPr>
          <a:xfrm>
            <a:off x="548640" y="5943600"/>
            <a:ext cx="2651760" cy="384048"/>
          </a:xfrm>
          <a:prstGeom prst="roundRect">
            <a:avLst>
              <a:gd name="adj" fmla="val 50000"/>
            </a:avLst>
          </a:prstGeom>
          <a:solidFill>
            <a:srgbClr val="E4EFF1"/>
          </a:solidFill>
          <a:ln w="9525">
            <a:solidFill>
              <a:srgbClr val="1C7293"/>
            </a:solidFill>
            <a:prstDash val="solid"/>
          </a:ln>
        </p:spPr>
      </p:sp>
      <p:sp>
        <p:nvSpPr>
          <p:cNvPr id="26" name="Text 20"/>
          <p:cNvSpPr/>
          <p:nvPr/>
        </p:nvSpPr>
        <p:spPr>
          <a:xfrm>
            <a:off x="548640" y="5943600"/>
            <a:ext cx="2651760" cy="384048"/>
          </a:xfrm>
          <a:prstGeom prst="rect">
            <a:avLst/>
          </a:prstGeom>
          <a:noFill/>
          <a:ln/>
        </p:spPr>
        <p:txBody>
          <a:bodyPr wrap="square" rtlCol="0" anchor="ctr"/>
          <a:lstStyle/>
          <a:p>
            <a:pPr algn="ctr" indent="0" marL="0">
              <a:buNone/>
            </a:pPr>
            <a:r>
              <a:rPr lang="en-US" sz="1100" b="1" dirty="0">
                <a:solidFill>
                  <a:srgbClr val="0B3C5D"/>
                </a:solidFill>
                <a:latin typeface="Calibri" pitchFamily="34" charset="0"/>
                <a:ea typeface="Calibri" pitchFamily="34" charset="-122"/>
                <a:cs typeface="Calibri" pitchFamily="34" charset="-120"/>
              </a:rPr>
              <a:t>Desarrollo Full Stack</a:t>
            </a:r>
            <a:endParaRPr lang="en-US" sz="1100" dirty="0"/>
          </a:p>
        </p:txBody>
      </p:sp>
      <p:sp>
        <p:nvSpPr>
          <p:cNvPr id="27" name="Shape 21"/>
          <p:cNvSpPr/>
          <p:nvPr/>
        </p:nvSpPr>
        <p:spPr>
          <a:xfrm>
            <a:off x="3337560" y="5943600"/>
            <a:ext cx="2651760" cy="384048"/>
          </a:xfrm>
          <a:prstGeom prst="roundRect">
            <a:avLst>
              <a:gd name="adj" fmla="val 50000"/>
            </a:avLst>
          </a:prstGeom>
          <a:solidFill>
            <a:srgbClr val="E4EFF1"/>
          </a:solidFill>
          <a:ln w="9525">
            <a:solidFill>
              <a:srgbClr val="1C7293"/>
            </a:solidFill>
            <a:prstDash val="solid"/>
          </a:ln>
        </p:spPr>
      </p:sp>
      <p:sp>
        <p:nvSpPr>
          <p:cNvPr id="28" name="Text 22"/>
          <p:cNvSpPr/>
          <p:nvPr/>
        </p:nvSpPr>
        <p:spPr>
          <a:xfrm>
            <a:off x="3337560" y="5943600"/>
            <a:ext cx="2651760" cy="384048"/>
          </a:xfrm>
          <a:prstGeom prst="rect">
            <a:avLst/>
          </a:prstGeom>
          <a:noFill/>
          <a:ln/>
        </p:spPr>
        <p:txBody>
          <a:bodyPr wrap="square" rtlCol="0" anchor="ctr"/>
          <a:lstStyle/>
          <a:p>
            <a:pPr algn="ctr" indent="0" marL="0">
              <a:buNone/>
            </a:pPr>
            <a:r>
              <a:rPr lang="en-US" sz="1100" b="1" dirty="0">
                <a:solidFill>
                  <a:srgbClr val="0B3C5D"/>
                </a:solidFill>
                <a:latin typeface="Calibri" pitchFamily="34" charset="0"/>
                <a:ea typeface="Calibri" pitchFamily="34" charset="-122"/>
                <a:cs typeface="Calibri" pitchFamily="34" charset="-120"/>
              </a:rPr>
              <a:t>Ingeniería de Requisitos</a:t>
            </a:r>
            <a:endParaRPr lang="en-US" sz="1100" dirty="0"/>
          </a:p>
        </p:txBody>
      </p:sp>
      <p:sp>
        <p:nvSpPr>
          <p:cNvPr id="29" name="Shape 23"/>
          <p:cNvSpPr/>
          <p:nvPr/>
        </p:nvSpPr>
        <p:spPr>
          <a:xfrm>
            <a:off x="6126480" y="5943600"/>
            <a:ext cx="2651760" cy="384048"/>
          </a:xfrm>
          <a:prstGeom prst="roundRect">
            <a:avLst>
              <a:gd name="adj" fmla="val 50000"/>
            </a:avLst>
          </a:prstGeom>
          <a:solidFill>
            <a:srgbClr val="E4EFF1"/>
          </a:solidFill>
          <a:ln w="9525">
            <a:solidFill>
              <a:srgbClr val="1C7293"/>
            </a:solidFill>
            <a:prstDash val="solid"/>
          </a:ln>
        </p:spPr>
      </p:sp>
      <p:sp>
        <p:nvSpPr>
          <p:cNvPr id="30" name="Text 24"/>
          <p:cNvSpPr/>
          <p:nvPr/>
        </p:nvSpPr>
        <p:spPr>
          <a:xfrm>
            <a:off x="6126480" y="5943600"/>
            <a:ext cx="2651760" cy="384048"/>
          </a:xfrm>
          <a:prstGeom prst="rect">
            <a:avLst/>
          </a:prstGeom>
          <a:noFill/>
          <a:ln/>
        </p:spPr>
        <p:txBody>
          <a:bodyPr wrap="square" rtlCol="0" anchor="ctr"/>
          <a:lstStyle/>
          <a:p>
            <a:pPr algn="ctr" indent="0" marL="0">
              <a:buNone/>
            </a:pPr>
            <a:r>
              <a:rPr lang="en-US" sz="1100" b="1" dirty="0">
                <a:solidFill>
                  <a:srgbClr val="0B3C5D"/>
                </a:solidFill>
                <a:latin typeface="Calibri" pitchFamily="34" charset="0"/>
                <a:ea typeface="Calibri" pitchFamily="34" charset="-122"/>
                <a:cs typeface="Calibri" pitchFamily="34" charset="-120"/>
              </a:rPr>
              <a:t>Bases de Datos</a:t>
            </a:r>
            <a:endParaRPr lang="en-US" sz="1100" dirty="0"/>
          </a:p>
        </p:txBody>
      </p:sp>
      <p:sp>
        <p:nvSpPr>
          <p:cNvPr id="31" name="Shape 25"/>
          <p:cNvSpPr/>
          <p:nvPr/>
        </p:nvSpPr>
        <p:spPr>
          <a:xfrm>
            <a:off x="8915400" y="5943600"/>
            <a:ext cx="2651760" cy="384048"/>
          </a:xfrm>
          <a:prstGeom prst="roundRect">
            <a:avLst>
              <a:gd name="adj" fmla="val 50000"/>
            </a:avLst>
          </a:prstGeom>
          <a:solidFill>
            <a:srgbClr val="E4EFF1"/>
          </a:solidFill>
          <a:ln w="9525">
            <a:solidFill>
              <a:srgbClr val="1C7293"/>
            </a:solidFill>
            <a:prstDash val="solid"/>
          </a:ln>
        </p:spPr>
      </p:sp>
      <p:sp>
        <p:nvSpPr>
          <p:cNvPr id="32" name="Text 26"/>
          <p:cNvSpPr/>
          <p:nvPr/>
        </p:nvSpPr>
        <p:spPr>
          <a:xfrm>
            <a:off x="8915400" y="5943600"/>
            <a:ext cx="2651760" cy="384048"/>
          </a:xfrm>
          <a:prstGeom prst="rect">
            <a:avLst/>
          </a:prstGeom>
          <a:noFill/>
          <a:ln/>
        </p:spPr>
        <p:txBody>
          <a:bodyPr wrap="square" rtlCol="0" anchor="ctr"/>
          <a:lstStyle/>
          <a:p>
            <a:pPr algn="ctr" indent="0" marL="0">
              <a:buNone/>
            </a:pPr>
            <a:r>
              <a:rPr lang="en-US" sz="1100" b="1" dirty="0">
                <a:solidFill>
                  <a:srgbClr val="0B3C5D"/>
                </a:solidFill>
                <a:latin typeface="Calibri" pitchFamily="34" charset="0"/>
                <a:ea typeface="Calibri" pitchFamily="34" charset="-122"/>
                <a:cs typeface="Calibri" pitchFamily="34" charset="-120"/>
              </a:rPr>
              <a:t>Calidad de Software</a:t>
            </a:r>
            <a:endParaRPr lang="en-US" sz="1100" dirty="0"/>
          </a:p>
        </p:txBody>
      </p:sp>
      <p:sp>
        <p:nvSpPr>
          <p:cNvPr id="33" name="Text 27"/>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34" name="Text 28"/>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4. FACTIBILIDAD</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¿Por qué es factible desarrollarlo en el semestre?</a:t>
            </a:r>
            <a:endParaRPr lang="en-US" sz="3000" dirty="0"/>
          </a:p>
        </p:txBody>
      </p:sp>
      <p:sp>
        <p:nvSpPr>
          <p:cNvPr id="4" name="Shape 2"/>
          <p:cNvSpPr/>
          <p:nvPr/>
        </p:nvSpPr>
        <p:spPr>
          <a:xfrm>
            <a:off x="548640" y="1234440"/>
            <a:ext cx="5394960" cy="2148840"/>
          </a:xfrm>
          <a:prstGeom prst="roundRect">
            <a:avLst>
              <a:gd name="adj" fmla="val 4255"/>
            </a:avLst>
          </a:prstGeom>
          <a:solidFill>
            <a:srgbClr val="FFFFFF"/>
          </a:solidFill>
          <a:ln/>
          <a:effectLst>
            <a:outerShdw sx="100000" sy="100000" kx="0" ky="0" algn="bl" rotWithShape="0" blurRad="101600" dist="38100" dir="5400000">
              <a:srgbClr val="1B2A38">
                <a:alpha val="18000"/>
              </a:srgbClr>
            </a:outerShdw>
          </a:effectLst>
        </p:spPr>
      </p:sp>
      <p:sp>
        <p:nvSpPr>
          <p:cNvPr id="5" name="Shape 3"/>
          <p:cNvSpPr/>
          <p:nvPr/>
        </p:nvSpPr>
        <p:spPr>
          <a:xfrm>
            <a:off x="804672" y="1490472"/>
            <a:ext cx="566928" cy="566928"/>
          </a:xfrm>
          <a:prstGeom prst="ellipse">
            <a:avLst/>
          </a:prstGeom>
          <a:solidFill>
            <a:srgbClr val="0B3C5D"/>
          </a:solidFill>
          <a:ln/>
        </p:spPr>
      </p:sp>
      <p:pic>
        <p:nvPicPr>
          <p:cNvPr id="6" name="Image 0" descr="/home/claude/proyecto_apt/icons/clock.png">    </p:cNvPr>
          <p:cNvPicPr>
            <a:picLocks noChangeAspect="1"/>
          </p:cNvPicPr>
          <p:nvPr/>
        </p:nvPicPr>
        <p:blipFill>
          <a:blip r:embed="rId1"/>
          <a:stretch>
            <a:fillRect/>
          </a:stretch>
        </p:blipFill>
        <p:spPr>
          <a:xfrm>
            <a:off x="940735" y="1626535"/>
            <a:ext cx="294803" cy="294803"/>
          </a:xfrm>
          <a:prstGeom prst="rect">
            <a:avLst/>
          </a:prstGeom>
        </p:spPr>
      </p:pic>
      <p:sp>
        <p:nvSpPr>
          <p:cNvPr id="7" name="Text 4"/>
          <p:cNvSpPr/>
          <p:nvPr/>
        </p:nvSpPr>
        <p:spPr>
          <a:xfrm>
            <a:off x="1554480" y="1508760"/>
            <a:ext cx="4114800" cy="365760"/>
          </a:xfrm>
          <a:prstGeom prst="rect">
            <a:avLst/>
          </a:prstGeom>
          <a:noFill/>
          <a:ln/>
        </p:spPr>
        <p:txBody>
          <a:bodyPr wrap="square" rtlCol="0" anchor="ctr"/>
          <a:lstStyle/>
          <a:p>
            <a:pPr indent="0" marL="0">
              <a:buNone/>
            </a:pPr>
            <a:r>
              <a:rPr lang="en-US" sz="1500" b="1" dirty="0">
                <a:solidFill>
                  <a:srgbClr val="0B3C5D"/>
                </a:solidFill>
                <a:latin typeface="Cambria" pitchFamily="34" charset="0"/>
                <a:ea typeface="Cambria" pitchFamily="34" charset="-122"/>
                <a:cs typeface="Cambria" pitchFamily="34" charset="-120"/>
              </a:rPr>
              <a:t>Tiempo</a:t>
            </a:r>
            <a:endParaRPr lang="en-US" sz="1500" dirty="0"/>
          </a:p>
        </p:txBody>
      </p:sp>
      <p:sp>
        <p:nvSpPr>
          <p:cNvPr id="8" name="Text 5"/>
          <p:cNvSpPr/>
          <p:nvPr/>
        </p:nvSpPr>
        <p:spPr>
          <a:xfrm>
            <a:off x="822960" y="2103120"/>
            <a:ext cx="4846320" cy="1051560"/>
          </a:xfrm>
          <a:prstGeom prst="rect">
            <a:avLst/>
          </a:prstGeom>
          <a:noFill/>
          <a:ln/>
        </p:spPr>
        <p:txBody>
          <a:bodyPr wrap="square" rtlCol="0" anchor="t"/>
          <a:lstStyle/>
          <a:p>
            <a:pPr indent="0" marL="0">
              <a:lnSpc>
                <a:spcPct val="118000"/>
              </a:lnSpc>
              <a:buNone/>
            </a:pPr>
            <a:r>
              <a:rPr lang="en-US" sz="1200" dirty="0">
                <a:solidFill>
                  <a:srgbClr val="22333B"/>
                </a:solidFill>
                <a:latin typeface="Calibri" pitchFamily="34" charset="0"/>
                <a:ea typeface="Calibri" pitchFamily="34" charset="-122"/>
                <a:cs typeface="Calibri" pitchFamily="34" charset="-120"/>
              </a:rPr>
              <a:t>El semestre se extiende del 10 de agosto al 23 de noviembre de 2026, con clases los lunes de 8:30 a 12:10, lo que entrega el tiempo necesario de trabajo guiado y autónomo.</a:t>
            </a:r>
            <a:endParaRPr lang="en-US" sz="1200" dirty="0"/>
          </a:p>
        </p:txBody>
      </p:sp>
      <p:sp>
        <p:nvSpPr>
          <p:cNvPr id="9" name="Shape 6"/>
          <p:cNvSpPr/>
          <p:nvPr/>
        </p:nvSpPr>
        <p:spPr>
          <a:xfrm>
            <a:off x="6263640" y="1234440"/>
            <a:ext cx="5394960" cy="2148840"/>
          </a:xfrm>
          <a:prstGeom prst="roundRect">
            <a:avLst>
              <a:gd name="adj" fmla="val 4255"/>
            </a:avLst>
          </a:prstGeom>
          <a:solidFill>
            <a:srgbClr val="FFFFFF"/>
          </a:solidFill>
          <a:ln/>
          <a:effectLst>
            <a:outerShdw sx="100000" sy="100000" kx="0" ky="0" algn="bl" rotWithShape="0" blurRad="101600" dist="38100" dir="5400000">
              <a:srgbClr val="1B2A38">
                <a:alpha val="18000"/>
              </a:srgbClr>
            </a:outerShdw>
          </a:effectLst>
        </p:spPr>
      </p:sp>
      <p:sp>
        <p:nvSpPr>
          <p:cNvPr id="10" name="Shape 7"/>
          <p:cNvSpPr/>
          <p:nvPr/>
        </p:nvSpPr>
        <p:spPr>
          <a:xfrm>
            <a:off x="6519672" y="1490472"/>
            <a:ext cx="566928" cy="566928"/>
          </a:xfrm>
          <a:prstGeom prst="ellipse">
            <a:avLst/>
          </a:prstGeom>
          <a:solidFill>
            <a:srgbClr val="1C7293"/>
          </a:solidFill>
          <a:ln/>
        </p:spPr>
      </p:sp>
      <p:pic>
        <p:nvPicPr>
          <p:cNvPr id="11" name="Image 1" descr="/home/claude/proyecto_apt/icons/toolbox.png">    </p:cNvPr>
          <p:cNvPicPr>
            <a:picLocks noChangeAspect="1"/>
          </p:cNvPicPr>
          <p:nvPr/>
        </p:nvPicPr>
        <p:blipFill>
          <a:blip r:embed="rId2"/>
          <a:stretch>
            <a:fillRect/>
          </a:stretch>
        </p:blipFill>
        <p:spPr>
          <a:xfrm>
            <a:off x="6655735" y="1626535"/>
            <a:ext cx="294803" cy="294803"/>
          </a:xfrm>
          <a:prstGeom prst="rect">
            <a:avLst/>
          </a:prstGeom>
        </p:spPr>
      </p:pic>
      <p:sp>
        <p:nvSpPr>
          <p:cNvPr id="12" name="Text 8"/>
          <p:cNvSpPr/>
          <p:nvPr/>
        </p:nvSpPr>
        <p:spPr>
          <a:xfrm>
            <a:off x="7269480" y="1508760"/>
            <a:ext cx="4114800" cy="365760"/>
          </a:xfrm>
          <a:prstGeom prst="rect">
            <a:avLst/>
          </a:prstGeom>
          <a:noFill/>
          <a:ln/>
        </p:spPr>
        <p:txBody>
          <a:bodyPr wrap="square" rtlCol="0" anchor="ctr"/>
          <a:lstStyle/>
          <a:p>
            <a:pPr indent="0" marL="0">
              <a:buNone/>
            </a:pPr>
            <a:r>
              <a:rPr lang="en-US" sz="1500" b="1" dirty="0">
                <a:solidFill>
                  <a:srgbClr val="0B3C5D"/>
                </a:solidFill>
                <a:latin typeface="Cambria" pitchFamily="34" charset="0"/>
                <a:ea typeface="Cambria" pitchFamily="34" charset="-122"/>
                <a:cs typeface="Cambria" pitchFamily="34" charset="-120"/>
              </a:rPr>
              <a:t>Materiales</a:t>
            </a:r>
            <a:endParaRPr lang="en-US" sz="1500" dirty="0"/>
          </a:p>
        </p:txBody>
      </p:sp>
      <p:sp>
        <p:nvSpPr>
          <p:cNvPr id="13" name="Text 9"/>
          <p:cNvSpPr/>
          <p:nvPr/>
        </p:nvSpPr>
        <p:spPr>
          <a:xfrm>
            <a:off x="6537960" y="2103120"/>
            <a:ext cx="4846320" cy="1051560"/>
          </a:xfrm>
          <a:prstGeom prst="rect">
            <a:avLst/>
          </a:prstGeom>
          <a:noFill/>
          <a:ln/>
        </p:spPr>
        <p:txBody>
          <a:bodyPr wrap="square" rtlCol="0" anchor="t"/>
          <a:lstStyle/>
          <a:p>
            <a:pPr indent="0" marL="0">
              <a:lnSpc>
                <a:spcPct val="118000"/>
              </a:lnSpc>
              <a:buNone/>
            </a:pPr>
            <a:r>
              <a:rPr lang="en-US" sz="1200" dirty="0">
                <a:solidFill>
                  <a:srgbClr val="22333B"/>
                </a:solidFill>
                <a:latin typeface="Calibri" pitchFamily="34" charset="0"/>
                <a:ea typeface="Calibri" pitchFamily="34" charset="-122"/>
                <a:cs typeface="Calibri" pitchFamily="34" charset="-120"/>
              </a:rPr>
              <a:t>El equipo cuenta con computadores, editores de código, internet, periféricos y la retroalimentación constante del profesor guía.</a:t>
            </a:r>
            <a:endParaRPr lang="en-US" sz="1200" dirty="0"/>
          </a:p>
        </p:txBody>
      </p:sp>
      <p:sp>
        <p:nvSpPr>
          <p:cNvPr id="14" name="Shape 10"/>
          <p:cNvSpPr/>
          <p:nvPr/>
        </p:nvSpPr>
        <p:spPr>
          <a:xfrm>
            <a:off x="548640" y="3520440"/>
            <a:ext cx="5394960" cy="2148840"/>
          </a:xfrm>
          <a:prstGeom prst="roundRect">
            <a:avLst>
              <a:gd name="adj" fmla="val 4255"/>
            </a:avLst>
          </a:prstGeom>
          <a:solidFill>
            <a:srgbClr val="FFFFFF"/>
          </a:solidFill>
          <a:ln/>
          <a:effectLst>
            <a:outerShdw sx="100000" sy="100000" kx="0" ky="0" algn="bl" rotWithShape="0" blurRad="101600" dist="38100" dir="5400000">
              <a:srgbClr val="1B2A38">
                <a:alpha val="18000"/>
              </a:srgbClr>
            </a:outerShdw>
          </a:effectLst>
        </p:spPr>
      </p:sp>
      <p:sp>
        <p:nvSpPr>
          <p:cNvPr id="15" name="Shape 11"/>
          <p:cNvSpPr/>
          <p:nvPr/>
        </p:nvSpPr>
        <p:spPr>
          <a:xfrm>
            <a:off x="804672" y="3776472"/>
            <a:ext cx="566928" cy="566928"/>
          </a:xfrm>
          <a:prstGeom prst="ellipse">
            <a:avLst/>
          </a:prstGeom>
          <a:solidFill>
            <a:srgbClr val="0B3C5D"/>
          </a:solidFill>
          <a:ln/>
        </p:spPr>
      </p:sp>
      <p:pic>
        <p:nvPicPr>
          <p:cNvPr id="16" name="Image 2" descr="/home/claude/proyecto_apt/icons/thumbsup.png">    </p:cNvPr>
          <p:cNvPicPr>
            <a:picLocks noChangeAspect="1"/>
          </p:cNvPicPr>
          <p:nvPr/>
        </p:nvPicPr>
        <p:blipFill>
          <a:blip r:embed="rId3"/>
          <a:stretch>
            <a:fillRect/>
          </a:stretch>
        </p:blipFill>
        <p:spPr>
          <a:xfrm>
            <a:off x="940735" y="3912535"/>
            <a:ext cx="294803" cy="294803"/>
          </a:xfrm>
          <a:prstGeom prst="rect">
            <a:avLst/>
          </a:prstGeom>
        </p:spPr>
      </p:pic>
      <p:sp>
        <p:nvSpPr>
          <p:cNvPr id="17" name="Text 12"/>
          <p:cNvSpPr/>
          <p:nvPr/>
        </p:nvSpPr>
        <p:spPr>
          <a:xfrm>
            <a:off x="1554480" y="3794760"/>
            <a:ext cx="4114800" cy="365760"/>
          </a:xfrm>
          <a:prstGeom prst="rect">
            <a:avLst/>
          </a:prstGeom>
          <a:noFill/>
          <a:ln/>
        </p:spPr>
        <p:txBody>
          <a:bodyPr wrap="square" rtlCol="0" anchor="ctr"/>
          <a:lstStyle/>
          <a:p>
            <a:pPr indent="0" marL="0">
              <a:buNone/>
            </a:pPr>
            <a:r>
              <a:rPr lang="en-US" sz="1500" b="1" dirty="0">
                <a:solidFill>
                  <a:srgbClr val="0B3C5D"/>
                </a:solidFill>
                <a:latin typeface="Cambria" pitchFamily="34" charset="0"/>
                <a:ea typeface="Cambria" pitchFamily="34" charset="-122"/>
                <a:cs typeface="Cambria" pitchFamily="34" charset="-120"/>
              </a:rPr>
              <a:t>Factores facilitadores</a:t>
            </a:r>
            <a:endParaRPr lang="en-US" sz="1500" dirty="0"/>
          </a:p>
        </p:txBody>
      </p:sp>
      <p:sp>
        <p:nvSpPr>
          <p:cNvPr id="18" name="Text 13"/>
          <p:cNvSpPr/>
          <p:nvPr/>
        </p:nvSpPr>
        <p:spPr>
          <a:xfrm>
            <a:off x="822960" y="4389120"/>
            <a:ext cx="4846320" cy="1051560"/>
          </a:xfrm>
          <a:prstGeom prst="rect">
            <a:avLst/>
          </a:prstGeom>
          <a:noFill/>
          <a:ln/>
        </p:spPr>
        <p:txBody>
          <a:bodyPr wrap="square" rtlCol="0" anchor="t"/>
          <a:lstStyle/>
          <a:p>
            <a:pPr indent="0" marL="0">
              <a:lnSpc>
                <a:spcPct val="118000"/>
              </a:lnSpc>
              <a:buNone/>
            </a:pPr>
            <a:r>
              <a:rPr lang="en-US" sz="1200" dirty="0">
                <a:solidFill>
                  <a:srgbClr val="22333B"/>
                </a:solidFill>
                <a:latin typeface="Calibri" pitchFamily="34" charset="0"/>
                <a:ea typeface="Calibri" pitchFamily="34" charset="-122"/>
                <a:cs typeface="Calibri" pitchFamily="34" charset="-120"/>
              </a:rPr>
              <a:t>Los requerimientos claros entregados por el cliente y el apoyo de herramientas de IA optimizan y agilizan el proceso de desarrollo.</a:t>
            </a:r>
            <a:endParaRPr lang="en-US" sz="1200" dirty="0"/>
          </a:p>
        </p:txBody>
      </p:sp>
      <p:sp>
        <p:nvSpPr>
          <p:cNvPr id="19" name="Shape 14"/>
          <p:cNvSpPr/>
          <p:nvPr/>
        </p:nvSpPr>
        <p:spPr>
          <a:xfrm>
            <a:off x="6263640" y="3520440"/>
            <a:ext cx="5394960" cy="2148840"/>
          </a:xfrm>
          <a:prstGeom prst="roundRect">
            <a:avLst>
              <a:gd name="adj" fmla="val 4255"/>
            </a:avLst>
          </a:prstGeom>
          <a:solidFill>
            <a:srgbClr val="FFFFFF"/>
          </a:solidFill>
          <a:ln/>
          <a:effectLst>
            <a:outerShdw sx="100000" sy="100000" kx="0" ky="0" algn="bl" rotWithShape="0" blurRad="101600" dist="38100" dir="5400000">
              <a:srgbClr val="1B2A38">
                <a:alpha val="18000"/>
              </a:srgbClr>
            </a:outerShdw>
          </a:effectLst>
        </p:spPr>
      </p:sp>
      <p:sp>
        <p:nvSpPr>
          <p:cNvPr id="20" name="Shape 15"/>
          <p:cNvSpPr/>
          <p:nvPr/>
        </p:nvSpPr>
        <p:spPr>
          <a:xfrm>
            <a:off x="6519672" y="3776472"/>
            <a:ext cx="566928" cy="566928"/>
          </a:xfrm>
          <a:prstGeom prst="ellipse">
            <a:avLst/>
          </a:prstGeom>
          <a:solidFill>
            <a:srgbClr val="E76F51"/>
          </a:solidFill>
          <a:ln/>
        </p:spPr>
      </p:sp>
      <p:pic>
        <p:nvPicPr>
          <p:cNvPr id="21" name="Image 3" descr="/home/claude/proyecto_apt/icons/warning.png">    </p:cNvPr>
          <p:cNvPicPr>
            <a:picLocks noChangeAspect="1"/>
          </p:cNvPicPr>
          <p:nvPr/>
        </p:nvPicPr>
        <p:blipFill>
          <a:blip r:embed="rId4"/>
          <a:stretch>
            <a:fillRect/>
          </a:stretch>
        </p:blipFill>
        <p:spPr>
          <a:xfrm>
            <a:off x="6655735" y="3912535"/>
            <a:ext cx="294803" cy="294803"/>
          </a:xfrm>
          <a:prstGeom prst="rect">
            <a:avLst/>
          </a:prstGeom>
        </p:spPr>
      </p:pic>
      <p:sp>
        <p:nvSpPr>
          <p:cNvPr id="22" name="Text 16"/>
          <p:cNvSpPr/>
          <p:nvPr/>
        </p:nvSpPr>
        <p:spPr>
          <a:xfrm>
            <a:off x="7269480" y="3794760"/>
            <a:ext cx="4114800" cy="365760"/>
          </a:xfrm>
          <a:prstGeom prst="rect">
            <a:avLst/>
          </a:prstGeom>
          <a:noFill/>
          <a:ln/>
        </p:spPr>
        <p:txBody>
          <a:bodyPr wrap="square" rtlCol="0" anchor="ctr"/>
          <a:lstStyle/>
          <a:p>
            <a:pPr indent="0" marL="0">
              <a:buNone/>
            </a:pPr>
            <a:r>
              <a:rPr lang="en-US" sz="1500" b="1" dirty="0">
                <a:solidFill>
                  <a:srgbClr val="0B3C5D"/>
                </a:solidFill>
                <a:latin typeface="Cambria" pitchFamily="34" charset="0"/>
                <a:ea typeface="Cambria" pitchFamily="34" charset="-122"/>
                <a:cs typeface="Cambria" pitchFamily="34" charset="-120"/>
              </a:rPr>
              <a:t>Factor dificultoso y solución</a:t>
            </a:r>
            <a:endParaRPr lang="en-US" sz="1500" dirty="0"/>
          </a:p>
        </p:txBody>
      </p:sp>
      <p:sp>
        <p:nvSpPr>
          <p:cNvPr id="23" name="Text 17"/>
          <p:cNvSpPr/>
          <p:nvPr/>
        </p:nvSpPr>
        <p:spPr>
          <a:xfrm>
            <a:off x="6537960" y="4389120"/>
            <a:ext cx="4846320" cy="1051560"/>
          </a:xfrm>
          <a:prstGeom prst="rect">
            <a:avLst/>
          </a:prstGeom>
          <a:noFill/>
          <a:ln/>
        </p:spPr>
        <p:txBody>
          <a:bodyPr wrap="square" rtlCol="0" anchor="t"/>
          <a:lstStyle/>
          <a:p>
            <a:pPr indent="0" marL="0">
              <a:lnSpc>
                <a:spcPct val="118000"/>
              </a:lnSpc>
              <a:buNone/>
            </a:pPr>
            <a:r>
              <a:rPr lang="en-US" sz="1200" dirty="0">
                <a:solidFill>
                  <a:srgbClr val="22333B"/>
                </a:solidFill>
                <a:latin typeface="Calibri" pitchFamily="34" charset="0"/>
                <a:ea typeface="Calibri" pitchFamily="34" charset="-122"/>
                <a:cs typeface="Calibri" pitchFamily="34" charset="-120"/>
              </a:rPr>
              <a:t>La integración del lector de facturas es un desafío técnico. Se evitará crear un motor desde cero, usando APIs/librerías externas y un enfoque MVP con formatos estándar (PDF y XML).</a:t>
            </a:r>
            <a:endParaRPr lang="en-US" sz="1200" dirty="0"/>
          </a:p>
        </p:txBody>
      </p:sp>
      <p:sp>
        <p:nvSpPr>
          <p:cNvPr id="24" name="Text 18"/>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25" name="Text 19"/>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082A42"/>
          </a:solidFill>
          <a:ln/>
        </p:spPr>
      </p:sp>
      <p:sp>
        <p:nvSpPr>
          <p:cNvPr id="3" name="Text 1"/>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5. OBJETIVOS</a:t>
            </a:r>
            <a:endParaRPr lang="en-US" sz="1200" dirty="0"/>
          </a:p>
        </p:txBody>
      </p:sp>
      <p:sp>
        <p:nvSpPr>
          <p:cNvPr id="4" name="Text 2"/>
          <p:cNvSpPr/>
          <p:nvPr/>
        </p:nvSpPr>
        <p:spPr>
          <a:xfrm>
            <a:off x="548640" y="384048"/>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Objetivo General</a:t>
            </a:r>
            <a:endParaRPr lang="en-US" sz="3000" dirty="0"/>
          </a:p>
        </p:txBody>
      </p:sp>
      <p:sp>
        <p:nvSpPr>
          <p:cNvPr id="5" name="Shape 3"/>
          <p:cNvSpPr/>
          <p:nvPr/>
        </p:nvSpPr>
        <p:spPr>
          <a:xfrm>
            <a:off x="685800" y="1417320"/>
            <a:ext cx="914400" cy="914400"/>
          </a:xfrm>
          <a:prstGeom prst="ellipse">
            <a:avLst/>
          </a:prstGeom>
          <a:solidFill>
            <a:srgbClr val="E76F51"/>
          </a:solidFill>
          <a:ln/>
        </p:spPr>
      </p:sp>
      <p:pic>
        <p:nvPicPr>
          <p:cNvPr id="6" name="Image 0" descr="/home/claude/proyecto_apt/icons/bullseye.png">    </p:cNvPr>
          <p:cNvPicPr>
            <a:picLocks noChangeAspect="1"/>
          </p:cNvPicPr>
          <p:nvPr/>
        </p:nvPicPr>
        <p:blipFill>
          <a:blip r:embed="rId1"/>
          <a:stretch>
            <a:fillRect/>
          </a:stretch>
        </p:blipFill>
        <p:spPr>
          <a:xfrm>
            <a:off x="905256" y="1636776"/>
            <a:ext cx="475488" cy="475488"/>
          </a:xfrm>
          <a:prstGeom prst="rect">
            <a:avLst/>
          </a:prstGeom>
        </p:spPr>
      </p:pic>
      <p:sp>
        <p:nvSpPr>
          <p:cNvPr id="7" name="Shape 4"/>
          <p:cNvSpPr/>
          <p:nvPr/>
        </p:nvSpPr>
        <p:spPr>
          <a:xfrm>
            <a:off x="685800" y="2606040"/>
            <a:ext cx="10789920" cy="3246120"/>
          </a:xfrm>
          <a:prstGeom prst="roundRect">
            <a:avLst>
              <a:gd name="adj" fmla="val 3380"/>
            </a:avLst>
          </a:prstGeom>
          <a:solidFill>
            <a:srgbClr val="082A42"/>
          </a:solidFill>
          <a:ln w="12700">
            <a:solidFill>
              <a:srgbClr val="1C7293"/>
            </a:solidFill>
            <a:prstDash val="solid"/>
          </a:ln>
        </p:spPr>
      </p:sp>
      <p:sp>
        <p:nvSpPr>
          <p:cNvPr id="8" name="Text 5"/>
          <p:cNvSpPr/>
          <p:nvPr/>
        </p:nvSpPr>
        <p:spPr>
          <a:xfrm>
            <a:off x="1143000" y="2880360"/>
            <a:ext cx="9875520" cy="2743200"/>
          </a:xfrm>
          <a:prstGeom prst="rect">
            <a:avLst/>
          </a:prstGeom>
          <a:noFill/>
          <a:ln/>
        </p:spPr>
        <p:txBody>
          <a:bodyPr wrap="square" rtlCol="0" anchor="ctr"/>
          <a:lstStyle/>
          <a:p>
            <a:pPr indent="0" marL="0">
              <a:lnSpc>
                <a:spcPct val="135000"/>
              </a:lnSpc>
              <a:buNone/>
            </a:pPr>
            <a:r>
              <a:rPr lang="en-US" sz="2100" dirty="0">
                <a:solidFill>
                  <a:srgbClr val="FFFFFF"/>
                </a:solidFill>
                <a:latin typeface="Cambria" pitchFamily="34" charset="0"/>
                <a:ea typeface="Cambria" pitchFamily="34" charset="-122"/>
                <a:cs typeface="Cambria" pitchFamily="34" charset="-120"/>
              </a:rPr>
              <a:t>Diseñar e implementar una plataforma web de punto de venta (POS) y gestión de inventario para la tienda «Girasol», utilizando una arquitectura de tres capas, con el propósito de optimizar los tiempos de atención al cliente, automatizar el control de stock en tiempo real y garantizar un registro confiable de las operaciones comerciales.</a:t>
            </a:r>
            <a:endParaRPr lang="en-US" sz="2100" dirty="0"/>
          </a:p>
        </p:txBody>
      </p:sp>
      <p:sp>
        <p:nvSpPr>
          <p:cNvPr id="9" name="Text 6"/>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10" name="Text 7"/>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5. OBJETIVOS</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Objetivos Específicos</a:t>
            </a:r>
            <a:endParaRPr lang="en-US" sz="3000" dirty="0"/>
          </a:p>
        </p:txBody>
      </p:sp>
      <p:sp>
        <p:nvSpPr>
          <p:cNvPr id="4" name="Shape 2"/>
          <p:cNvSpPr/>
          <p:nvPr/>
        </p:nvSpPr>
        <p:spPr>
          <a:xfrm>
            <a:off x="548640" y="1371600"/>
            <a:ext cx="11109960" cy="1417320"/>
          </a:xfrm>
          <a:prstGeom prst="roundRect">
            <a:avLst>
              <a:gd name="adj" fmla="val 6452"/>
            </a:avLst>
          </a:prstGeom>
          <a:solidFill>
            <a:srgbClr val="FFFFFF"/>
          </a:solidFill>
          <a:ln/>
          <a:effectLst>
            <a:outerShdw sx="100000" sy="100000" kx="0" ky="0" algn="bl" rotWithShape="0" blurRad="101600" dist="38100" dir="5400000">
              <a:srgbClr val="1B2A38">
                <a:alpha val="18000"/>
              </a:srgbClr>
            </a:outerShdw>
          </a:effectLst>
        </p:spPr>
      </p:sp>
      <p:sp>
        <p:nvSpPr>
          <p:cNvPr id="5" name="Shape 3"/>
          <p:cNvSpPr/>
          <p:nvPr/>
        </p:nvSpPr>
        <p:spPr>
          <a:xfrm>
            <a:off x="822960" y="1760220"/>
            <a:ext cx="640080" cy="640080"/>
          </a:xfrm>
          <a:prstGeom prst="ellipse">
            <a:avLst/>
          </a:prstGeom>
          <a:solidFill>
            <a:srgbClr val="0B3C5D"/>
          </a:solidFill>
          <a:ln/>
        </p:spPr>
      </p:sp>
      <p:sp>
        <p:nvSpPr>
          <p:cNvPr id="6" name="Text 4"/>
          <p:cNvSpPr/>
          <p:nvPr/>
        </p:nvSpPr>
        <p:spPr>
          <a:xfrm>
            <a:off x="822960" y="1760220"/>
            <a:ext cx="640080" cy="6400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691640" y="1481328"/>
            <a:ext cx="9692640" cy="1197864"/>
          </a:xfrm>
          <a:prstGeom prst="rect">
            <a:avLst/>
          </a:prstGeom>
          <a:noFill/>
          <a:ln/>
        </p:spPr>
        <p:txBody>
          <a:bodyPr wrap="square" rtlCol="0" anchor="ctr"/>
          <a:lstStyle/>
          <a:p>
            <a:pPr indent="0" marL="0">
              <a:lnSpc>
                <a:spcPct val="122000"/>
              </a:lnSpc>
              <a:buNone/>
            </a:pPr>
            <a:r>
              <a:rPr lang="en-US" sz="1350" dirty="0">
                <a:solidFill>
                  <a:srgbClr val="22333B"/>
                </a:solidFill>
                <a:latin typeface="Calibri" pitchFamily="34" charset="0"/>
                <a:ea typeface="Calibri" pitchFamily="34" charset="-122"/>
                <a:cs typeface="Calibri" pitchFamily="34" charset="-120"/>
              </a:rPr>
              <a:t>Analizar los requerimientos de la Tienda Girasol mediante el levantamiento de procesos actuales (ventas, inventario y caja), para definir la arquitectura de datos y las historias de usuario necesarias.</a:t>
            </a:r>
            <a:endParaRPr lang="en-US" sz="1350" dirty="0"/>
          </a:p>
        </p:txBody>
      </p:sp>
      <p:sp>
        <p:nvSpPr>
          <p:cNvPr id="8" name="Shape 6"/>
          <p:cNvSpPr/>
          <p:nvPr/>
        </p:nvSpPr>
        <p:spPr>
          <a:xfrm>
            <a:off x="548640" y="3044952"/>
            <a:ext cx="11109960" cy="1051560"/>
          </a:xfrm>
          <a:prstGeom prst="roundRect">
            <a:avLst>
              <a:gd name="adj" fmla="val 8696"/>
            </a:avLst>
          </a:prstGeom>
          <a:solidFill>
            <a:srgbClr val="FFFFFF"/>
          </a:solidFill>
          <a:ln/>
          <a:effectLst>
            <a:outerShdw sx="100000" sy="100000" kx="0" ky="0" algn="bl" rotWithShape="0" blurRad="101600" dist="38100" dir="5400000">
              <a:srgbClr val="1B2A38">
                <a:alpha val="18000"/>
              </a:srgbClr>
            </a:outerShdw>
          </a:effectLst>
        </p:spPr>
      </p:sp>
      <p:sp>
        <p:nvSpPr>
          <p:cNvPr id="9" name="Shape 7"/>
          <p:cNvSpPr/>
          <p:nvPr/>
        </p:nvSpPr>
        <p:spPr>
          <a:xfrm>
            <a:off x="822960" y="3250692"/>
            <a:ext cx="640080" cy="640080"/>
          </a:xfrm>
          <a:prstGeom prst="ellipse">
            <a:avLst/>
          </a:prstGeom>
          <a:solidFill>
            <a:srgbClr val="1C7293"/>
          </a:solidFill>
          <a:ln/>
        </p:spPr>
      </p:sp>
      <p:sp>
        <p:nvSpPr>
          <p:cNvPr id="10" name="Text 8"/>
          <p:cNvSpPr/>
          <p:nvPr/>
        </p:nvSpPr>
        <p:spPr>
          <a:xfrm>
            <a:off x="822960" y="3250692"/>
            <a:ext cx="640080" cy="6400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1" name="Text 9"/>
          <p:cNvSpPr/>
          <p:nvPr/>
        </p:nvSpPr>
        <p:spPr>
          <a:xfrm>
            <a:off x="1691640" y="3154680"/>
            <a:ext cx="9692640" cy="832104"/>
          </a:xfrm>
          <a:prstGeom prst="rect">
            <a:avLst/>
          </a:prstGeom>
          <a:noFill/>
          <a:ln/>
        </p:spPr>
        <p:txBody>
          <a:bodyPr wrap="square" rtlCol="0" anchor="ctr"/>
          <a:lstStyle/>
          <a:p>
            <a:pPr indent="0" marL="0">
              <a:lnSpc>
                <a:spcPct val="122000"/>
              </a:lnSpc>
              <a:buNone/>
            </a:pPr>
            <a:r>
              <a:rPr lang="en-US" sz="1350" dirty="0">
                <a:solidFill>
                  <a:srgbClr val="22333B"/>
                </a:solidFill>
                <a:latin typeface="Calibri" pitchFamily="34" charset="0"/>
                <a:ea typeface="Calibri" pitchFamily="34" charset="-122"/>
                <a:cs typeface="Calibri" pitchFamily="34" charset="-120"/>
              </a:rPr>
              <a:t>Desarrollar los módulos funcionales clave del sistema: arqueo, clientes, facturas, inventario y ventas.</a:t>
            </a:r>
            <a:endParaRPr lang="en-US" sz="1350" dirty="0"/>
          </a:p>
        </p:txBody>
      </p:sp>
      <p:sp>
        <p:nvSpPr>
          <p:cNvPr id="12" name="Shape 10"/>
          <p:cNvSpPr/>
          <p:nvPr/>
        </p:nvSpPr>
        <p:spPr>
          <a:xfrm>
            <a:off x="548640" y="4352544"/>
            <a:ext cx="11109960" cy="1691640"/>
          </a:xfrm>
          <a:prstGeom prst="roundRect">
            <a:avLst>
              <a:gd name="adj" fmla="val 5405"/>
            </a:avLst>
          </a:prstGeom>
          <a:solidFill>
            <a:srgbClr val="FFFFFF"/>
          </a:solidFill>
          <a:ln/>
          <a:effectLst>
            <a:outerShdw sx="100000" sy="100000" kx="0" ky="0" algn="bl" rotWithShape="0" blurRad="101600" dist="38100" dir="5400000">
              <a:srgbClr val="1B2A38">
                <a:alpha val="18000"/>
              </a:srgbClr>
            </a:outerShdw>
          </a:effectLst>
        </p:spPr>
      </p:sp>
      <p:sp>
        <p:nvSpPr>
          <p:cNvPr id="13" name="Shape 11"/>
          <p:cNvSpPr/>
          <p:nvPr/>
        </p:nvSpPr>
        <p:spPr>
          <a:xfrm>
            <a:off x="822960" y="4878324"/>
            <a:ext cx="640080" cy="640080"/>
          </a:xfrm>
          <a:prstGeom prst="ellipse">
            <a:avLst/>
          </a:prstGeom>
          <a:solidFill>
            <a:srgbClr val="0B3C5D"/>
          </a:solidFill>
          <a:ln/>
        </p:spPr>
      </p:sp>
      <p:sp>
        <p:nvSpPr>
          <p:cNvPr id="14" name="Text 12"/>
          <p:cNvSpPr/>
          <p:nvPr/>
        </p:nvSpPr>
        <p:spPr>
          <a:xfrm>
            <a:off x="822960" y="4878324"/>
            <a:ext cx="640080" cy="64008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5" name="Text 13"/>
          <p:cNvSpPr/>
          <p:nvPr/>
        </p:nvSpPr>
        <p:spPr>
          <a:xfrm>
            <a:off x="1691640" y="4462272"/>
            <a:ext cx="9692640" cy="1472184"/>
          </a:xfrm>
          <a:prstGeom prst="rect">
            <a:avLst/>
          </a:prstGeom>
          <a:noFill/>
          <a:ln/>
        </p:spPr>
        <p:txBody>
          <a:bodyPr wrap="square" rtlCol="0" anchor="ctr"/>
          <a:lstStyle/>
          <a:p>
            <a:pPr indent="0" marL="0">
              <a:lnSpc>
                <a:spcPct val="122000"/>
              </a:lnSpc>
              <a:buNone/>
            </a:pPr>
            <a:r>
              <a:rPr lang="en-US" sz="1350" dirty="0">
                <a:solidFill>
                  <a:srgbClr val="22333B"/>
                </a:solidFill>
                <a:latin typeface="Calibri" pitchFamily="34" charset="0"/>
                <a:ea typeface="Calibri" pitchFamily="34" charset="-122"/>
                <a:cs typeface="Calibri" pitchFamily="34" charset="-120"/>
              </a:rPr>
              <a:t>Evaluar el rendimiento del sistema en el entorno real de la tienda mediante pruebas unitarias, de integración y de usabilidad, cuantificando la reducción de tiempos administrativos y la exactitud del stock registrado frente a las prendas físicas.</a:t>
            </a:r>
            <a:endParaRPr lang="en-US" sz="1350" dirty="0"/>
          </a:p>
        </p:txBody>
      </p:sp>
      <p:sp>
        <p:nvSpPr>
          <p:cNvPr id="16" name="Text 14"/>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17" name="Text 15"/>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6. METODOLOGÍA</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Metodología de Trabajo</a:t>
            </a:r>
            <a:endParaRPr lang="en-US" sz="3000" dirty="0"/>
          </a:p>
        </p:txBody>
      </p:sp>
      <p:sp>
        <p:nvSpPr>
          <p:cNvPr id="4" name="Shape 2"/>
          <p:cNvSpPr/>
          <p:nvPr/>
        </p:nvSpPr>
        <p:spPr>
          <a:xfrm>
            <a:off x="548640" y="1234440"/>
            <a:ext cx="4937760" cy="5074920"/>
          </a:xfrm>
          <a:prstGeom prst="roundRect">
            <a:avLst>
              <a:gd name="adj" fmla="val 1852"/>
            </a:avLst>
          </a:prstGeom>
          <a:solidFill>
            <a:srgbClr val="0B3C5D"/>
          </a:solidFill>
          <a:ln/>
          <a:effectLst>
            <a:outerShdw sx="100000" sy="100000" kx="0" ky="0" algn="bl" rotWithShape="0" blurRad="101600" dist="38100" dir="5400000">
              <a:srgbClr val="1B2A38">
                <a:alpha val="18000"/>
              </a:srgbClr>
            </a:outerShdw>
          </a:effectLst>
        </p:spPr>
      </p:sp>
      <p:sp>
        <p:nvSpPr>
          <p:cNvPr id="5" name="Shape 3"/>
          <p:cNvSpPr/>
          <p:nvPr/>
        </p:nvSpPr>
        <p:spPr>
          <a:xfrm>
            <a:off x="868680" y="1536192"/>
            <a:ext cx="594360" cy="594360"/>
          </a:xfrm>
          <a:prstGeom prst="ellipse">
            <a:avLst/>
          </a:prstGeom>
          <a:solidFill>
            <a:srgbClr val="E76F51"/>
          </a:solidFill>
          <a:ln/>
        </p:spPr>
      </p:sp>
      <p:pic>
        <p:nvPicPr>
          <p:cNvPr id="6" name="Image 0" descr="/home/claude/proyecto_apt/icons/tasks.png">    </p:cNvPr>
          <p:cNvPicPr>
            <a:picLocks noChangeAspect="1"/>
          </p:cNvPicPr>
          <p:nvPr/>
        </p:nvPicPr>
        <p:blipFill>
          <a:blip r:embed="rId1"/>
          <a:stretch>
            <a:fillRect/>
          </a:stretch>
        </p:blipFill>
        <p:spPr>
          <a:xfrm>
            <a:off x="1011326" y="1678838"/>
            <a:ext cx="309067" cy="309067"/>
          </a:xfrm>
          <a:prstGeom prst="rect">
            <a:avLst/>
          </a:prstGeom>
        </p:spPr>
      </p:pic>
      <p:sp>
        <p:nvSpPr>
          <p:cNvPr id="7" name="Text 4"/>
          <p:cNvSpPr/>
          <p:nvPr/>
        </p:nvSpPr>
        <p:spPr>
          <a:xfrm>
            <a:off x="1600200" y="1600200"/>
            <a:ext cx="374904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Marco ágil: Kanban</a:t>
            </a:r>
            <a:endParaRPr lang="en-US" sz="1800" dirty="0"/>
          </a:p>
        </p:txBody>
      </p:sp>
      <p:sp>
        <p:nvSpPr>
          <p:cNvPr id="8" name="Text 5"/>
          <p:cNvSpPr/>
          <p:nvPr/>
        </p:nvSpPr>
        <p:spPr>
          <a:xfrm>
            <a:off x="868680" y="2331720"/>
            <a:ext cx="4343400" cy="1051560"/>
          </a:xfrm>
          <a:prstGeom prst="rect">
            <a:avLst/>
          </a:prstGeom>
          <a:noFill/>
          <a:ln/>
        </p:spPr>
        <p:txBody>
          <a:bodyPr wrap="square" rtlCol="0" anchor="ctr"/>
          <a:lstStyle/>
          <a:p>
            <a:pPr indent="0" marL="0">
              <a:lnSpc>
                <a:spcPct val="122000"/>
              </a:lnSpc>
              <a:buNone/>
            </a:pPr>
            <a:r>
              <a:rPr lang="en-US" sz="1300" dirty="0">
                <a:solidFill>
                  <a:srgbClr val="D7E7EC"/>
                </a:solidFill>
                <a:latin typeface="Calibri" pitchFamily="34" charset="0"/>
                <a:ea typeface="Calibri" pitchFamily="34" charset="-122"/>
                <a:cs typeface="Calibri" pitchFamily="34" charset="-120"/>
              </a:rPr>
              <a:t>Se utilizará el marco ágil Kanban para gestionar el trabajo mediante un flujo continuo e incremental. El sistema de tres capas se desarrollará mientras se generan los artefactos requeridos:</a:t>
            </a:r>
            <a:endParaRPr lang="en-US" sz="1300" dirty="0"/>
          </a:p>
        </p:txBody>
      </p:sp>
      <p:sp>
        <p:nvSpPr>
          <p:cNvPr id="9" name="Shape 6"/>
          <p:cNvSpPr/>
          <p:nvPr/>
        </p:nvSpPr>
        <p:spPr>
          <a:xfrm>
            <a:off x="896112" y="3602736"/>
            <a:ext cx="82296" cy="82296"/>
          </a:xfrm>
          <a:prstGeom prst="ellipse">
            <a:avLst/>
          </a:prstGeom>
          <a:solidFill>
            <a:srgbClr val="E76F51"/>
          </a:solidFill>
          <a:ln/>
        </p:spPr>
      </p:sp>
      <p:sp>
        <p:nvSpPr>
          <p:cNvPr id="10" name="Text 7"/>
          <p:cNvSpPr/>
          <p:nvPr/>
        </p:nvSpPr>
        <p:spPr>
          <a:xfrm>
            <a:off x="1097280" y="3465576"/>
            <a:ext cx="4114800" cy="2926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Product Vision</a:t>
            </a:r>
            <a:endParaRPr lang="en-US" sz="1250" dirty="0"/>
          </a:p>
        </p:txBody>
      </p:sp>
      <p:sp>
        <p:nvSpPr>
          <p:cNvPr id="11" name="Shape 8"/>
          <p:cNvSpPr/>
          <p:nvPr/>
        </p:nvSpPr>
        <p:spPr>
          <a:xfrm>
            <a:off x="896112" y="3968496"/>
            <a:ext cx="82296" cy="82296"/>
          </a:xfrm>
          <a:prstGeom prst="ellipse">
            <a:avLst/>
          </a:prstGeom>
          <a:solidFill>
            <a:srgbClr val="E76F51"/>
          </a:solidFill>
          <a:ln/>
        </p:spPr>
      </p:sp>
      <p:sp>
        <p:nvSpPr>
          <p:cNvPr id="12" name="Text 9"/>
          <p:cNvSpPr/>
          <p:nvPr/>
        </p:nvSpPr>
        <p:spPr>
          <a:xfrm>
            <a:off x="1097280" y="3831336"/>
            <a:ext cx="4114800" cy="2926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Backlog</a:t>
            </a:r>
            <a:endParaRPr lang="en-US" sz="1250" dirty="0"/>
          </a:p>
        </p:txBody>
      </p:sp>
      <p:sp>
        <p:nvSpPr>
          <p:cNvPr id="13" name="Shape 10"/>
          <p:cNvSpPr/>
          <p:nvPr/>
        </p:nvSpPr>
        <p:spPr>
          <a:xfrm>
            <a:off x="896112" y="4334256"/>
            <a:ext cx="82296" cy="82296"/>
          </a:xfrm>
          <a:prstGeom prst="ellipse">
            <a:avLst/>
          </a:prstGeom>
          <a:solidFill>
            <a:srgbClr val="E76F51"/>
          </a:solidFill>
          <a:ln/>
        </p:spPr>
      </p:sp>
      <p:sp>
        <p:nvSpPr>
          <p:cNvPr id="14" name="Text 11"/>
          <p:cNvSpPr/>
          <p:nvPr/>
        </p:nvSpPr>
        <p:spPr>
          <a:xfrm>
            <a:off x="1097280" y="4197096"/>
            <a:ext cx="4114800" cy="2926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Diagramas UML</a:t>
            </a:r>
            <a:endParaRPr lang="en-US" sz="1250" dirty="0"/>
          </a:p>
        </p:txBody>
      </p:sp>
      <p:sp>
        <p:nvSpPr>
          <p:cNvPr id="15" name="Shape 12"/>
          <p:cNvSpPr/>
          <p:nvPr/>
        </p:nvSpPr>
        <p:spPr>
          <a:xfrm>
            <a:off x="896112" y="4700016"/>
            <a:ext cx="82296" cy="82296"/>
          </a:xfrm>
          <a:prstGeom prst="ellipse">
            <a:avLst/>
          </a:prstGeom>
          <a:solidFill>
            <a:srgbClr val="E76F51"/>
          </a:solidFill>
          <a:ln/>
        </p:spPr>
      </p:sp>
      <p:sp>
        <p:nvSpPr>
          <p:cNvPr id="16" name="Text 13"/>
          <p:cNvSpPr/>
          <p:nvPr/>
        </p:nvSpPr>
        <p:spPr>
          <a:xfrm>
            <a:off x="1097280" y="4562856"/>
            <a:ext cx="4114800" cy="2926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Modelo ER</a:t>
            </a:r>
            <a:endParaRPr lang="en-US" sz="1250" dirty="0"/>
          </a:p>
        </p:txBody>
      </p:sp>
      <p:sp>
        <p:nvSpPr>
          <p:cNvPr id="17" name="Shape 14"/>
          <p:cNvSpPr/>
          <p:nvPr/>
        </p:nvSpPr>
        <p:spPr>
          <a:xfrm>
            <a:off x="896112" y="5065776"/>
            <a:ext cx="82296" cy="82296"/>
          </a:xfrm>
          <a:prstGeom prst="ellipse">
            <a:avLst/>
          </a:prstGeom>
          <a:solidFill>
            <a:srgbClr val="E76F51"/>
          </a:solidFill>
          <a:ln/>
        </p:spPr>
      </p:sp>
      <p:sp>
        <p:nvSpPr>
          <p:cNvPr id="18" name="Text 15"/>
          <p:cNvSpPr/>
          <p:nvPr/>
        </p:nvSpPr>
        <p:spPr>
          <a:xfrm>
            <a:off x="1097280" y="4928616"/>
            <a:ext cx="4114800" cy="2926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Docker</a:t>
            </a:r>
            <a:endParaRPr lang="en-US" sz="1250" dirty="0"/>
          </a:p>
        </p:txBody>
      </p:sp>
      <p:sp>
        <p:nvSpPr>
          <p:cNvPr id="19" name="Shape 16"/>
          <p:cNvSpPr/>
          <p:nvPr/>
        </p:nvSpPr>
        <p:spPr>
          <a:xfrm>
            <a:off x="896112" y="5431536"/>
            <a:ext cx="82296" cy="82296"/>
          </a:xfrm>
          <a:prstGeom prst="ellipse">
            <a:avLst/>
          </a:prstGeom>
          <a:solidFill>
            <a:srgbClr val="E76F51"/>
          </a:solidFill>
          <a:ln/>
        </p:spPr>
      </p:sp>
      <p:sp>
        <p:nvSpPr>
          <p:cNvPr id="20" name="Text 17"/>
          <p:cNvSpPr/>
          <p:nvPr/>
        </p:nvSpPr>
        <p:spPr>
          <a:xfrm>
            <a:off x="1097280" y="5294376"/>
            <a:ext cx="4114800" cy="2926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Plan de Pruebas</a:t>
            </a:r>
            <a:endParaRPr lang="en-US" sz="1250" dirty="0"/>
          </a:p>
        </p:txBody>
      </p:sp>
      <p:sp>
        <p:nvSpPr>
          <p:cNvPr id="21" name="Shape 18"/>
          <p:cNvSpPr/>
          <p:nvPr/>
        </p:nvSpPr>
        <p:spPr>
          <a:xfrm>
            <a:off x="896112" y="5797296"/>
            <a:ext cx="82296" cy="82296"/>
          </a:xfrm>
          <a:prstGeom prst="ellipse">
            <a:avLst/>
          </a:prstGeom>
          <a:solidFill>
            <a:srgbClr val="E76F51"/>
          </a:solidFill>
          <a:ln/>
        </p:spPr>
      </p:sp>
      <p:sp>
        <p:nvSpPr>
          <p:cNvPr id="22" name="Text 19"/>
          <p:cNvSpPr/>
          <p:nvPr/>
        </p:nvSpPr>
        <p:spPr>
          <a:xfrm>
            <a:off x="1097280" y="5660136"/>
            <a:ext cx="4114800" cy="292608"/>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Manual Técnico</a:t>
            </a:r>
            <a:endParaRPr lang="en-US" sz="1250" dirty="0"/>
          </a:p>
        </p:txBody>
      </p:sp>
      <p:sp>
        <p:nvSpPr>
          <p:cNvPr id="23" name="Shape 20"/>
          <p:cNvSpPr/>
          <p:nvPr/>
        </p:nvSpPr>
        <p:spPr>
          <a:xfrm>
            <a:off x="5715000" y="1234440"/>
            <a:ext cx="5943600" cy="1600200"/>
          </a:xfrm>
          <a:prstGeom prst="roundRect">
            <a:avLst>
              <a:gd name="adj" fmla="val 5714"/>
            </a:avLst>
          </a:prstGeom>
          <a:solidFill>
            <a:srgbClr val="FFFFFF"/>
          </a:solidFill>
          <a:ln/>
          <a:effectLst>
            <a:outerShdw sx="100000" sy="100000" kx="0" ky="0" algn="bl" rotWithShape="0" blurRad="101600" dist="38100" dir="5400000">
              <a:srgbClr val="1B2A38">
                <a:alpha val="18000"/>
              </a:srgbClr>
            </a:outerShdw>
          </a:effectLst>
        </p:spPr>
      </p:sp>
      <p:sp>
        <p:nvSpPr>
          <p:cNvPr id="24" name="Shape 21"/>
          <p:cNvSpPr/>
          <p:nvPr/>
        </p:nvSpPr>
        <p:spPr>
          <a:xfrm>
            <a:off x="5943600" y="1463040"/>
            <a:ext cx="594360" cy="594360"/>
          </a:xfrm>
          <a:prstGeom prst="ellipse">
            <a:avLst/>
          </a:prstGeom>
          <a:solidFill>
            <a:srgbClr val="0B3C5D"/>
          </a:solidFill>
          <a:ln/>
        </p:spPr>
      </p:sp>
      <p:pic>
        <p:nvPicPr>
          <p:cNvPr id="25" name="Image 1" descr="/home/claude/proyecto_apt/icons/users.png">    </p:cNvPr>
          <p:cNvPicPr>
            <a:picLocks noChangeAspect="1"/>
          </p:cNvPicPr>
          <p:nvPr/>
        </p:nvPicPr>
        <p:blipFill>
          <a:blip r:embed="rId2"/>
          <a:stretch>
            <a:fillRect/>
          </a:stretch>
        </p:blipFill>
        <p:spPr>
          <a:xfrm>
            <a:off x="6086246" y="1605686"/>
            <a:ext cx="309067" cy="309067"/>
          </a:xfrm>
          <a:prstGeom prst="rect">
            <a:avLst/>
          </a:prstGeom>
        </p:spPr>
      </p:pic>
      <p:sp>
        <p:nvSpPr>
          <p:cNvPr id="26" name="Text 22"/>
          <p:cNvSpPr/>
          <p:nvPr/>
        </p:nvSpPr>
        <p:spPr>
          <a:xfrm>
            <a:off x="6675120" y="1417320"/>
            <a:ext cx="4754880" cy="292608"/>
          </a:xfrm>
          <a:prstGeom prst="rect">
            <a:avLst/>
          </a:prstGeom>
          <a:noFill/>
          <a:ln/>
        </p:spPr>
        <p:txBody>
          <a:bodyPr wrap="square" rtlCol="0" anchor="ctr"/>
          <a:lstStyle/>
          <a:p>
            <a:pPr indent="0" marL="0">
              <a:buNone/>
            </a:pPr>
            <a:r>
              <a:rPr lang="en-US" sz="1450" b="1" dirty="0">
                <a:solidFill>
                  <a:srgbClr val="0B3C5D"/>
                </a:solidFill>
                <a:latin typeface="Cambria" pitchFamily="34" charset="0"/>
                <a:ea typeface="Cambria" pitchFamily="34" charset="-122"/>
                <a:cs typeface="Cambria" pitchFamily="34" charset="-120"/>
              </a:rPr>
              <a:t>Isabel Alvarado</a:t>
            </a:r>
            <a:endParaRPr lang="en-US" sz="1450" dirty="0"/>
          </a:p>
        </p:txBody>
      </p:sp>
      <p:sp>
        <p:nvSpPr>
          <p:cNvPr id="27" name="Text 23"/>
          <p:cNvSpPr/>
          <p:nvPr/>
        </p:nvSpPr>
        <p:spPr>
          <a:xfrm>
            <a:off x="6675120" y="1691640"/>
            <a:ext cx="4754880" cy="256032"/>
          </a:xfrm>
          <a:prstGeom prst="rect">
            <a:avLst/>
          </a:prstGeom>
          <a:noFill/>
          <a:ln/>
        </p:spPr>
        <p:txBody>
          <a:bodyPr wrap="square" rtlCol="0" anchor="ctr"/>
          <a:lstStyle/>
          <a:p>
            <a:pPr indent="0" marL="0">
              <a:buNone/>
            </a:pPr>
            <a:r>
              <a:rPr lang="en-US" sz="1150" b="1" i="1" dirty="0">
                <a:solidFill>
                  <a:srgbClr val="E76F51"/>
                </a:solidFill>
                <a:latin typeface="Calibri" pitchFamily="34" charset="0"/>
                <a:ea typeface="Calibri" pitchFamily="34" charset="-122"/>
                <a:cs typeface="Calibri" pitchFamily="34" charset="-120"/>
              </a:rPr>
              <a:t>Líder de Proyecto &amp; Frontend</a:t>
            </a:r>
            <a:endParaRPr lang="en-US" sz="1150" dirty="0"/>
          </a:p>
        </p:txBody>
      </p:sp>
      <p:sp>
        <p:nvSpPr>
          <p:cNvPr id="28" name="Text 24"/>
          <p:cNvSpPr/>
          <p:nvPr/>
        </p:nvSpPr>
        <p:spPr>
          <a:xfrm>
            <a:off x="5943600" y="2103120"/>
            <a:ext cx="5486400" cy="640080"/>
          </a:xfrm>
          <a:prstGeom prst="rect">
            <a:avLst/>
          </a:prstGeom>
          <a:noFill/>
          <a:ln/>
        </p:spPr>
        <p:txBody>
          <a:bodyPr wrap="square" rtlCol="0" anchor="t"/>
          <a:lstStyle/>
          <a:p>
            <a:pPr indent="0" marL="0">
              <a:lnSpc>
                <a:spcPct val="115000"/>
              </a:lnSpc>
              <a:buNone/>
            </a:pPr>
            <a:r>
              <a:rPr lang="en-US" sz="1100" dirty="0">
                <a:solidFill>
                  <a:srgbClr val="22333B"/>
                </a:solidFill>
                <a:latin typeface="Calibri" pitchFamily="34" charset="0"/>
                <a:ea typeface="Calibri" pitchFamily="34" charset="-122"/>
                <a:cs typeface="Calibri" pitchFamily="34" charset="-120"/>
              </a:rPr>
              <a:t>Gestiona el flujo Kanban. Desarrolla la interfaz en React (Vite + Tailwind) y la orquestación nativa en Tauri (Rust).</a:t>
            </a:r>
            <a:endParaRPr lang="en-US" sz="1100" dirty="0"/>
          </a:p>
        </p:txBody>
      </p:sp>
      <p:sp>
        <p:nvSpPr>
          <p:cNvPr id="29" name="Shape 25"/>
          <p:cNvSpPr/>
          <p:nvPr/>
        </p:nvSpPr>
        <p:spPr>
          <a:xfrm>
            <a:off x="5715000" y="3081528"/>
            <a:ext cx="5943600" cy="1600200"/>
          </a:xfrm>
          <a:prstGeom prst="roundRect">
            <a:avLst>
              <a:gd name="adj" fmla="val 5714"/>
            </a:avLst>
          </a:prstGeom>
          <a:solidFill>
            <a:srgbClr val="FFFFFF"/>
          </a:solidFill>
          <a:ln/>
          <a:effectLst>
            <a:outerShdw sx="100000" sy="100000" kx="0" ky="0" algn="bl" rotWithShape="0" blurRad="101600" dist="38100" dir="5400000">
              <a:srgbClr val="1B2A38">
                <a:alpha val="18000"/>
              </a:srgbClr>
            </a:outerShdw>
          </a:effectLst>
        </p:spPr>
      </p:sp>
      <p:sp>
        <p:nvSpPr>
          <p:cNvPr id="30" name="Shape 26"/>
          <p:cNvSpPr/>
          <p:nvPr/>
        </p:nvSpPr>
        <p:spPr>
          <a:xfrm>
            <a:off x="5943600" y="3310128"/>
            <a:ext cx="594360" cy="594360"/>
          </a:xfrm>
          <a:prstGeom prst="ellipse">
            <a:avLst/>
          </a:prstGeom>
          <a:solidFill>
            <a:srgbClr val="1C7293"/>
          </a:solidFill>
          <a:ln/>
        </p:spPr>
      </p:sp>
      <p:pic>
        <p:nvPicPr>
          <p:cNvPr id="31" name="Image 2" descr="/home/claude/proyecto_apt/icons/users.png">    </p:cNvPr>
          <p:cNvPicPr>
            <a:picLocks noChangeAspect="1"/>
          </p:cNvPicPr>
          <p:nvPr/>
        </p:nvPicPr>
        <p:blipFill>
          <a:blip r:embed="rId3"/>
          <a:stretch>
            <a:fillRect/>
          </a:stretch>
        </p:blipFill>
        <p:spPr>
          <a:xfrm>
            <a:off x="6086246" y="3452774"/>
            <a:ext cx="309067" cy="309067"/>
          </a:xfrm>
          <a:prstGeom prst="rect">
            <a:avLst/>
          </a:prstGeom>
        </p:spPr>
      </p:pic>
      <p:sp>
        <p:nvSpPr>
          <p:cNvPr id="32" name="Text 27"/>
          <p:cNvSpPr/>
          <p:nvPr/>
        </p:nvSpPr>
        <p:spPr>
          <a:xfrm>
            <a:off x="6675120" y="3264408"/>
            <a:ext cx="4754880" cy="292608"/>
          </a:xfrm>
          <a:prstGeom prst="rect">
            <a:avLst/>
          </a:prstGeom>
          <a:noFill/>
          <a:ln/>
        </p:spPr>
        <p:txBody>
          <a:bodyPr wrap="square" rtlCol="0" anchor="ctr"/>
          <a:lstStyle/>
          <a:p>
            <a:pPr indent="0" marL="0">
              <a:buNone/>
            </a:pPr>
            <a:r>
              <a:rPr lang="en-US" sz="1450" b="1" dirty="0">
                <a:solidFill>
                  <a:srgbClr val="0B3C5D"/>
                </a:solidFill>
                <a:latin typeface="Cambria" pitchFamily="34" charset="0"/>
                <a:ea typeface="Cambria" pitchFamily="34" charset="-122"/>
                <a:cs typeface="Cambria" pitchFamily="34" charset="-120"/>
              </a:rPr>
              <a:t>Matías Parancán</a:t>
            </a:r>
            <a:endParaRPr lang="en-US" sz="1450" dirty="0"/>
          </a:p>
        </p:txBody>
      </p:sp>
      <p:sp>
        <p:nvSpPr>
          <p:cNvPr id="33" name="Text 28"/>
          <p:cNvSpPr/>
          <p:nvPr/>
        </p:nvSpPr>
        <p:spPr>
          <a:xfrm>
            <a:off x="6675120" y="3538728"/>
            <a:ext cx="4754880" cy="256032"/>
          </a:xfrm>
          <a:prstGeom prst="rect">
            <a:avLst/>
          </a:prstGeom>
          <a:noFill/>
          <a:ln/>
        </p:spPr>
        <p:txBody>
          <a:bodyPr wrap="square" rtlCol="0" anchor="ctr"/>
          <a:lstStyle/>
          <a:p>
            <a:pPr indent="0" marL="0">
              <a:buNone/>
            </a:pPr>
            <a:r>
              <a:rPr lang="en-US" sz="1150" b="1" i="1" dirty="0">
                <a:solidFill>
                  <a:srgbClr val="E76F51"/>
                </a:solidFill>
                <a:latin typeface="Calibri" pitchFamily="34" charset="0"/>
                <a:ea typeface="Calibri" pitchFamily="34" charset="-122"/>
                <a:cs typeface="Calibri" pitchFamily="34" charset="-120"/>
              </a:rPr>
              <a:t>Backend &amp; Hardware</a:t>
            </a:r>
            <a:endParaRPr lang="en-US" sz="1150" dirty="0"/>
          </a:p>
        </p:txBody>
      </p:sp>
      <p:sp>
        <p:nvSpPr>
          <p:cNvPr id="34" name="Text 29"/>
          <p:cNvSpPr/>
          <p:nvPr/>
        </p:nvSpPr>
        <p:spPr>
          <a:xfrm>
            <a:off x="5943600" y="3950208"/>
            <a:ext cx="5486400" cy="640080"/>
          </a:xfrm>
          <a:prstGeom prst="rect">
            <a:avLst/>
          </a:prstGeom>
          <a:noFill/>
          <a:ln/>
        </p:spPr>
        <p:txBody>
          <a:bodyPr wrap="square" rtlCol="0" anchor="t"/>
          <a:lstStyle/>
          <a:p>
            <a:pPr indent="0" marL="0">
              <a:lnSpc>
                <a:spcPct val="115000"/>
              </a:lnSpc>
              <a:buNone/>
            </a:pPr>
            <a:r>
              <a:rPr lang="en-US" sz="1100" dirty="0">
                <a:solidFill>
                  <a:srgbClr val="22333B"/>
                </a:solidFill>
                <a:latin typeface="Calibri" pitchFamily="34" charset="0"/>
                <a:ea typeface="Calibri" pitchFamily="34" charset="-122"/>
                <a:cs typeface="Calibri" pitchFamily="34" charset="-120"/>
              </a:rPr>
              <a:t>Desarrolla la API en Python (FastAPI), la base de datos SQLite y la integración con periféricos (impresora térmica, escáner) y Docker.</a:t>
            </a:r>
            <a:endParaRPr lang="en-US" sz="1100" dirty="0"/>
          </a:p>
        </p:txBody>
      </p:sp>
      <p:sp>
        <p:nvSpPr>
          <p:cNvPr id="35" name="Shape 30"/>
          <p:cNvSpPr/>
          <p:nvPr/>
        </p:nvSpPr>
        <p:spPr>
          <a:xfrm>
            <a:off x="5715000" y="4928616"/>
            <a:ext cx="5943600" cy="1600200"/>
          </a:xfrm>
          <a:prstGeom prst="roundRect">
            <a:avLst>
              <a:gd name="adj" fmla="val 5714"/>
            </a:avLst>
          </a:prstGeom>
          <a:solidFill>
            <a:srgbClr val="FFFFFF"/>
          </a:solidFill>
          <a:ln/>
          <a:effectLst>
            <a:outerShdw sx="100000" sy="100000" kx="0" ky="0" algn="bl" rotWithShape="0" blurRad="101600" dist="38100" dir="5400000">
              <a:srgbClr val="1B2A38">
                <a:alpha val="18000"/>
              </a:srgbClr>
            </a:outerShdw>
          </a:effectLst>
        </p:spPr>
      </p:sp>
      <p:sp>
        <p:nvSpPr>
          <p:cNvPr id="36" name="Shape 31"/>
          <p:cNvSpPr/>
          <p:nvPr/>
        </p:nvSpPr>
        <p:spPr>
          <a:xfrm>
            <a:off x="5943600" y="5157216"/>
            <a:ext cx="594360" cy="594360"/>
          </a:xfrm>
          <a:prstGeom prst="ellipse">
            <a:avLst/>
          </a:prstGeom>
          <a:solidFill>
            <a:srgbClr val="0B3C5D"/>
          </a:solidFill>
          <a:ln/>
        </p:spPr>
      </p:sp>
      <p:pic>
        <p:nvPicPr>
          <p:cNvPr id="37" name="Image 3" descr="/home/claude/proyecto_apt/icons/users.png">    </p:cNvPr>
          <p:cNvPicPr>
            <a:picLocks noChangeAspect="1"/>
          </p:cNvPicPr>
          <p:nvPr/>
        </p:nvPicPr>
        <p:blipFill>
          <a:blip r:embed="rId4"/>
          <a:stretch>
            <a:fillRect/>
          </a:stretch>
        </p:blipFill>
        <p:spPr>
          <a:xfrm>
            <a:off x="6086246" y="5299862"/>
            <a:ext cx="309067" cy="309067"/>
          </a:xfrm>
          <a:prstGeom prst="rect">
            <a:avLst/>
          </a:prstGeom>
        </p:spPr>
      </p:pic>
      <p:sp>
        <p:nvSpPr>
          <p:cNvPr id="38" name="Text 32"/>
          <p:cNvSpPr/>
          <p:nvPr/>
        </p:nvSpPr>
        <p:spPr>
          <a:xfrm>
            <a:off x="6675120" y="5111496"/>
            <a:ext cx="4754880" cy="292608"/>
          </a:xfrm>
          <a:prstGeom prst="rect">
            <a:avLst/>
          </a:prstGeom>
          <a:noFill/>
          <a:ln/>
        </p:spPr>
        <p:txBody>
          <a:bodyPr wrap="square" rtlCol="0" anchor="ctr"/>
          <a:lstStyle/>
          <a:p>
            <a:pPr indent="0" marL="0">
              <a:buNone/>
            </a:pPr>
            <a:r>
              <a:rPr lang="en-US" sz="1450" b="1" dirty="0">
                <a:solidFill>
                  <a:srgbClr val="0B3C5D"/>
                </a:solidFill>
                <a:latin typeface="Cambria" pitchFamily="34" charset="0"/>
                <a:ea typeface="Cambria" pitchFamily="34" charset="-122"/>
                <a:cs typeface="Cambria" pitchFamily="34" charset="-120"/>
              </a:rPr>
              <a:t>Bárbara Ortega</a:t>
            </a:r>
            <a:endParaRPr lang="en-US" sz="1450" dirty="0"/>
          </a:p>
        </p:txBody>
      </p:sp>
      <p:sp>
        <p:nvSpPr>
          <p:cNvPr id="39" name="Text 33"/>
          <p:cNvSpPr/>
          <p:nvPr/>
        </p:nvSpPr>
        <p:spPr>
          <a:xfrm>
            <a:off x="6675120" y="5385816"/>
            <a:ext cx="4754880" cy="256032"/>
          </a:xfrm>
          <a:prstGeom prst="rect">
            <a:avLst/>
          </a:prstGeom>
          <a:noFill/>
          <a:ln/>
        </p:spPr>
        <p:txBody>
          <a:bodyPr wrap="square" rtlCol="0" anchor="ctr"/>
          <a:lstStyle/>
          <a:p>
            <a:pPr indent="0" marL="0">
              <a:buNone/>
            </a:pPr>
            <a:r>
              <a:rPr lang="en-US" sz="1150" b="1" i="1" dirty="0">
                <a:solidFill>
                  <a:srgbClr val="E76F51"/>
                </a:solidFill>
                <a:latin typeface="Calibri" pitchFamily="34" charset="0"/>
                <a:ea typeface="Calibri" pitchFamily="34" charset="-122"/>
                <a:cs typeface="Calibri" pitchFamily="34" charset="-120"/>
              </a:rPr>
              <a:t>Documentación &amp; QA</a:t>
            </a:r>
            <a:endParaRPr lang="en-US" sz="1150" dirty="0"/>
          </a:p>
        </p:txBody>
      </p:sp>
      <p:sp>
        <p:nvSpPr>
          <p:cNvPr id="40" name="Text 34"/>
          <p:cNvSpPr/>
          <p:nvPr/>
        </p:nvSpPr>
        <p:spPr>
          <a:xfrm>
            <a:off x="5943600" y="5797296"/>
            <a:ext cx="5486400" cy="640080"/>
          </a:xfrm>
          <a:prstGeom prst="rect">
            <a:avLst/>
          </a:prstGeom>
          <a:noFill/>
          <a:ln/>
        </p:spPr>
        <p:txBody>
          <a:bodyPr wrap="square" rtlCol="0" anchor="t"/>
          <a:lstStyle/>
          <a:p>
            <a:pPr indent="0" marL="0">
              <a:lnSpc>
                <a:spcPct val="115000"/>
              </a:lnSpc>
              <a:buNone/>
            </a:pPr>
            <a:r>
              <a:rPr lang="en-US" sz="1100" dirty="0">
                <a:solidFill>
                  <a:srgbClr val="22333B"/>
                </a:solidFill>
                <a:latin typeface="Calibri" pitchFamily="34" charset="0"/>
                <a:ea typeface="Calibri" pitchFamily="34" charset="-122"/>
                <a:cs typeface="Calibri" pitchFamily="34" charset="-120"/>
              </a:rPr>
              <a:t>Elabora los documentos institucionales (Product Vision, Backlog, UML, ER), ejecuta el plan de pruebas y redacta el manual técnico.</a:t>
            </a:r>
            <a:endParaRPr lang="en-US" sz="1100" dirty="0"/>
          </a:p>
        </p:txBody>
      </p:sp>
      <p:sp>
        <p:nvSpPr>
          <p:cNvPr id="41" name="Text 35"/>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42" name="Text 36"/>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7. PLAN DE TRABAJO</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Plan de Trabajo del Proyecto APT</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5166360"/>
        </p:xfrm>
        <a:graphic>
          <a:graphicData uri="http://schemas.openxmlformats.org/drawingml/2006/table">
            <a:tbl>
              <a:tblPr/>
              <a:tblGrid>
                <a:gridCol w="5074920"/>
                <a:gridCol w="2743200"/>
                <a:gridCol w="1554480"/>
                <a:gridCol w="1737360"/>
              </a:tblGrid>
              <a:tr h="43053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Actividad / Tarea</a:t>
                      </a:r>
                      <a:endParaRPr lang="en-US" sz="11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B3C5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Responsable(s)</a:t>
                      </a:r>
                      <a:endParaRPr lang="en-US" sz="11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B3C5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Duración</a:t>
                      </a:r>
                      <a:endParaRPr lang="en-US" sz="11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B3C5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Competencia</a:t>
                      </a:r>
                      <a:endParaRPr lang="en-US" sz="11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B3C5D"/>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Levantamiento y análisis de requerimientos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Isabel Alvarado</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2 semanas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Definición funcional y prototipado</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Isabel, Bárbara y Matías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2 semanas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C2 y C4</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Diseño del modelo de datos relacional</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Matías Parancán</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1 semana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Implementación de la base de datos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Matías Parancán</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1 semana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Desarrollo del módulo de control de stock</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Isabel y Matías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2 semanas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C4</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Desarrollo del panel de administración y reportes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Isabel Alvarado</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2 semanas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C4 y C3</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Desarrollo de la interfaz de usuario (Frontend)</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Isabel Alvarado</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2 semanas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C4</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Integración y construcción del MVP</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Matías Parancán</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1 semana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C4</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Diseño y ejecución del plan de pruebas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Bárbara Ortega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2 semanas</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Validación en entorno simulado</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Isabel y Bárbara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1 semana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C1, C2 y C4</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r h="430530">
                <a:tc>
                  <a:txBody>
                    <a:bodyPr/>
                    <a:lstStyle/>
                    <a:p>
                      <a:pPr algn="l" indent="0" marL="0">
                        <a:buNone/>
                      </a:pPr>
                      <a:r>
                        <a:rPr lang="en-US" sz="1050" dirty="0">
                          <a:solidFill>
                            <a:srgbClr val="22333B"/>
                          </a:solidFill>
                          <a:latin typeface="Calibri" pitchFamily="34" charset="0"/>
                          <a:ea typeface="Calibri" pitchFamily="34" charset="-122"/>
                          <a:cs typeface="Calibri" pitchFamily="34" charset="-120"/>
                        </a:rPr>
                        <a:t>Consolidación y cierre del proyecto</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Bárbara Ortega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1 semana</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33B"/>
                          </a:solidFill>
                          <a:latin typeface="Calibri" pitchFamily="34" charset="0"/>
                          <a:ea typeface="Calibri" pitchFamily="34" charset="-122"/>
                          <a:cs typeface="Calibri" pitchFamily="34" charset="-120"/>
                        </a:rPr>
                        <a:t>C1 y C2</a:t>
                      </a:r>
                      <a:endParaRPr lang="en-US" sz="10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6" name="Text 3"/>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7. PLAN DE TRABAJO</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Carta Gantt — Fase 2 (Desarrollo)</a:t>
            </a:r>
            <a:endParaRPr lang="en-US" sz="3000" dirty="0"/>
          </a:p>
        </p:txBody>
      </p:sp>
      <p:sp>
        <p:nvSpPr>
          <p:cNvPr id="4" name="Shape 2"/>
          <p:cNvSpPr/>
          <p:nvPr/>
        </p:nvSpPr>
        <p:spPr>
          <a:xfrm>
            <a:off x="4069080" y="1207008"/>
            <a:ext cx="843280" cy="292608"/>
          </a:xfrm>
          <a:prstGeom prst="rect">
            <a:avLst/>
          </a:prstGeom>
          <a:solidFill>
            <a:srgbClr val="0B3C5D"/>
          </a:solidFill>
          <a:ln w="6350">
            <a:solidFill>
              <a:srgbClr val="FFFFFF"/>
            </a:solidFill>
            <a:prstDash val="solid"/>
          </a:ln>
        </p:spPr>
      </p:sp>
      <p:sp>
        <p:nvSpPr>
          <p:cNvPr id="5" name="Text 3"/>
          <p:cNvSpPr/>
          <p:nvPr/>
        </p:nvSpPr>
        <p:spPr>
          <a:xfrm>
            <a:off x="406908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S5</a:t>
            </a:r>
            <a:endParaRPr lang="en-US" sz="950" dirty="0"/>
          </a:p>
        </p:txBody>
      </p:sp>
      <p:sp>
        <p:nvSpPr>
          <p:cNvPr id="6" name="Shape 4"/>
          <p:cNvSpPr/>
          <p:nvPr/>
        </p:nvSpPr>
        <p:spPr>
          <a:xfrm>
            <a:off x="4912360" y="1207008"/>
            <a:ext cx="843280" cy="292608"/>
          </a:xfrm>
          <a:prstGeom prst="rect">
            <a:avLst/>
          </a:prstGeom>
          <a:solidFill>
            <a:srgbClr val="0B3C5D"/>
          </a:solidFill>
          <a:ln w="6350">
            <a:solidFill>
              <a:srgbClr val="FFFFFF"/>
            </a:solidFill>
            <a:prstDash val="solid"/>
          </a:ln>
        </p:spPr>
      </p:sp>
      <p:sp>
        <p:nvSpPr>
          <p:cNvPr id="7" name="Text 5"/>
          <p:cNvSpPr/>
          <p:nvPr/>
        </p:nvSpPr>
        <p:spPr>
          <a:xfrm>
            <a:off x="491236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S6</a:t>
            </a:r>
            <a:endParaRPr lang="en-US" sz="950" dirty="0"/>
          </a:p>
        </p:txBody>
      </p:sp>
      <p:sp>
        <p:nvSpPr>
          <p:cNvPr id="8" name="Shape 6"/>
          <p:cNvSpPr/>
          <p:nvPr/>
        </p:nvSpPr>
        <p:spPr>
          <a:xfrm>
            <a:off x="5755640" y="1207008"/>
            <a:ext cx="843280" cy="292608"/>
          </a:xfrm>
          <a:prstGeom prst="rect">
            <a:avLst/>
          </a:prstGeom>
          <a:solidFill>
            <a:srgbClr val="0B3C5D"/>
          </a:solidFill>
          <a:ln w="6350">
            <a:solidFill>
              <a:srgbClr val="FFFFFF"/>
            </a:solidFill>
            <a:prstDash val="solid"/>
          </a:ln>
        </p:spPr>
      </p:sp>
      <p:sp>
        <p:nvSpPr>
          <p:cNvPr id="9" name="Text 7"/>
          <p:cNvSpPr/>
          <p:nvPr/>
        </p:nvSpPr>
        <p:spPr>
          <a:xfrm>
            <a:off x="575564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S7</a:t>
            </a:r>
            <a:endParaRPr lang="en-US" sz="950" dirty="0"/>
          </a:p>
        </p:txBody>
      </p:sp>
      <p:sp>
        <p:nvSpPr>
          <p:cNvPr id="10" name="Shape 8"/>
          <p:cNvSpPr/>
          <p:nvPr/>
        </p:nvSpPr>
        <p:spPr>
          <a:xfrm>
            <a:off x="6598920" y="1207008"/>
            <a:ext cx="843280" cy="292608"/>
          </a:xfrm>
          <a:prstGeom prst="rect">
            <a:avLst/>
          </a:prstGeom>
          <a:solidFill>
            <a:srgbClr val="0B3C5D"/>
          </a:solidFill>
          <a:ln w="6350">
            <a:solidFill>
              <a:srgbClr val="FFFFFF"/>
            </a:solidFill>
            <a:prstDash val="solid"/>
          </a:ln>
        </p:spPr>
      </p:sp>
      <p:sp>
        <p:nvSpPr>
          <p:cNvPr id="11" name="Text 9"/>
          <p:cNvSpPr/>
          <p:nvPr/>
        </p:nvSpPr>
        <p:spPr>
          <a:xfrm>
            <a:off x="659892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S8</a:t>
            </a:r>
            <a:endParaRPr lang="en-US" sz="950" dirty="0"/>
          </a:p>
        </p:txBody>
      </p:sp>
      <p:sp>
        <p:nvSpPr>
          <p:cNvPr id="12" name="Shape 10"/>
          <p:cNvSpPr/>
          <p:nvPr/>
        </p:nvSpPr>
        <p:spPr>
          <a:xfrm>
            <a:off x="7442200" y="1207008"/>
            <a:ext cx="843280" cy="292608"/>
          </a:xfrm>
          <a:prstGeom prst="rect">
            <a:avLst/>
          </a:prstGeom>
          <a:solidFill>
            <a:srgbClr val="0B3C5D"/>
          </a:solidFill>
          <a:ln w="6350">
            <a:solidFill>
              <a:srgbClr val="FFFFFF"/>
            </a:solidFill>
            <a:prstDash val="solid"/>
          </a:ln>
        </p:spPr>
      </p:sp>
      <p:sp>
        <p:nvSpPr>
          <p:cNvPr id="13" name="Text 11"/>
          <p:cNvSpPr/>
          <p:nvPr/>
        </p:nvSpPr>
        <p:spPr>
          <a:xfrm>
            <a:off x="744220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S9</a:t>
            </a:r>
            <a:endParaRPr lang="en-US" sz="950" dirty="0"/>
          </a:p>
        </p:txBody>
      </p:sp>
      <p:sp>
        <p:nvSpPr>
          <p:cNvPr id="14" name="Shape 12"/>
          <p:cNvSpPr/>
          <p:nvPr/>
        </p:nvSpPr>
        <p:spPr>
          <a:xfrm>
            <a:off x="8285480" y="1207008"/>
            <a:ext cx="843280" cy="292608"/>
          </a:xfrm>
          <a:prstGeom prst="rect">
            <a:avLst/>
          </a:prstGeom>
          <a:solidFill>
            <a:srgbClr val="0B3C5D"/>
          </a:solidFill>
          <a:ln w="6350">
            <a:solidFill>
              <a:srgbClr val="FFFFFF"/>
            </a:solidFill>
            <a:prstDash val="solid"/>
          </a:ln>
        </p:spPr>
      </p:sp>
      <p:sp>
        <p:nvSpPr>
          <p:cNvPr id="15" name="Text 13"/>
          <p:cNvSpPr/>
          <p:nvPr/>
        </p:nvSpPr>
        <p:spPr>
          <a:xfrm>
            <a:off x="828548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S10</a:t>
            </a:r>
            <a:endParaRPr lang="en-US" sz="950" dirty="0"/>
          </a:p>
        </p:txBody>
      </p:sp>
      <p:sp>
        <p:nvSpPr>
          <p:cNvPr id="16" name="Shape 14"/>
          <p:cNvSpPr/>
          <p:nvPr/>
        </p:nvSpPr>
        <p:spPr>
          <a:xfrm>
            <a:off x="9128760" y="1207008"/>
            <a:ext cx="843280" cy="292608"/>
          </a:xfrm>
          <a:prstGeom prst="rect">
            <a:avLst/>
          </a:prstGeom>
          <a:solidFill>
            <a:srgbClr val="0B3C5D"/>
          </a:solidFill>
          <a:ln w="6350">
            <a:solidFill>
              <a:srgbClr val="FFFFFF"/>
            </a:solidFill>
            <a:prstDash val="solid"/>
          </a:ln>
        </p:spPr>
      </p:sp>
      <p:sp>
        <p:nvSpPr>
          <p:cNvPr id="17" name="Text 15"/>
          <p:cNvSpPr/>
          <p:nvPr/>
        </p:nvSpPr>
        <p:spPr>
          <a:xfrm>
            <a:off x="912876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S11</a:t>
            </a:r>
            <a:endParaRPr lang="en-US" sz="950" dirty="0"/>
          </a:p>
        </p:txBody>
      </p:sp>
      <p:sp>
        <p:nvSpPr>
          <p:cNvPr id="18" name="Shape 16"/>
          <p:cNvSpPr/>
          <p:nvPr/>
        </p:nvSpPr>
        <p:spPr>
          <a:xfrm>
            <a:off x="9972040" y="1207008"/>
            <a:ext cx="843280" cy="292608"/>
          </a:xfrm>
          <a:prstGeom prst="rect">
            <a:avLst/>
          </a:prstGeom>
          <a:solidFill>
            <a:srgbClr val="0B3C5D"/>
          </a:solidFill>
          <a:ln w="6350">
            <a:solidFill>
              <a:srgbClr val="FFFFFF"/>
            </a:solidFill>
            <a:prstDash val="solid"/>
          </a:ln>
        </p:spPr>
      </p:sp>
      <p:sp>
        <p:nvSpPr>
          <p:cNvPr id="19" name="Text 17"/>
          <p:cNvSpPr/>
          <p:nvPr/>
        </p:nvSpPr>
        <p:spPr>
          <a:xfrm>
            <a:off x="997204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S12</a:t>
            </a:r>
            <a:endParaRPr lang="en-US" sz="950" dirty="0"/>
          </a:p>
        </p:txBody>
      </p:sp>
      <p:sp>
        <p:nvSpPr>
          <p:cNvPr id="20" name="Shape 18"/>
          <p:cNvSpPr/>
          <p:nvPr/>
        </p:nvSpPr>
        <p:spPr>
          <a:xfrm>
            <a:off x="10815320" y="1207008"/>
            <a:ext cx="843280" cy="292608"/>
          </a:xfrm>
          <a:prstGeom prst="rect">
            <a:avLst/>
          </a:prstGeom>
          <a:solidFill>
            <a:srgbClr val="0B3C5D"/>
          </a:solidFill>
          <a:ln w="6350">
            <a:solidFill>
              <a:srgbClr val="FFFFFF"/>
            </a:solidFill>
            <a:prstDash val="solid"/>
          </a:ln>
        </p:spPr>
      </p:sp>
      <p:sp>
        <p:nvSpPr>
          <p:cNvPr id="21" name="Text 19"/>
          <p:cNvSpPr/>
          <p:nvPr/>
        </p:nvSpPr>
        <p:spPr>
          <a:xfrm>
            <a:off x="10815320" y="1207008"/>
            <a:ext cx="8432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S13</a:t>
            </a:r>
            <a:endParaRPr lang="en-US" sz="950" dirty="0"/>
          </a:p>
        </p:txBody>
      </p:sp>
      <p:sp>
        <p:nvSpPr>
          <p:cNvPr id="22" name="Shape 20"/>
          <p:cNvSpPr/>
          <p:nvPr/>
        </p:nvSpPr>
        <p:spPr>
          <a:xfrm>
            <a:off x="548640" y="1499616"/>
            <a:ext cx="3520440" cy="397764"/>
          </a:xfrm>
          <a:prstGeom prst="rect">
            <a:avLst/>
          </a:prstGeom>
          <a:solidFill>
            <a:srgbClr val="FFFFFF"/>
          </a:solidFill>
          <a:ln w="6350">
            <a:solidFill>
              <a:srgbClr val="DCE6E9"/>
            </a:solidFill>
            <a:prstDash val="solid"/>
          </a:ln>
        </p:spPr>
      </p:sp>
      <p:sp>
        <p:nvSpPr>
          <p:cNvPr id="23" name="Text 21"/>
          <p:cNvSpPr/>
          <p:nvPr/>
        </p:nvSpPr>
        <p:spPr>
          <a:xfrm>
            <a:off x="621792" y="1499616"/>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Levantamiento y análisis de requerimientos</a:t>
            </a:r>
            <a:endParaRPr lang="en-US" sz="950" dirty="0"/>
          </a:p>
        </p:txBody>
      </p:sp>
      <p:sp>
        <p:nvSpPr>
          <p:cNvPr id="24" name="Shape 22"/>
          <p:cNvSpPr/>
          <p:nvPr/>
        </p:nvSpPr>
        <p:spPr>
          <a:xfrm>
            <a:off x="4069080" y="1499616"/>
            <a:ext cx="843280" cy="397764"/>
          </a:xfrm>
          <a:prstGeom prst="rect">
            <a:avLst/>
          </a:prstGeom>
          <a:solidFill>
            <a:srgbClr val="FFFFFF"/>
          </a:solidFill>
          <a:ln w="6350">
            <a:solidFill>
              <a:srgbClr val="DCE6E9"/>
            </a:solidFill>
            <a:prstDash val="solid"/>
          </a:ln>
        </p:spPr>
      </p:sp>
      <p:sp>
        <p:nvSpPr>
          <p:cNvPr id="25" name="Shape 23"/>
          <p:cNvSpPr/>
          <p:nvPr/>
        </p:nvSpPr>
        <p:spPr>
          <a:xfrm>
            <a:off x="4912360" y="1499616"/>
            <a:ext cx="843280" cy="397764"/>
          </a:xfrm>
          <a:prstGeom prst="rect">
            <a:avLst/>
          </a:prstGeom>
          <a:solidFill>
            <a:srgbClr val="FFFFFF"/>
          </a:solidFill>
          <a:ln w="6350">
            <a:solidFill>
              <a:srgbClr val="DCE6E9"/>
            </a:solidFill>
            <a:prstDash val="solid"/>
          </a:ln>
        </p:spPr>
      </p:sp>
      <p:sp>
        <p:nvSpPr>
          <p:cNvPr id="26" name="Shape 24"/>
          <p:cNvSpPr/>
          <p:nvPr/>
        </p:nvSpPr>
        <p:spPr>
          <a:xfrm>
            <a:off x="5755640" y="1499616"/>
            <a:ext cx="843280" cy="397764"/>
          </a:xfrm>
          <a:prstGeom prst="rect">
            <a:avLst/>
          </a:prstGeom>
          <a:solidFill>
            <a:srgbClr val="FFFFFF"/>
          </a:solidFill>
          <a:ln w="6350">
            <a:solidFill>
              <a:srgbClr val="DCE6E9"/>
            </a:solidFill>
            <a:prstDash val="solid"/>
          </a:ln>
        </p:spPr>
      </p:sp>
      <p:sp>
        <p:nvSpPr>
          <p:cNvPr id="27" name="Shape 25"/>
          <p:cNvSpPr/>
          <p:nvPr/>
        </p:nvSpPr>
        <p:spPr>
          <a:xfrm>
            <a:off x="6598920" y="1499616"/>
            <a:ext cx="843280" cy="397764"/>
          </a:xfrm>
          <a:prstGeom prst="rect">
            <a:avLst/>
          </a:prstGeom>
          <a:solidFill>
            <a:srgbClr val="FFFFFF"/>
          </a:solidFill>
          <a:ln w="6350">
            <a:solidFill>
              <a:srgbClr val="DCE6E9"/>
            </a:solidFill>
            <a:prstDash val="solid"/>
          </a:ln>
        </p:spPr>
      </p:sp>
      <p:sp>
        <p:nvSpPr>
          <p:cNvPr id="28" name="Shape 26"/>
          <p:cNvSpPr/>
          <p:nvPr/>
        </p:nvSpPr>
        <p:spPr>
          <a:xfrm>
            <a:off x="7442200" y="1499616"/>
            <a:ext cx="843280" cy="397764"/>
          </a:xfrm>
          <a:prstGeom prst="rect">
            <a:avLst/>
          </a:prstGeom>
          <a:solidFill>
            <a:srgbClr val="FFFFFF"/>
          </a:solidFill>
          <a:ln w="6350">
            <a:solidFill>
              <a:srgbClr val="DCE6E9"/>
            </a:solidFill>
            <a:prstDash val="solid"/>
          </a:ln>
        </p:spPr>
      </p:sp>
      <p:sp>
        <p:nvSpPr>
          <p:cNvPr id="29" name="Shape 27"/>
          <p:cNvSpPr/>
          <p:nvPr/>
        </p:nvSpPr>
        <p:spPr>
          <a:xfrm>
            <a:off x="8285480" y="1499616"/>
            <a:ext cx="843280" cy="397764"/>
          </a:xfrm>
          <a:prstGeom prst="rect">
            <a:avLst/>
          </a:prstGeom>
          <a:solidFill>
            <a:srgbClr val="FFFFFF"/>
          </a:solidFill>
          <a:ln w="6350">
            <a:solidFill>
              <a:srgbClr val="DCE6E9"/>
            </a:solidFill>
            <a:prstDash val="solid"/>
          </a:ln>
        </p:spPr>
      </p:sp>
      <p:sp>
        <p:nvSpPr>
          <p:cNvPr id="30" name="Shape 28"/>
          <p:cNvSpPr/>
          <p:nvPr/>
        </p:nvSpPr>
        <p:spPr>
          <a:xfrm>
            <a:off x="9128760" y="1499616"/>
            <a:ext cx="843280" cy="397764"/>
          </a:xfrm>
          <a:prstGeom prst="rect">
            <a:avLst/>
          </a:prstGeom>
          <a:solidFill>
            <a:srgbClr val="FFFFFF"/>
          </a:solidFill>
          <a:ln w="6350">
            <a:solidFill>
              <a:srgbClr val="DCE6E9"/>
            </a:solidFill>
            <a:prstDash val="solid"/>
          </a:ln>
        </p:spPr>
      </p:sp>
      <p:sp>
        <p:nvSpPr>
          <p:cNvPr id="31" name="Shape 29"/>
          <p:cNvSpPr/>
          <p:nvPr/>
        </p:nvSpPr>
        <p:spPr>
          <a:xfrm>
            <a:off x="9972040" y="1499616"/>
            <a:ext cx="843280" cy="397764"/>
          </a:xfrm>
          <a:prstGeom prst="rect">
            <a:avLst/>
          </a:prstGeom>
          <a:solidFill>
            <a:srgbClr val="FFFFFF"/>
          </a:solidFill>
          <a:ln w="6350">
            <a:solidFill>
              <a:srgbClr val="DCE6E9"/>
            </a:solidFill>
            <a:prstDash val="solid"/>
          </a:ln>
        </p:spPr>
      </p:sp>
      <p:sp>
        <p:nvSpPr>
          <p:cNvPr id="32" name="Shape 30"/>
          <p:cNvSpPr/>
          <p:nvPr/>
        </p:nvSpPr>
        <p:spPr>
          <a:xfrm>
            <a:off x="10815320" y="1499616"/>
            <a:ext cx="843280" cy="397764"/>
          </a:xfrm>
          <a:prstGeom prst="rect">
            <a:avLst/>
          </a:prstGeom>
          <a:solidFill>
            <a:srgbClr val="FFFFFF"/>
          </a:solidFill>
          <a:ln w="6350">
            <a:solidFill>
              <a:srgbClr val="DCE6E9"/>
            </a:solidFill>
            <a:prstDash val="solid"/>
          </a:ln>
        </p:spPr>
      </p:sp>
      <p:sp>
        <p:nvSpPr>
          <p:cNvPr id="33" name="Shape 31"/>
          <p:cNvSpPr/>
          <p:nvPr/>
        </p:nvSpPr>
        <p:spPr>
          <a:xfrm>
            <a:off x="4096512" y="1554480"/>
            <a:ext cx="1631696" cy="288036"/>
          </a:xfrm>
          <a:prstGeom prst="roundRect">
            <a:avLst>
              <a:gd name="adj" fmla="val 12698"/>
            </a:avLst>
          </a:prstGeom>
          <a:solidFill>
            <a:srgbClr val="0B3C5D"/>
          </a:solidFill>
          <a:ln/>
        </p:spPr>
      </p:sp>
      <p:sp>
        <p:nvSpPr>
          <p:cNvPr id="34" name="Shape 32"/>
          <p:cNvSpPr/>
          <p:nvPr/>
        </p:nvSpPr>
        <p:spPr>
          <a:xfrm>
            <a:off x="548640" y="1897380"/>
            <a:ext cx="3520440" cy="397764"/>
          </a:xfrm>
          <a:prstGeom prst="rect">
            <a:avLst/>
          </a:prstGeom>
          <a:solidFill>
            <a:srgbClr val="E4EFF1"/>
          </a:solidFill>
          <a:ln w="6350">
            <a:solidFill>
              <a:srgbClr val="DCE6E9"/>
            </a:solidFill>
            <a:prstDash val="solid"/>
          </a:ln>
        </p:spPr>
      </p:sp>
      <p:sp>
        <p:nvSpPr>
          <p:cNvPr id="35" name="Text 33"/>
          <p:cNvSpPr/>
          <p:nvPr/>
        </p:nvSpPr>
        <p:spPr>
          <a:xfrm>
            <a:off x="621792" y="1897380"/>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Definición funcional y prototipado</a:t>
            </a:r>
            <a:endParaRPr lang="en-US" sz="950" dirty="0"/>
          </a:p>
        </p:txBody>
      </p:sp>
      <p:sp>
        <p:nvSpPr>
          <p:cNvPr id="36" name="Shape 34"/>
          <p:cNvSpPr/>
          <p:nvPr/>
        </p:nvSpPr>
        <p:spPr>
          <a:xfrm>
            <a:off x="4069080" y="1897380"/>
            <a:ext cx="843280" cy="397764"/>
          </a:xfrm>
          <a:prstGeom prst="rect">
            <a:avLst/>
          </a:prstGeom>
          <a:solidFill>
            <a:srgbClr val="E4EFF1"/>
          </a:solidFill>
          <a:ln w="6350">
            <a:solidFill>
              <a:srgbClr val="DCE6E9"/>
            </a:solidFill>
            <a:prstDash val="solid"/>
          </a:ln>
        </p:spPr>
      </p:sp>
      <p:sp>
        <p:nvSpPr>
          <p:cNvPr id="37" name="Shape 35"/>
          <p:cNvSpPr/>
          <p:nvPr/>
        </p:nvSpPr>
        <p:spPr>
          <a:xfrm>
            <a:off x="4912360" y="1897380"/>
            <a:ext cx="843280" cy="397764"/>
          </a:xfrm>
          <a:prstGeom prst="rect">
            <a:avLst/>
          </a:prstGeom>
          <a:solidFill>
            <a:srgbClr val="E4EFF1"/>
          </a:solidFill>
          <a:ln w="6350">
            <a:solidFill>
              <a:srgbClr val="DCE6E9"/>
            </a:solidFill>
            <a:prstDash val="solid"/>
          </a:ln>
        </p:spPr>
      </p:sp>
      <p:sp>
        <p:nvSpPr>
          <p:cNvPr id="38" name="Shape 36"/>
          <p:cNvSpPr/>
          <p:nvPr/>
        </p:nvSpPr>
        <p:spPr>
          <a:xfrm>
            <a:off x="5755640" y="1897380"/>
            <a:ext cx="843280" cy="397764"/>
          </a:xfrm>
          <a:prstGeom prst="rect">
            <a:avLst/>
          </a:prstGeom>
          <a:solidFill>
            <a:srgbClr val="E4EFF1"/>
          </a:solidFill>
          <a:ln w="6350">
            <a:solidFill>
              <a:srgbClr val="DCE6E9"/>
            </a:solidFill>
            <a:prstDash val="solid"/>
          </a:ln>
        </p:spPr>
      </p:sp>
      <p:sp>
        <p:nvSpPr>
          <p:cNvPr id="39" name="Shape 37"/>
          <p:cNvSpPr/>
          <p:nvPr/>
        </p:nvSpPr>
        <p:spPr>
          <a:xfrm>
            <a:off x="6598920" y="1897380"/>
            <a:ext cx="843280" cy="397764"/>
          </a:xfrm>
          <a:prstGeom prst="rect">
            <a:avLst/>
          </a:prstGeom>
          <a:solidFill>
            <a:srgbClr val="E4EFF1"/>
          </a:solidFill>
          <a:ln w="6350">
            <a:solidFill>
              <a:srgbClr val="DCE6E9"/>
            </a:solidFill>
            <a:prstDash val="solid"/>
          </a:ln>
        </p:spPr>
      </p:sp>
      <p:sp>
        <p:nvSpPr>
          <p:cNvPr id="40" name="Shape 38"/>
          <p:cNvSpPr/>
          <p:nvPr/>
        </p:nvSpPr>
        <p:spPr>
          <a:xfrm>
            <a:off x="7442200" y="1897380"/>
            <a:ext cx="843280" cy="397764"/>
          </a:xfrm>
          <a:prstGeom prst="rect">
            <a:avLst/>
          </a:prstGeom>
          <a:solidFill>
            <a:srgbClr val="E4EFF1"/>
          </a:solidFill>
          <a:ln w="6350">
            <a:solidFill>
              <a:srgbClr val="DCE6E9"/>
            </a:solidFill>
            <a:prstDash val="solid"/>
          </a:ln>
        </p:spPr>
      </p:sp>
      <p:sp>
        <p:nvSpPr>
          <p:cNvPr id="41" name="Shape 39"/>
          <p:cNvSpPr/>
          <p:nvPr/>
        </p:nvSpPr>
        <p:spPr>
          <a:xfrm>
            <a:off x="8285480" y="1897380"/>
            <a:ext cx="843280" cy="397764"/>
          </a:xfrm>
          <a:prstGeom prst="rect">
            <a:avLst/>
          </a:prstGeom>
          <a:solidFill>
            <a:srgbClr val="E4EFF1"/>
          </a:solidFill>
          <a:ln w="6350">
            <a:solidFill>
              <a:srgbClr val="DCE6E9"/>
            </a:solidFill>
            <a:prstDash val="solid"/>
          </a:ln>
        </p:spPr>
      </p:sp>
      <p:sp>
        <p:nvSpPr>
          <p:cNvPr id="42" name="Shape 40"/>
          <p:cNvSpPr/>
          <p:nvPr/>
        </p:nvSpPr>
        <p:spPr>
          <a:xfrm>
            <a:off x="9128760" y="1897380"/>
            <a:ext cx="843280" cy="397764"/>
          </a:xfrm>
          <a:prstGeom prst="rect">
            <a:avLst/>
          </a:prstGeom>
          <a:solidFill>
            <a:srgbClr val="E4EFF1"/>
          </a:solidFill>
          <a:ln w="6350">
            <a:solidFill>
              <a:srgbClr val="DCE6E9"/>
            </a:solidFill>
            <a:prstDash val="solid"/>
          </a:ln>
        </p:spPr>
      </p:sp>
      <p:sp>
        <p:nvSpPr>
          <p:cNvPr id="43" name="Shape 41"/>
          <p:cNvSpPr/>
          <p:nvPr/>
        </p:nvSpPr>
        <p:spPr>
          <a:xfrm>
            <a:off x="9972040" y="1897380"/>
            <a:ext cx="843280" cy="397764"/>
          </a:xfrm>
          <a:prstGeom prst="rect">
            <a:avLst/>
          </a:prstGeom>
          <a:solidFill>
            <a:srgbClr val="E4EFF1"/>
          </a:solidFill>
          <a:ln w="6350">
            <a:solidFill>
              <a:srgbClr val="DCE6E9"/>
            </a:solidFill>
            <a:prstDash val="solid"/>
          </a:ln>
        </p:spPr>
      </p:sp>
      <p:sp>
        <p:nvSpPr>
          <p:cNvPr id="44" name="Shape 42"/>
          <p:cNvSpPr/>
          <p:nvPr/>
        </p:nvSpPr>
        <p:spPr>
          <a:xfrm>
            <a:off x="10815320" y="1897380"/>
            <a:ext cx="843280" cy="397764"/>
          </a:xfrm>
          <a:prstGeom prst="rect">
            <a:avLst/>
          </a:prstGeom>
          <a:solidFill>
            <a:srgbClr val="E4EFF1"/>
          </a:solidFill>
          <a:ln w="6350">
            <a:solidFill>
              <a:srgbClr val="DCE6E9"/>
            </a:solidFill>
            <a:prstDash val="solid"/>
          </a:ln>
        </p:spPr>
      </p:sp>
      <p:sp>
        <p:nvSpPr>
          <p:cNvPr id="45" name="Shape 43"/>
          <p:cNvSpPr/>
          <p:nvPr/>
        </p:nvSpPr>
        <p:spPr>
          <a:xfrm>
            <a:off x="4939792" y="1952244"/>
            <a:ext cx="1631696" cy="288036"/>
          </a:xfrm>
          <a:prstGeom prst="roundRect">
            <a:avLst>
              <a:gd name="adj" fmla="val 12698"/>
            </a:avLst>
          </a:prstGeom>
          <a:solidFill>
            <a:srgbClr val="1C7293"/>
          </a:solidFill>
          <a:ln/>
        </p:spPr>
      </p:sp>
      <p:sp>
        <p:nvSpPr>
          <p:cNvPr id="46" name="Shape 44"/>
          <p:cNvSpPr/>
          <p:nvPr/>
        </p:nvSpPr>
        <p:spPr>
          <a:xfrm>
            <a:off x="548640" y="2295144"/>
            <a:ext cx="3520440" cy="397764"/>
          </a:xfrm>
          <a:prstGeom prst="rect">
            <a:avLst/>
          </a:prstGeom>
          <a:solidFill>
            <a:srgbClr val="FFFFFF"/>
          </a:solidFill>
          <a:ln w="6350">
            <a:solidFill>
              <a:srgbClr val="DCE6E9"/>
            </a:solidFill>
            <a:prstDash val="solid"/>
          </a:ln>
        </p:spPr>
      </p:sp>
      <p:sp>
        <p:nvSpPr>
          <p:cNvPr id="47" name="Text 45"/>
          <p:cNvSpPr/>
          <p:nvPr/>
        </p:nvSpPr>
        <p:spPr>
          <a:xfrm>
            <a:off x="621792" y="2295144"/>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Diseño del modelo de datos relacional</a:t>
            </a:r>
            <a:endParaRPr lang="en-US" sz="950" dirty="0"/>
          </a:p>
        </p:txBody>
      </p:sp>
      <p:sp>
        <p:nvSpPr>
          <p:cNvPr id="48" name="Shape 46"/>
          <p:cNvSpPr/>
          <p:nvPr/>
        </p:nvSpPr>
        <p:spPr>
          <a:xfrm>
            <a:off x="4069080" y="2295144"/>
            <a:ext cx="843280" cy="397764"/>
          </a:xfrm>
          <a:prstGeom prst="rect">
            <a:avLst/>
          </a:prstGeom>
          <a:solidFill>
            <a:srgbClr val="FFFFFF"/>
          </a:solidFill>
          <a:ln w="6350">
            <a:solidFill>
              <a:srgbClr val="DCE6E9"/>
            </a:solidFill>
            <a:prstDash val="solid"/>
          </a:ln>
        </p:spPr>
      </p:sp>
      <p:sp>
        <p:nvSpPr>
          <p:cNvPr id="49" name="Shape 47"/>
          <p:cNvSpPr/>
          <p:nvPr/>
        </p:nvSpPr>
        <p:spPr>
          <a:xfrm>
            <a:off x="4912360" y="2295144"/>
            <a:ext cx="843280" cy="397764"/>
          </a:xfrm>
          <a:prstGeom prst="rect">
            <a:avLst/>
          </a:prstGeom>
          <a:solidFill>
            <a:srgbClr val="FFFFFF"/>
          </a:solidFill>
          <a:ln w="6350">
            <a:solidFill>
              <a:srgbClr val="DCE6E9"/>
            </a:solidFill>
            <a:prstDash val="solid"/>
          </a:ln>
        </p:spPr>
      </p:sp>
      <p:sp>
        <p:nvSpPr>
          <p:cNvPr id="50" name="Shape 48"/>
          <p:cNvSpPr/>
          <p:nvPr/>
        </p:nvSpPr>
        <p:spPr>
          <a:xfrm>
            <a:off x="5755640" y="2295144"/>
            <a:ext cx="843280" cy="397764"/>
          </a:xfrm>
          <a:prstGeom prst="rect">
            <a:avLst/>
          </a:prstGeom>
          <a:solidFill>
            <a:srgbClr val="FFFFFF"/>
          </a:solidFill>
          <a:ln w="6350">
            <a:solidFill>
              <a:srgbClr val="DCE6E9"/>
            </a:solidFill>
            <a:prstDash val="solid"/>
          </a:ln>
        </p:spPr>
      </p:sp>
      <p:sp>
        <p:nvSpPr>
          <p:cNvPr id="51" name="Shape 49"/>
          <p:cNvSpPr/>
          <p:nvPr/>
        </p:nvSpPr>
        <p:spPr>
          <a:xfrm>
            <a:off x="6598920" y="2295144"/>
            <a:ext cx="843280" cy="397764"/>
          </a:xfrm>
          <a:prstGeom prst="rect">
            <a:avLst/>
          </a:prstGeom>
          <a:solidFill>
            <a:srgbClr val="FFFFFF"/>
          </a:solidFill>
          <a:ln w="6350">
            <a:solidFill>
              <a:srgbClr val="DCE6E9"/>
            </a:solidFill>
            <a:prstDash val="solid"/>
          </a:ln>
        </p:spPr>
      </p:sp>
      <p:sp>
        <p:nvSpPr>
          <p:cNvPr id="52" name="Shape 50"/>
          <p:cNvSpPr/>
          <p:nvPr/>
        </p:nvSpPr>
        <p:spPr>
          <a:xfrm>
            <a:off x="7442200" y="2295144"/>
            <a:ext cx="843280" cy="397764"/>
          </a:xfrm>
          <a:prstGeom prst="rect">
            <a:avLst/>
          </a:prstGeom>
          <a:solidFill>
            <a:srgbClr val="FFFFFF"/>
          </a:solidFill>
          <a:ln w="6350">
            <a:solidFill>
              <a:srgbClr val="DCE6E9"/>
            </a:solidFill>
            <a:prstDash val="solid"/>
          </a:ln>
        </p:spPr>
      </p:sp>
      <p:sp>
        <p:nvSpPr>
          <p:cNvPr id="53" name="Shape 51"/>
          <p:cNvSpPr/>
          <p:nvPr/>
        </p:nvSpPr>
        <p:spPr>
          <a:xfrm>
            <a:off x="8285480" y="2295144"/>
            <a:ext cx="843280" cy="397764"/>
          </a:xfrm>
          <a:prstGeom prst="rect">
            <a:avLst/>
          </a:prstGeom>
          <a:solidFill>
            <a:srgbClr val="FFFFFF"/>
          </a:solidFill>
          <a:ln w="6350">
            <a:solidFill>
              <a:srgbClr val="DCE6E9"/>
            </a:solidFill>
            <a:prstDash val="solid"/>
          </a:ln>
        </p:spPr>
      </p:sp>
      <p:sp>
        <p:nvSpPr>
          <p:cNvPr id="54" name="Shape 52"/>
          <p:cNvSpPr/>
          <p:nvPr/>
        </p:nvSpPr>
        <p:spPr>
          <a:xfrm>
            <a:off x="9128760" y="2295144"/>
            <a:ext cx="843280" cy="397764"/>
          </a:xfrm>
          <a:prstGeom prst="rect">
            <a:avLst/>
          </a:prstGeom>
          <a:solidFill>
            <a:srgbClr val="FFFFFF"/>
          </a:solidFill>
          <a:ln w="6350">
            <a:solidFill>
              <a:srgbClr val="DCE6E9"/>
            </a:solidFill>
            <a:prstDash val="solid"/>
          </a:ln>
        </p:spPr>
      </p:sp>
      <p:sp>
        <p:nvSpPr>
          <p:cNvPr id="55" name="Shape 53"/>
          <p:cNvSpPr/>
          <p:nvPr/>
        </p:nvSpPr>
        <p:spPr>
          <a:xfrm>
            <a:off x="9972040" y="2295144"/>
            <a:ext cx="843280" cy="397764"/>
          </a:xfrm>
          <a:prstGeom prst="rect">
            <a:avLst/>
          </a:prstGeom>
          <a:solidFill>
            <a:srgbClr val="FFFFFF"/>
          </a:solidFill>
          <a:ln w="6350">
            <a:solidFill>
              <a:srgbClr val="DCE6E9"/>
            </a:solidFill>
            <a:prstDash val="solid"/>
          </a:ln>
        </p:spPr>
      </p:sp>
      <p:sp>
        <p:nvSpPr>
          <p:cNvPr id="56" name="Shape 54"/>
          <p:cNvSpPr/>
          <p:nvPr/>
        </p:nvSpPr>
        <p:spPr>
          <a:xfrm>
            <a:off x="10815320" y="2295144"/>
            <a:ext cx="843280" cy="397764"/>
          </a:xfrm>
          <a:prstGeom prst="rect">
            <a:avLst/>
          </a:prstGeom>
          <a:solidFill>
            <a:srgbClr val="FFFFFF"/>
          </a:solidFill>
          <a:ln w="6350">
            <a:solidFill>
              <a:srgbClr val="DCE6E9"/>
            </a:solidFill>
            <a:prstDash val="solid"/>
          </a:ln>
        </p:spPr>
      </p:sp>
      <p:sp>
        <p:nvSpPr>
          <p:cNvPr id="57" name="Shape 55"/>
          <p:cNvSpPr/>
          <p:nvPr/>
        </p:nvSpPr>
        <p:spPr>
          <a:xfrm>
            <a:off x="6626352" y="2350008"/>
            <a:ext cx="788416" cy="288036"/>
          </a:xfrm>
          <a:prstGeom prst="roundRect">
            <a:avLst>
              <a:gd name="adj" fmla="val 12698"/>
            </a:avLst>
          </a:prstGeom>
          <a:solidFill>
            <a:srgbClr val="E76F51"/>
          </a:solidFill>
          <a:ln/>
        </p:spPr>
      </p:sp>
      <p:sp>
        <p:nvSpPr>
          <p:cNvPr id="58" name="Shape 56"/>
          <p:cNvSpPr/>
          <p:nvPr/>
        </p:nvSpPr>
        <p:spPr>
          <a:xfrm>
            <a:off x="548640" y="2692908"/>
            <a:ext cx="3520440" cy="397764"/>
          </a:xfrm>
          <a:prstGeom prst="rect">
            <a:avLst/>
          </a:prstGeom>
          <a:solidFill>
            <a:srgbClr val="E4EFF1"/>
          </a:solidFill>
          <a:ln w="6350">
            <a:solidFill>
              <a:srgbClr val="DCE6E9"/>
            </a:solidFill>
            <a:prstDash val="solid"/>
          </a:ln>
        </p:spPr>
      </p:sp>
      <p:sp>
        <p:nvSpPr>
          <p:cNvPr id="59" name="Text 57"/>
          <p:cNvSpPr/>
          <p:nvPr/>
        </p:nvSpPr>
        <p:spPr>
          <a:xfrm>
            <a:off x="621792" y="2692908"/>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Implementación de la base de datos</a:t>
            </a:r>
            <a:endParaRPr lang="en-US" sz="950" dirty="0"/>
          </a:p>
        </p:txBody>
      </p:sp>
      <p:sp>
        <p:nvSpPr>
          <p:cNvPr id="60" name="Shape 58"/>
          <p:cNvSpPr/>
          <p:nvPr/>
        </p:nvSpPr>
        <p:spPr>
          <a:xfrm>
            <a:off x="4069080" y="2692908"/>
            <a:ext cx="843280" cy="397764"/>
          </a:xfrm>
          <a:prstGeom prst="rect">
            <a:avLst/>
          </a:prstGeom>
          <a:solidFill>
            <a:srgbClr val="E4EFF1"/>
          </a:solidFill>
          <a:ln w="6350">
            <a:solidFill>
              <a:srgbClr val="DCE6E9"/>
            </a:solidFill>
            <a:prstDash val="solid"/>
          </a:ln>
        </p:spPr>
      </p:sp>
      <p:sp>
        <p:nvSpPr>
          <p:cNvPr id="61" name="Shape 59"/>
          <p:cNvSpPr/>
          <p:nvPr/>
        </p:nvSpPr>
        <p:spPr>
          <a:xfrm>
            <a:off x="4912360" y="2692908"/>
            <a:ext cx="843280" cy="397764"/>
          </a:xfrm>
          <a:prstGeom prst="rect">
            <a:avLst/>
          </a:prstGeom>
          <a:solidFill>
            <a:srgbClr val="E4EFF1"/>
          </a:solidFill>
          <a:ln w="6350">
            <a:solidFill>
              <a:srgbClr val="DCE6E9"/>
            </a:solidFill>
            <a:prstDash val="solid"/>
          </a:ln>
        </p:spPr>
      </p:sp>
      <p:sp>
        <p:nvSpPr>
          <p:cNvPr id="62" name="Shape 60"/>
          <p:cNvSpPr/>
          <p:nvPr/>
        </p:nvSpPr>
        <p:spPr>
          <a:xfrm>
            <a:off x="5755640" y="2692908"/>
            <a:ext cx="843280" cy="397764"/>
          </a:xfrm>
          <a:prstGeom prst="rect">
            <a:avLst/>
          </a:prstGeom>
          <a:solidFill>
            <a:srgbClr val="E4EFF1"/>
          </a:solidFill>
          <a:ln w="6350">
            <a:solidFill>
              <a:srgbClr val="DCE6E9"/>
            </a:solidFill>
            <a:prstDash val="solid"/>
          </a:ln>
        </p:spPr>
      </p:sp>
      <p:sp>
        <p:nvSpPr>
          <p:cNvPr id="63" name="Shape 61"/>
          <p:cNvSpPr/>
          <p:nvPr/>
        </p:nvSpPr>
        <p:spPr>
          <a:xfrm>
            <a:off x="6598920" y="2692908"/>
            <a:ext cx="843280" cy="397764"/>
          </a:xfrm>
          <a:prstGeom prst="rect">
            <a:avLst/>
          </a:prstGeom>
          <a:solidFill>
            <a:srgbClr val="E4EFF1"/>
          </a:solidFill>
          <a:ln w="6350">
            <a:solidFill>
              <a:srgbClr val="DCE6E9"/>
            </a:solidFill>
            <a:prstDash val="solid"/>
          </a:ln>
        </p:spPr>
      </p:sp>
      <p:sp>
        <p:nvSpPr>
          <p:cNvPr id="64" name="Shape 62"/>
          <p:cNvSpPr/>
          <p:nvPr/>
        </p:nvSpPr>
        <p:spPr>
          <a:xfrm>
            <a:off x="7442200" y="2692908"/>
            <a:ext cx="843280" cy="397764"/>
          </a:xfrm>
          <a:prstGeom prst="rect">
            <a:avLst/>
          </a:prstGeom>
          <a:solidFill>
            <a:srgbClr val="E4EFF1"/>
          </a:solidFill>
          <a:ln w="6350">
            <a:solidFill>
              <a:srgbClr val="DCE6E9"/>
            </a:solidFill>
            <a:prstDash val="solid"/>
          </a:ln>
        </p:spPr>
      </p:sp>
      <p:sp>
        <p:nvSpPr>
          <p:cNvPr id="65" name="Shape 63"/>
          <p:cNvSpPr/>
          <p:nvPr/>
        </p:nvSpPr>
        <p:spPr>
          <a:xfrm>
            <a:off x="8285480" y="2692908"/>
            <a:ext cx="843280" cy="397764"/>
          </a:xfrm>
          <a:prstGeom prst="rect">
            <a:avLst/>
          </a:prstGeom>
          <a:solidFill>
            <a:srgbClr val="E4EFF1"/>
          </a:solidFill>
          <a:ln w="6350">
            <a:solidFill>
              <a:srgbClr val="DCE6E9"/>
            </a:solidFill>
            <a:prstDash val="solid"/>
          </a:ln>
        </p:spPr>
      </p:sp>
      <p:sp>
        <p:nvSpPr>
          <p:cNvPr id="66" name="Shape 64"/>
          <p:cNvSpPr/>
          <p:nvPr/>
        </p:nvSpPr>
        <p:spPr>
          <a:xfrm>
            <a:off x="9128760" y="2692908"/>
            <a:ext cx="843280" cy="397764"/>
          </a:xfrm>
          <a:prstGeom prst="rect">
            <a:avLst/>
          </a:prstGeom>
          <a:solidFill>
            <a:srgbClr val="E4EFF1"/>
          </a:solidFill>
          <a:ln w="6350">
            <a:solidFill>
              <a:srgbClr val="DCE6E9"/>
            </a:solidFill>
            <a:prstDash val="solid"/>
          </a:ln>
        </p:spPr>
      </p:sp>
      <p:sp>
        <p:nvSpPr>
          <p:cNvPr id="67" name="Shape 65"/>
          <p:cNvSpPr/>
          <p:nvPr/>
        </p:nvSpPr>
        <p:spPr>
          <a:xfrm>
            <a:off x="9972040" y="2692908"/>
            <a:ext cx="843280" cy="397764"/>
          </a:xfrm>
          <a:prstGeom prst="rect">
            <a:avLst/>
          </a:prstGeom>
          <a:solidFill>
            <a:srgbClr val="E4EFF1"/>
          </a:solidFill>
          <a:ln w="6350">
            <a:solidFill>
              <a:srgbClr val="DCE6E9"/>
            </a:solidFill>
            <a:prstDash val="solid"/>
          </a:ln>
        </p:spPr>
      </p:sp>
      <p:sp>
        <p:nvSpPr>
          <p:cNvPr id="68" name="Shape 66"/>
          <p:cNvSpPr/>
          <p:nvPr/>
        </p:nvSpPr>
        <p:spPr>
          <a:xfrm>
            <a:off x="10815320" y="2692908"/>
            <a:ext cx="843280" cy="397764"/>
          </a:xfrm>
          <a:prstGeom prst="rect">
            <a:avLst/>
          </a:prstGeom>
          <a:solidFill>
            <a:srgbClr val="E4EFF1"/>
          </a:solidFill>
          <a:ln w="6350">
            <a:solidFill>
              <a:srgbClr val="DCE6E9"/>
            </a:solidFill>
            <a:prstDash val="solid"/>
          </a:ln>
        </p:spPr>
      </p:sp>
      <p:sp>
        <p:nvSpPr>
          <p:cNvPr id="69" name="Shape 67"/>
          <p:cNvSpPr/>
          <p:nvPr/>
        </p:nvSpPr>
        <p:spPr>
          <a:xfrm>
            <a:off x="7469632" y="2747772"/>
            <a:ext cx="788416" cy="288036"/>
          </a:xfrm>
          <a:prstGeom prst="roundRect">
            <a:avLst>
              <a:gd name="adj" fmla="val 12698"/>
            </a:avLst>
          </a:prstGeom>
          <a:solidFill>
            <a:srgbClr val="0B3C5D"/>
          </a:solidFill>
          <a:ln/>
        </p:spPr>
      </p:sp>
      <p:sp>
        <p:nvSpPr>
          <p:cNvPr id="70" name="Shape 68"/>
          <p:cNvSpPr/>
          <p:nvPr/>
        </p:nvSpPr>
        <p:spPr>
          <a:xfrm>
            <a:off x="548640" y="3090672"/>
            <a:ext cx="3520440" cy="397764"/>
          </a:xfrm>
          <a:prstGeom prst="rect">
            <a:avLst/>
          </a:prstGeom>
          <a:solidFill>
            <a:srgbClr val="FFFFFF"/>
          </a:solidFill>
          <a:ln w="6350">
            <a:solidFill>
              <a:srgbClr val="DCE6E9"/>
            </a:solidFill>
            <a:prstDash val="solid"/>
          </a:ln>
        </p:spPr>
      </p:sp>
      <p:sp>
        <p:nvSpPr>
          <p:cNvPr id="71" name="Text 69"/>
          <p:cNvSpPr/>
          <p:nvPr/>
        </p:nvSpPr>
        <p:spPr>
          <a:xfrm>
            <a:off x="621792" y="3090672"/>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Desarrollo del módulo de control de stock</a:t>
            </a:r>
            <a:endParaRPr lang="en-US" sz="950" dirty="0"/>
          </a:p>
        </p:txBody>
      </p:sp>
      <p:sp>
        <p:nvSpPr>
          <p:cNvPr id="72" name="Shape 70"/>
          <p:cNvSpPr/>
          <p:nvPr/>
        </p:nvSpPr>
        <p:spPr>
          <a:xfrm>
            <a:off x="4069080" y="3090672"/>
            <a:ext cx="843280" cy="397764"/>
          </a:xfrm>
          <a:prstGeom prst="rect">
            <a:avLst/>
          </a:prstGeom>
          <a:solidFill>
            <a:srgbClr val="FFFFFF"/>
          </a:solidFill>
          <a:ln w="6350">
            <a:solidFill>
              <a:srgbClr val="DCE6E9"/>
            </a:solidFill>
            <a:prstDash val="solid"/>
          </a:ln>
        </p:spPr>
      </p:sp>
      <p:sp>
        <p:nvSpPr>
          <p:cNvPr id="73" name="Shape 71"/>
          <p:cNvSpPr/>
          <p:nvPr/>
        </p:nvSpPr>
        <p:spPr>
          <a:xfrm>
            <a:off x="4912360" y="3090672"/>
            <a:ext cx="843280" cy="397764"/>
          </a:xfrm>
          <a:prstGeom prst="rect">
            <a:avLst/>
          </a:prstGeom>
          <a:solidFill>
            <a:srgbClr val="FFFFFF"/>
          </a:solidFill>
          <a:ln w="6350">
            <a:solidFill>
              <a:srgbClr val="DCE6E9"/>
            </a:solidFill>
            <a:prstDash val="solid"/>
          </a:ln>
        </p:spPr>
      </p:sp>
      <p:sp>
        <p:nvSpPr>
          <p:cNvPr id="74" name="Shape 72"/>
          <p:cNvSpPr/>
          <p:nvPr/>
        </p:nvSpPr>
        <p:spPr>
          <a:xfrm>
            <a:off x="5755640" y="3090672"/>
            <a:ext cx="843280" cy="397764"/>
          </a:xfrm>
          <a:prstGeom prst="rect">
            <a:avLst/>
          </a:prstGeom>
          <a:solidFill>
            <a:srgbClr val="FFFFFF"/>
          </a:solidFill>
          <a:ln w="6350">
            <a:solidFill>
              <a:srgbClr val="DCE6E9"/>
            </a:solidFill>
            <a:prstDash val="solid"/>
          </a:ln>
        </p:spPr>
      </p:sp>
      <p:sp>
        <p:nvSpPr>
          <p:cNvPr id="75" name="Shape 73"/>
          <p:cNvSpPr/>
          <p:nvPr/>
        </p:nvSpPr>
        <p:spPr>
          <a:xfrm>
            <a:off x="6598920" y="3090672"/>
            <a:ext cx="843280" cy="397764"/>
          </a:xfrm>
          <a:prstGeom prst="rect">
            <a:avLst/>
          </a:prstGeom>
          <a:solidFill>
            <a:srgbClr val="FFFFFF"/>
          </a:solidFill>
          <a:ln w="6350">
            <a:solidFill>
              <a:srgbClr val="DCE6E9"/>
            </a:solidFill>
            <a:prstDash val="solid"/>
          </a:ln>
        </p:spPr>
      </p:sp>
      <p:sp>
        <p:nvSpPr>
          <p:cNvPr id="76" name="Shape 74"/>
          <p:cNvSpPr/>
          <p:nvPr/>
        </p:nvSpPr>
        <p:spPr>
          <a:xfrm>
            <a:off x="7442200" y="3090672"/>
            <a:ext cx="843280" cy="397764"/>
          </a:xfrm>
          <a:prstGeom prst="rect">
            <a:avLst/>
          </a:prstGeom>
          <a:solidFill>
            <a:srgbClr val="FFFFFF"/>
          </a:solidFill>
          <a:ln w="6350">
            <a:solidFill>
              <a:srgbClr val="DCE6E9"/>
            </a:solidFill>
            <a:prstDash val="solid"/>
          </a:ln>
        </p:spPr>
      </p:sp>
      <p:sp>
        <p:nvSpPr>
          <p:cNvPr id="77" name="Shape 75"/>
          <p:cNvSpPr/>
          <p:nvPr/>
        </p:nvSpPr>
        <p:spPr>
          <a:xfrm>
            <a:off x="8285480" y="3090672"/>
            <a:ext cx="843280" cy="397764"/>
          </a:xfrm>
          <a:prstGeom prst="rect">
            <a:avLst/>
          </a:prstGeom>
          <a:solidFill>
            <a:srgbClr val="FFFFFF"/>
          </a:solidFill>
          <a:ln w="6350">
            <a:solidFill>
              <a:srgbClr val="DCE6E9"/>
            </a:solidFill>
            <a:prstDash val="solid"/>
          </a:ln>
        </p:spPr>
      </p:sp>
      <p:sp>
        <p:nvSpPr>
          <p:cNvPr id="78" name="Shape 76"/>
          <p:cNvSpPr/>
          <p:nvPr/>
        </p:nvSpPr>
        <p:spPr>
          <a:xfrm>
            <a:off x="9128760" y="3090672"/>
            <a:ext cx="843280" cy="397764"/>
          </a:xfrm>
          <a:prstGeom prst="rect">
            <a:avLst/>
          </a:prstGeom>
          <a:solidFill>
            <a:srgbClr val="FFFFFF"/>
          </a:solidFill>
          <a:ln w="6350">
            <a:solidFill>
              <a:srgbClr val="DCE6E9"/>
            </a:solidFill>
            <a:prstDash val="solid"/>
          </a:ln>
        </p:spPr>
      </p:sp>
      <p:sp>
        <p:nvSpPr>
          <p:cNvPr id="79" name="Shape 77"/>
          <p:cNvSpPr/>
          <p:nvPr/>
        </p:nvSpPr>
        <p:spPr>
          <a:xfrm>
            <a:off x="9972040" y="3090672"/>
            <a:ext cx="843280" cy="397764"/>
          </a:xfrm>
          <a:prstGeom prst="rect">
            <a:avLst/>
          </a:prstGeom>
          <a:solidFill>
            <a:srgbClr val="FFFFFF"/>
          </a:solidFill>
          <a:ln w="6350">
            <a:solidFill>
              <a:srgbClr val="DCE6E9"/>
            </a:solidFill>
            <a:prstDash val="solid"/>
          </a:ln>
        </p:spPr>
      </p:sp>
      <p:sp>
        <p:nvSpPr>
          <p:cNvPr id="80" name="Shape 78"/>
          <p:cNvSpPr/>
          <p:nvPr/>
        </p:nvSpPr>
        <p:spPr>
          <a:xfrm>
            <a:off x="10815320" y="3090672"/>
            <a:ext cx="843280" cy="397764"/>
          </a:xfrm>
          <a:prstGeom prst="rect">
            <a:avLst/>
          </a:prstGeom>
          <a:solidFill>
            <a:srgbClr val="FFFFFF"/>
          </a:solidFill>
          <a:ln w="6350">
            <a:solidFill>
              <a:srgbClr val="DCE6E9"/>
            </a:solidFill>
            <a:prstDash val="solid"/>
          </a:ln>
        </p:spPr>
      </p:sp>
      <p:sp>
        <p:nvSpPr>
          <p:cNvPr id="81" name="Shape 79"/>
          <p:cNvSpPr/>
          <p:nvPr/>
        </p:nvSpPr>
        <p:spPr>
          <a:xfrm>
            <a:off x="7469632" y="3145536"/>
            <a:ext cx="1631696" cy="288036"/>
          </a:xfrm>
          <a:prstGeom prst="roundRect">
            <a:avLst>
              <a:gd name="adj" fmla="val 12698"/>
            </a:avLst>
          </a:prstGeom>
          <a:solidFill>
            <a:srgbClr val="1C7293"/>
          </a:solidFill>
          <a:ln/>
        </p:spPr>
      </p:sp>
      <p:sp>
        <p:nvSpPr>
          <p:cNvPr id="82" name="Shape 80"/>
          <p:cNvSpPr/>
          <p:nvPr/>
        </p:nvSpPr>
        <p:spPr>
          <a:xfrm>
            <a:off x="548640" y="3488436"/>
            <a:ext cx="3520440" cy="397764"/>
          </a:xfrm>
          <a:prstGeom prst="rect">
            <a:avLst/>
          </a:prstGeom>
          <a:solidFill>
            <a:srgbClr val="E4EFF1"/>
          </a:solidFill>
          <a:ln w="6350">
            <a:solidFill>
              <a:srgbClr val="DCE6E9"/>
            </a:solidFill>
            <a:prstDash val="solid"/>
          </a:ln>
        </p:spPr>
      </p:sp>
      <p:sp>
        <p:nvSpPr>
          <p:cNvPr id="83" name="Text 81"/>
          <p:cNvSpPr/>
          <p:nvPr/>
        </p:nvSpPr>
        <p:spPr>
          <a:xfrm>
            <a:off x="621792" y="3488436"/>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Desarrollo del panel de administración y reportes</a:t>
            </a:r>
            <a:endParaRPr lang="en-US" sz="950" dirty="0"/>
          </a:p>
        </p:txBody>
      </p:sp>
      <p:sp>
        <p:nvSpPr>
          <p:cNvPr id="84" name="Shape 82"/>
          <p:cNvSpPr/>
          <p:nvPr/>
        </p:nvSpPr>
        <p:spPr>
          <a:xfrm>
            <a:off x="4069080" y="3488436"/>
            <a:ext cx="843280" cy="397764"/>
          </a:xfrm>
          <a:prstGeom prst="rect">
            <a:avLst/>
          </a:prstGeom>
          <a:solidFill>
            <a:srgbClr val="E4EFF1"/>
          </a:solidFill>
          <a:ln w="6350">
            <a:solidFill>
              <a:srgbClr val="DCE6E9"/>
            </a:solidFill>
            <a:prstDash val="solid"/>
          </a:ln>
        </p:spPr>
      </p:sp>
      <p:sp>
        <p:nvSpPr>
          <p:cNvPr id="85" name="Shape 83"/>
          <p:cNvSpPr/>
          <p:nvPr/>
        </p:nvSpPr>
        <p:spPr>
          <a:xfrm>
            <a:off x="4912360" y="3488436"/>
            <a:ext cx="843280" cy="397764"/>
          </a:xfrm>
          <a:prstGeom prst="rect">
            <a:avLst/>
          </a:prstGeom>
          <a:solidFill>
            <a:srgbClr val="E4EFF1"/>
          </a:solidFill>
          <a:ln w="6350">
            <a:solidFill>
              <a:srgbClr val="DCE6E9"/>
            </a:solidFill>
            <a:prstDash val="solid"/>
          </a:ln>
        </p:spPr>
      </p:sp>
      <p:sp>
        <p:nvSpPr>
          <p:cNvPr id="86" name="Shape 84"/>
          <p:cNvSpPr/>
          <p:nvPr/>
        </p:nvSpPr>
        <p:spPr>
          <a:xfrm>
            <a:off x="5755640" y="3488436"/>
            <a:ext cx="843280" cy="397764"/>
          </a:xfrm>
          <a:prstGeom prst="rect">
            <a:avLst/>
          </a:prstGeom>
          <a:solidFill>
            <a:srgbClr val="E4EFF1"/>
          </a:solidFill>
          <a:ln w="6350">
            <a:solidFill>
              <a:srgbClr val="DCE6E9"/>
            </a:solidFill>
            <a:prstDash val="solid"/>
          </a:ln>
        </p:spPr>
      </p:sp>
      <p:sp>
        <p:nvSpPr>
          <p:cNvPr id="87" name="Shape 85"/>
          <p:cNvSpPr/>
          <p:nvPr/>
        </p:nvSpPr>
        <p:spPr>
          <a:xfrm>
            <a:off x="6598920" y="3488436"/>
            <a:ext cx="843280" cy="397764"/>
          </a:xfrm>
          <a:prstGeom prst="rect">
            <a:avLst/>
          </a:prstGeom>
          <a:solidFill>
            <a:srgbClr val="E4EFF1"/>
          </a:solidFill>
          <a:ln w="6350">
            <a:solidFill>
              <a:srgbClr val="DCE6E9"/>
            </a:solidFill>
            <a:prstDash val="solid"/>
          </a:ln>
        </p:spPr>
      </p:sp>
      <p:sp>
        <p:nvSpPr>
          <p:cNvPr id="88" name="Shape 86"/>
          <p:cNvSpPr/>
          <p:nvPr/>
        </p:nvSpPr>
        <p:spPr>
          <a:xfrm>
            <a:off x="7442200" y="3488436"/>
            <a:ext cx="843280" cy="397764"/>
          </a:xfrm>
          <a:prstGeom prst="rect">
            <a:avLst/>
          </a:prstGeom>
          <a:solidFill>
            <a:srgbClr val="E4EFF1"/>
          </a:solidFill>
          <a:ln w="6350">
            <a:solidFill>
              <a:srgbClr val="DCE6E9"/>
            </a:solidFill>
            <a:prstDash val="solid"/>
          </a:ln>
        </p:spPr>
      </p:sp>
      <p:sp>
        <p:nvSpPr>
          <p:cNvPr id="89" name="Shape 87"/>
          <p:cNvSpPr/>
          <p:nvPr/>
        </p:nvSpPr>
        <p:spPr>
          <a:xfrm>
            <a:off x="8285480" y="3488436"/>
            <a:ext cx="843280" cy="397764"/>
          </a:xfrm>
          <a:prstGeom prst="rect">
            <a:avLst/>
          </a:prstGeom>
          <a:solidFill>
            <a:srgbClr val="E4EFF1"/>
          </a:solidFill>
          <a:ln w="6350">
            <a:solidFill>
              <a:srgbClr val="DCE6E9"/>
            </a:solidFill>
            <a:prstDash val="solid"/>
          </a:ln>
        </p:spPr>
      </p:sp>
      <p:sp>
        <p:nvSpPr>
          <p:cNvPr id="90" name="Shape 88"/>
          <p:cNvSpPr/>
          <p:nvPr/>
        </p:nvSpPr>
        <p:spPr>
          <a:xfrm>
            <a:off x="9128760" y="3488436"/>
            <a:ext cx="843280" cy="397764"/>
          </a:xfrm>
          <a:prstGeom prst="rect">
            <a:avLst/>
          </a:prstGeom>
          <a:solidFill>
            <a:srgbClr val="E4EFF1"/>
          </a:solidFill>
          <a:ln w="6350">
            <a:solidFill>
              <a:srgbClr val="DCE6E9"/>
            </a:solidFill>
            <a:prstDash val="solid"/>
          </a:ln>
        </p:spPr>
      </p:sp>
      <p:sp>
        <p:nvSpPr>
          <p:cNvPr id="91" name="Shape 89"/>
          <p:cNvSpPr/>
          <p:nvPr/>
        </p:nvSpPr>
        <p:spPr>
          <a:xfrm>
            <a:off x="9972040" y="3488436"/>
            <a:ext cx="843280" cy="397764"/>
          </a:xfrm>
          <a:prstGeom prst="rect">
            <a:avLst/>
          </a:prstGeom>
          <a:solidFill>
            <a:srgbClr val="E4EFF1"/>
          </a:solidFill>
          <a:ln w="6350">
            <a:solidFill>
              <a:srgbClr val="DCE6E9"/>
            </a:solidFill>
            <a:prstDash val="solid"/>
          </a:ln>
        </p:spPr>
      </p:sp>
      <p:sp>
        <p:nvSpPr>
          <p:cNvPr id="92" name="Shape 90"/>
          <p:cNvSpPr/>
          <p:nvPr/>
        </p:nvSpPr>
        <p:spPr>
          <a:xfrm>
            <a:off x="10815320" y="3488436"/>
            <a:ext cx="843280" cy="397764"/>
          </a:xfrm>
          <a:prstGeom prst="rect">
            <a:avLst/>
          </a:prstGeom>
          <a:solidFill>
            <a:srgbClr val="E4EFF1"/>
          </a:solidFill>
          <a:ln w="6350">
            <a:solidFill>
              <a:srgbClr val="DCE6E9"/>
            </a:solidFill>
            <a:prstDash val="solid"/>
          </a:ln>
        </p:spPr>
      </p:sp>
      <p:sp>
        <p:nvSpPr>
          <p:cNvPr id="93" name="Shape 91"/>
          <p:cNvSpPr/>
          <p:nvPr/>
        </p:nvSpPr>
        <p:spPr>
          <a:xfrm>
            <a:off x="8312912" y="3543300"/>
            <a:ext cx="1631696" cy="288036"/>
          </a:xfrm>
          <a:prstGeom prst="roundRect">
            <a:avLst>
              <a:gd name="adj" fmla="val 12698"/>
            </a:avLst>
          </a:prstGeom>
          <a:solidFill>
            <a:srgbClr val="E76F51"/>
          </a:solidFill>
          <a:ln/>
        </p:spPr>
      </p:sp>
      <p:sp>
        <p:nvSpPr>
          <p:cNvPr id="94" name="Shape 92"/>
          <p:cNvSpPr/>
          <p:nvPr/>
        </p:nvSpPr>
        <p:spPr>
          <a:xfrm>
            <a:off x="548640" y="3886200"/>
            <a:ext cx="3520440" cy="397764"/>
          </a:xfrm>
          <a:prstGeom prst="rect">
            <a:avLst/>
          </a:prstGeom>
          <a:solidFill>
            <a:srgbClr val="FFFFFF"/>
          </a:solidFill>
          <a:ln w="6350">
            <a:solidFill>
              <a:srgbClr val="DCE6E9"/>
            </a:solidFill>
            <a:prstDash val="solid"/>
          </a:ln>
        </p:spPr>
      </p:sp>
      <p:sp>
        <p:nvSpPr>
          <p:cNvPr id="95" name="Text 93"/>
          <p:cNvSpPr/>
          <p:nvPr/>
        </p:nvSpPr>
        <p:spPr>
          <a:xfrm>
            <a:off x="621792" y="3886200"/>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Desarrollo de la interfaz de usuario (Frontend)</a:t>
            </a:r>
            <a:endParaRPr lang="en-US" sz="950" dirty="0"/>
          </a:p>
        </p:txBody>
      </p:sp>
      <p:sp>
        <p:nvSpPr>
          <p:cNvPr id="96" name="Shape 94"/>
          <p:cNvSpPr/>
          <p:nvPr/>
        </p:nvSpPr>
        <p:spPr>
          <a:xfrm>
            <a:off x="4069080" y="3886200"/>
            <a:ext cx="843280" cy="397764"/>
          </a:xfrm>
          <a:prstGeom prst="rect">
            <a:avLst/>
          </a:prstGeom>
          <a:solidFill>
            <a:srgbClr val="FFFFFF"/>
          </a:solidFill>
          <a:ln w="6350">
            <a:solidFill>
              <a:srgbClr val="DCE6E9"/>
            </a:solidFill>
            <a:prstDash val="solid"/>
          </a:ln>
        </p:spPr>
      </p:sp>
      <p:sp>
        <p:nvSpPr>
          <p:cNvPr id="97" name="Shape 95"/>
          <p:cNvSpPr/>
          <p:nvPr/>
        </p:nvSpPr>
        <p:spPr>
          <a:xfrm>
            <a:off x="4912360" y="3886200"/>
            <a:ext cx="843280" cy="397764"/>
          </a:xfrm>
          <a:prstGeom prst="rect">
            <a:avLst/>
          </a:prstGeom>
          <a:solidFill>
            <a:srgbClr val="FFFFFF"/>
          </a:solidFill>
          <a:ln w="6350">
            <a:solidFill>
              <a:srgbClr val="DCE6E9"/>
            </a:solidFill>
            <a:prstDash val="solid"/>
          </a:ln>
        </p:spPr>
      </p:sp>
      <p:sp>
        <p:nvSpPr>
          <p:cNvPr id="98" name="Shape 96"/>
          <p:cNvSpPr/>
          <p:nvPr/>
        </p:nvSpPr>
        <p:spPr>
          <a:xfrm>
            <a:off x="5755640" y="3886200"/>
            <a:ext cx="843280" cy="397764"/>
          </a:xfrm>
          <a:prstGeom prst="rect">
            <a:avLst/>
          </a:prstGeom>
          <a:solidFill>
            <a:srgbClr val="FFFFFF"/>
          </a:solidFill>
          <a:ln w="6350">
            <a:solidFill>
              <a:srgbClr val="DCE6E9"/>
            </a:solidFill>
            <a:prstDash val="solid"/>
          </a:ln>
        </p:spPr>
      </p:sp>
      <p:sp>
        <p:nvSpPr>
          <p:cNvPr id="99" name="Shape 97"/>
          <p:cNvSpPr/>
          <p:nvPr/>
        </p:nvSpPr>
        <p:spPr>
          <a:xfrm>
            <a:off x="6598920" y="3886200"/>
            <a:ext cx="843280" cy="397764"/>
          </a:xfrm>
          <a:prstGeom prst="rect">
            <a:avLst/>
          </a:prstGeom>
          <a:solidFill>
            <a:srgbClr val="FFFFFF"/>
          </a:solidFill>
          <a:ln w="6350">
            <a:solidFill>
              <a:srgbClr val="DCE6E9"/>
            </a:solidFill>
            <a:prstDash val="solid"/>
          </a:ln>
        </p:spPr>
      </p:sp>
      <p:sp>
        <p:nvSpPr>
          <p:cNvPr id="100" name="Shape 98"/>
          <p:cNvSpPr/>
          <p:nvPr/>
        </p:nvSpPr>
        <p:spPr>
          <a:xfrm>
            <a:off x="7442200" y="3886200"/>
            <a:ext cx="843280" cy="397764"/>
          </a:xfrm>
          <a:prstGeom prst="rect">
            <a:avLst/>
          </a:prstGeom>
          <a:solidFill>
            <a:srgbClr val="FFFFFF"/>
          </a:solidFill>
          <a:ln w="6350">
            <a:solidFill>
              <a:srgbClr val="DCE6E9"/>
            </a:solidFill>
            <a:prstDash val="solid"/>
          </a:ln>
        </p:spPr>
      </p:sp>
      <p:sp>
        <p:nvSpPr>
          <p:cNvPr id="101" name="Shape 99"/>
          <p:cNvSpPr/>
          <p:nvPr/>
        </p:nvSpPr>
        <p:spPr>
          <a:xfrm>
            <a:off x="8285480" y="3886200"/>
            <a:ext cx="843280" cy="397764"/>
          </a:xfrm>
          <a:prstGeom prst="rect">
            <a:avLst/>
          </a:prstGeom>
          <a:solidFill>
            <a:srgbClr val="FFFFFF"/>
          </a:solidFill>
          <a:ln w="6350">
            <a:solidFill>
              <a:srgbClr val="DCE6E9"/>
            </a:solidFill>
            <a:prstDash val="solid"/>
          </a:ln>
        </p:spPr>
      </p:sp>
      <p:sp>
        <p:nvSpPr>
          <p:cNvPr id="102" name="Shape 100"/>
          <p:cNvSpPr/>
          <p:nvPr/>
        </p:nvSpPr>
        <p:spPr>
          <a:xfrm>
            <a:off x="9128760" y="3886200"/>
            <a:ext cx="843280" cy="397764"/>
          </a:xfrm>
          <a:prstGeom prst="rect">
            <a:avLst/>
          </a:prstGeom>
          <a:solidFill>
            <a:srgbClr val="FFFFFF"/>
          </a:solidFill>
          <a:ln w="6350">
            <a:solidFill>
              <a:srgbClr val="DCE6E9"/>
            </a:solidFill>
            <a:prstDash val="solid"/>
          </a:ln>
        </p:spPr>
      </p:sp>
      <p:sp>
        <p:nvSpPr>
          <p:cNvPr id="103" name="Shape 101"/>
          <p:cNvSpPr/>
          <p:nvPr/>
        </p:nvSpPr>
        <p:spPr>
          <a:xfrm>
            <a:off x="9972040" y="3886200"/>
            <a:ext cx="843280" cy="397764"/>
          </a:xfrm>
          <a:prstGeom prst="rect">
            <a:avLst/>
          </a:prstGeom>
          <a:solidFill>
            <a:srgbClr val="FFFFFF"/>
          </a:solidFill>
          <a:ln w="6350">
            <a:solidFill>
              <a:srgbClr val="DCE6E9"/>
            </a:solidFill>
            <a:prstDash val="solid"/>
          </a:ln>
        </p:spPr>
      </p:sp>
      <p:sp>
        <p:nvSpPr>
          <p:cNvPr id="104" name="Shape 102"/>
          <p:cNvSpPr/>
          <p:nvPr/>
        </p:nvSpPr>
        <p:spPr>
          <a:xfrm>
            <a:off x="10815320" y="3886200"/>
            <a:ext cx="843280" cy="397764"/>
          </a:xfrm>
          <a:prstGeom prst="rect">
            <a:avLst/>
          </a:prstGeom>
          <a:solidFill>
            <a:srgbClr val="FFFFFF"/>
          </a:solidFill>
          <a:ln w="6350">
            <a:solidFill>
              <a:srgbClr val="DCE6E9"/>
            </a:solidFill>
            <a:prstDash val="solid"/>
          </a:ln>
        </p:spPr>
      </p:sp>
      <p:sp>
        <p:nvSpPr>
          <p:cNvPr id="105" name="Shape 103"/>
          <p:cNvSpPr/>
          <p:nvPr/>
        </p:nvSpPr>
        <p:spPr>
          <a:xfrm>
            <a:off x="8312912" y="3941064"/>
            <a:ext cx="1631696" cy="288036"/>
          </a:xfrm>
          <a:prstGeom prst="roundRect">
            <a:avLst>
              <a:gd name="adj" fmla="val 12698"/>
            </a:avLst>
          </a:prstGeom>
          <a:solidFill>
            <a:srgbClr val="0B3C5D"/>
          </a:solidFill>
          <a:ln/>
        </p:spPr>
      </p:sp>
      <p:sp>
        <p:nvSpPr>
          <p:cNvPr id="106" name="Shape 104"/>
          <p:cNvSpPr/>
          <p:nvPr/>
        </p:nvSpPr>
        <p:spPr>
          <a:xfrm>
            <a:off x="548640" y="4283964"/>
            <a:ext cx="3520440" cy="397764"/>
          </a:xfrm>
          <a:prstGeom prst="rect">
            <a:avLst/>
          </a:prstGeom>
          <a:solidFill>
            <a:srgbClr val="E4EFF1"/>
          </a:solidFill>
          <a:ln w="6350">
            <a:solidFill>
              <a:srgbClr val="DCE6E9"/>
            </a:solidFill>
            <a:prstDash val="solid"/>
          </a:ln>
        </p:spPr>
      </p:sp>
      <p:sp>
        <p:nvSpPr>
          <p:cNvPr id="107" name="Text 105"/>
          <p:cNvSpPr/>
          <p:nvPr/>
        </p:nvSpPr>
        <p:spPr>
          <a:xfrm>
            <a:off x="621792" y="4283964"/>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Integración y construcción del MVP</a:t>
            </a:r>
            <a:endParaRPr lang="en-US" sz="950" dirty="0"/>
          </a:p>
        </p:txBody>
      </p:sp>
      <p:sp>
        <p:nvSpPr>
          <p:cNvPr id="108" name="Shape 106"/>
          <p:cNvSpPr/>
          <p:nvPr/>
        </p:nvSpPr>
        <p:spPr>
          <a:xfrm>
            <a:off x="4069080" y="4283964"/>
            <a:ext cx="843280" cy="397764"/>
          </a:xfrm>
          <a:prstGeom prst="rect">
            <a:avLst/>
          </a:prstGeom>
          <a:solidFill>
            <a:srgbClr val="E4EFF1"/>
          </a:solidFill>
          <a:ln w="6350">
            <a:solidFill>
              <a:srgbClr val="DCE6E9"/>
            </a:solidFill>
            <a:prstDash val="solid"/>
          </a:ln>
        </p:spPr>
      </p:sp>
      <p:sp>
        <p:nvSpPr>
          <p:cNvPr id="109" name="Shape 107"/>
          <p:cNvSpPr/>
          <p:nvPr/>
        </p:nvSpPr>
        <p:spPr>
          <a:xfrm>
            <a:off x="4912360" y="4283964"/>
            <a:ext cx="843280" cy="397764"/>
          </a:xfrm>
          <a:prstGeom prst="rect">
            <a:avLst/>
          </a:prstGeom>
          <a:solidFill>
            <a:srgbClr val="E4EFF1"/>
          </a:solidFill>
          <a:ln w="6350">
            <a:solidFill>
              <a:srgbClr val="DCE6E9"/>
            </a:solidFill>
            <a:prstDash val="solid"/>
          </a:ln>
        </p:spPr>
      </p:sp>
      <p:sp>
        <p:nvSpPr>
          <p:cNvPr id="110" name="Shape 108"/>
          <p:cNvSpPr/>
          <p:nvPr/>
        </p:nvSpPr>
        <p:spPr>
          <a:xfrm>
            <a:off x="5755640" y="4283964"/>
            <a:ext cx="843280" cy="397764"/>
          </a:xfrm>
          <a:prstGeom prst="rect">
            <a:avLst/>
          </a:prstGeom>
          <a:solidFill>
            <a:srgbClr val="E4EFF1"/>
          </a:solidFill>
          <a:ln w="6350">
            <a:solidFill>
              <a:srgbClr val="DCE6E9"/>
            </a:solidFill>
            <a:prstDash val="solid"/>
          </a:ln>
        </p:spPr>
      </p:sp>
      <p:sp>
        <p:nvSpPr>
          <p:cNvPr id="111" name="Shape 109"/>
          <p:cNvSpPr/>
          <p:nvPr/>
        </p:nvSpPr>
        <p:spPr>
          <a:xfrm>
            <a:off x="6598920" y="4283964"/>
            <a:ext cx="843280" cy="397764"/>
          </a:xfrm>
          <a:prstGeom prst="rect">
            <a:avLst/>
          </a:prstGeom>
          <a:solidFill>
            <a:srgbClr val="E4EFF1"/>
          </a:solidFill>
          <a:ln w="6350">
            <a:solidFill>
              <a:srgbClr val="DCE6E9"/>
            </a:solidFill>
            <a:prstDash val="solid"/>
          </a:ln>
        </p:spPr>
      </p:sp>
      <p:sp>
        <p:nvSpPr>
          <p:cNvPr id="112" name="Shape 110"/>
          <p:cNvSpPr/>
          <p:nvPr/>
        </p:nvSpPr>
        <p:spPr>
          <a:xfrm>
            <a:off x="7442200" y="4283964"/>
            <a:ext cx="843280" cy="397764"/>
          </a:xfrm>
          <a:prstGeom prst="rect">
            <a:avLst/>
          </a:prstGeom>
          <a:solidFill>
            <a:srgbClr val="E4EFF1"/>
          </a:solidFill>
          <a:ln w="6350">
            <a:solidFill>
              <a:srgbClr val="DCE6E9"/>
            </a:solidFill>
            <a:prstDash val="solid"/>
          </a:ln>
        </p:spPr>
      </p:sp>
      <p:sp>
        <p:nvSpPr>
          <p:cNvPr id="113" name="Shape 111"/>
          <p:cNvSpPr/>
          <p:nvPr/>
        </p:nvSpPr>
        <p:spPr>
          <a:xfrm>
            <a:off x="8285480" y="4283964"/>
            <a:ext cx="843280" cy="397764"/>
          </a:xfrm>
          <a:prstGeom prst="rect">
            <a:avLst/>
          </a:prstGeom>
          <a:solidFill>
            <a:srgbClr val="E4EFF1"/>
          </a:solidFill>
          <a:ln w="6350">
            <a:solidFill>
              <a:srgbClr val="DCE6E9"/>
            </a:solidFill>
            <a:prstDash val="solid"/>
          </a:ln>
        </p:spPr>
      </p:sp>
      <p:sp>
        <p:nvSpPr>
          <p:cNvPr id="114" name="Shape 112"/>
          <p:cNvSpPr/>
          <p:nvPr/>
        </p:nvSpPr>
        <p:spPr>
          <a:xfrm>
            <a:off x="9128760" y="4283964"/>
            <a:ext cx="843280" cy="397764"/>
          </a:xfrm>
          <a:prstGeom prst="rect">
            <a:avLst/>
          </a:prstGeom>
          <a:solidFill>
            <a:srgbClr val="E4EFF1"/>
          </a:solidFill>
          <a:ln w="6350">
            <a:solidFill>
              <a:srgbClr val="DCE6E9"/>
            </a:solidFill>
            <a:prstDash val="solid"/>
          </a:ln>
        </p:spPr>
      </p:sp>
      <p:sp>
        <p:nvSpPr>
          <p:cNvPr id="115" name="Shape 113"/>
          <p:cNvSpPr/>
          <p:nvPr/>
        </p:nvSpPr>
        <p:spPr>
          <a:xfrm>
            <a:off x="9972040" y="4283964"/>
            <a:ext cx="843280" cy="397764"/>
          </a:xfrm>
          <a:prstGeom prst="rect">
            <a:avLst/>
          </a:prstGeom>
          <a:solidFill>
            <a:srgbClr val="E4EFF1"/>
          </a:solidFill>
          <a:ln w="6350">
            <a:solidFill>
              <a:srgbClr val="DCE6E9"/>
            </a:solidFill>
            <a:prstDash val="solid"/>
          </a:ln>
        </p:spPr>
      </p:sp>
      <p:sp>
        <p:nvSpPr>
          <p:cNvPr id="116" name="Shape 114"/>
          <p:cNvSpPr/>
          <p:nvPr/>
        </p:nvSpPr>
        <p:spPr>
          <a:xfrm>
            <a:off x="10815320" y="4283964"/>
            <a:ext cx="843280" cy="397764"/>
          </a:xfrm>
          <a:prstGeom prst="rect">
            <a:avLst/>
          </a:prstGeom>
          <a:solidFill>
            <a:srgbClr val="E4EFF1"/>
          </a:solidFill>
          <a:ln w="6350">
            <a:solidFill>
              <a:srgbClr val="DCE6E9"/>
            </a:solidFill>
            <a:prstDash val="solid"/>
          </a:ln>
        </p:spPr>
      </p:sp>
      <p:sp>
        <p:nvSpPr>
          <p:cNvPr id="117" name="Shape 115"/>
          <p:cNvSpPr/>
          <p:nvPr/>
        </p:nvSpPr>
        <p:spPr>
          <a:xfrm>
            <a:off x="9156192" y="4338828"/>
            <a:ext cx="788416" cy="288036"/>
          </a:xfrm>
          <a:prstGeom prst="roundRect">
            <a:avLst>
              <a:gd name="adj" fmla="val 12698"/>
            </a:avLst>
          </a:prstGeom>
          <a:solidFill>
            <a:srgbClr val="1C7293"/>
          </a:solidFill>
          <a:ln/>
        </p:spPr>
      </p:sp>
      <p:sp>
        <p:nvSpPr>
          <p:cNvPr id="118" name="Shape 116"/>
          <p:cNvSpPr/>
          <p:nvPr/>
        </p:nvSpPr>
        <p:spPr>
          <a:xfrm>
            <a:off x="548640" y="4681728"/>
            <a:ext cx="3520440" cy="397764"/>
          </a:xfrm>
          <a:prstGeom prst="rect">
            <a:avLst/>
          </a:prstGeom>
          <a:solidFill>
            <a:srgbClr val="FFFFFF"/>
          </a:solidFill>
          <a:ln w="6350">
            <a:solidFill>
              <a:srgbClr val="DCE6E9"/>
            </a:solidFill>
            <a:prstDash val="solid"/>
          </a:ln>
        </p:spPr>
      </p:sp>
      <p:sp>
        <p:nvSpPr>
          <p:cNvPr id="119" name="Text 117"/>
          <p:cNvSpPr/>
          <p:nvPr/>
        </p:nvSpPr>
        <p:spPr>
          <a:xfrm>
            <a:off x="621792" y="4681728"/>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Diseño y ejecución del plan de pruebas</a:t>
            </a:r>
            <a:endParaRPr lang="en-US" sz="950" dirty="0"/>
          </a:p>
        </p:txBody>
      </p:sp>
      <p:sp>
        <p:nvSpPr>
          <p:cNvPr id="120" name="Shape 118"/>
          <p:cNvSpPr/>
          <p:nvPr/>
        </p:nvSpPr>
        <p:spPr>
          <a:xfrm>
            <a:off x="4069080" y="4681728"/>
            <a:ext cx="843280" cy="397764"/>
          </a:xfrm>
          <a:prstGeom prst="rect">
            <a:avLst/>
          </a:prstGeom>
          <a:solidFill>
            <a:srgbClr val="FFFFFF"/>
          </a:solidFill>
          <a:ln w="6350">
            <a:solidFill>
              <a:srgbClr val="DCE6E9"/>
            </a:solidFill>
            <a:prstDash val="solid"/>
          </a:ln>
        </p:spPr>
      </p:sp>
      <p:sp>
        <p:nvSpPr>
          <p:cNvPr id="121" name="Shape 119"/>
          <p:cNvSpPr/>
          <p:nvPr/>
        </p:nvSpPr>
        <p:spPr>
          <a:xfrm>
            <a:off x="4912360" y="4681728"/>
            <a:ext cx="843280" cy="397764"/>
          </a:xfrm>
          <a:prstGeom prst="rect">
            <a:avLst/>
          </a:prstGeom>
          <a:solidFill>
            <a:srgbClr val="FFFFFF"/>
          </a:solidFill>
          <a:ln w="6350">
            <a:solidFill>
              <a:srgbClr val="DCE6E9"/>
            </a:solidFill>
            <a:prstDash val="solid"/>
          </a:ln>
        </p:spPr>
      </p:sp>
      <p:sp>
        <p:nvSpPr>
          <p:cNvPr id="122" name="Shape 120"/>
          <p:cNvSpPr/>
          <p:nvPr/>
        </p:nvSpPr>
        <p:spPr>
          <a:xfrm>
            <a:off x="5755640" y="4681728"/>
            <a:ext cx="843280" cy="397764"/>
          </a:xfrm>
          <a:prstGeom prst="rect">
            <a:avLst/>
          </a:prstGeom>
          <a:solidFill>
            <a:srgbClr val="FFFFFF"/>
          </a:solidFill>
          <a:ln w="6350">
            <a:solidFill>
              <a:srgbClr val="DCE6E9"/>
            </a:solidFill>
            <a:prstDash val="solid"/>
          </a:ln>
        </p:spPr>
      </p:sp>
      <p:sp>
        <p:nvSpPr>
          <p:cNvPr id="123" name="Shape 121"/>
          <p:cNvSpPr/>
          <p:nvPr/>
        </p:nvSpPr>
        <p:spPr>
          <a:xfrm>
            <a:off x="6598920" y="4681728"/>
            <a:ext cx="843280" cy="397764"/>
          </a:xfrm>
          <a:prstGeom prst="rect">
            <a:avLst/>
          </a:prstGeom>
          <a:solidFill>
            <a:srgbClr val="FFFFFF"/>
          </a:solidFill>
          <a:ln w="6350">
            <a:solidFill>
              <a:srgbClr val="DCE6E9"/>
            </a:solidFill>
            <a:prstDash val="solid"/>
          </a:ln>
        </p:spPr>
      </p:sp>
      <p:sp>
        <p:nvSpPr>
          <p:cNvPr id="124" name="Shape 122"/>
          <p:cNvSpPr/>
          <p:nvPr/>
        </p:nvSpPr>
        <p:spPr>
          <a:xfrm>
            <a:off x="7442200" y="4681728"/>
            <a:ext cx="843280" cy="397764"/>
          </a:xfrm>
          <a:prstGeom prst="rect">
            <a:avLst/>
          </a:prstGeom>
          <a:solidFill>
            <a:srgbClr val="FFFFFF"/>
          </a:solidFill>
          <a:ln w="6350">
            <a:solidFill>
              <a:srgbClr val="DCE6E9"/>
            </a:solidFill>
            <a:prstDash val="solid"/>
          </a:ln>
        </p:spPr>
      </p:sp>
      <p:sp>
        <p:nvSpPr>
          <p:cNvPr id="125" name="Shape 123"/>
          <p:cNvSpPr/>
          <p:nvPr/>
        </p:nvSpPr>
        <p:spPr>
          <a:xfrm>
            <a:off x="8285480" y="4681728"/>
            <a:ext cx="843280" cy="397764"/>
          </a:xfrm>
          <a:prstGeom prst="rect">
            <a:avLst/>
          </a:prstGeom>
          <a:solidFill>
            <a:srgbClr val="FFFFFF"/>
          </a:solidFill>
          <a:ln w="6350">
            <a:solidFill>
              <a:srgbClr val="DCE6E9"/>
            </a:solidFill>
            <a:prstDash val="solid"/>
          </a:ln>
        </p:spPr>
      </p:sp>
      <p:sp>
        <p:nvSpPr>
          <p:cNvPr id="126" name="Shape 124"/>
          <p:cNvSpPr/>
          <p:nvPr/>
        </p:nvSpPr>
        <p:spPr>
          <a:xfrm>
            <a:off x="9128760" y="4681728"/>
            <a:ext cx="843280" cy="397764"/>
          </a:xfrm>
          <a:prstGeom prst="rect">
            <a:avLst/>
          </a:prstGeom>
          <a:solidFill>
            <a:srgbClr val="FFFFFF"/>
          </a:solidFill>
          <a:ln w="6350">
            <a:solidFill>
              <a:srgbClr val="DCE6E9"/>
            </a:solidFill>
            <a:prstDash val="solid"/>
          </a:ln>
        </p:spPr>
      </p:sp>
      <p:sp>
        <p:nvSpPr>
          <p:cNvPr id="127" name="Shape 125"/>
          <p:cNvSpPr/>
          <p:nvPr/>
        </p:nvSpPr>
        <p:spPr>
          <a:xfrm>
            <a:off x="9972040" y="4681728"/>
            <a:ext cx="843280" cy="397764"/>
          </a:xfrm>
          <a:prstGeom prst="rect">
            <a:avLst/>
          </a:prstGeom>
          <a:solidFill>
            <a:srgbClr val="FFFFFF"/>
          </a:solidFill>
          <a:ln w="6350">
            <a:solidFill>
              <a:srgbClr val="DCE6E9"/>
            </a:solidFill>
            <a:prstDash val="solid"/>
          </a:ln>
        </p:spPr>
      </p:sp>
      <p:sp>
        <p:nvSpPr>
          <p:cNvPr id="128" name="Shape 126"/>
          <p:cNvSpPr/>
          <p:nvPr/>
        </p:nvSpPr>
        <p:spPr>
          <a:xfrm>
            <a:off x="10815320" y="4681728"/>
            <a:ext cx="843280" cy="397764"/>
          </a:xfrm>
          <a:prstGeom prst="rect">
            <a:avLst/>
          </a:prstGeom>
          <a:solidFill>
            <a:srgbClr val="FFFFFF"/>
          </a:solidFill>
          <a:ln w="6350">
            <a:solidFill>
              <a:srgbClr val="DCE6E9"/>
            </a:solidFill>
            <a:prstDash val="solid"/>
          </a:ln>
        </p:spPr>
      </p:sp>
      <p:sp>
        <p:nvSpPr>
          <p:cNvPr id="129" name="Shape 127"/>
          <p:cNvSpPr/>
          <p:nvPr/>
        </p:nvSpPr>
        <p:spPr>
          <a:xfrm>
            <a:off x="9156192" y="4736592"/>
            <a:ext cx="1631696" cy="288036"/>
          </a:xfrm>
          <a:prstGeom prst="roundRect">
            <a:avLst>
              <a:gd name="adj" fmla="val 12698"/>
            </a:avLst>
          </a:prstGeom>
          <a:solidFill>
            <a:srgbClr val="E76F51"/>
          </a:solidFill>
          <a:ln/>
        </p:spPr>
      </p:sp>
      <p:sp>
        <p:nvSpPr>
          <p:cNvPr id="130" name="Shape 128"/>
          <p:cNvSpPr/>
          <p:nvPr/>
        </p:nvSpPr>
        <p:spPr>
          <a:xfrm>
            <a:off x="548640" y="5079492"/>
            <a:ext cx="3520440" cy="397764"/>
          </a:xfrm>
          <a:prstGeom prst="rect">
            <a:avLst/>
          </a:prstGeom>
          <a:solidFill>
            <a:srgbClr val="E4EFF1"/>
          </a:solidFill>
          <a:ln w="6350">
            <a:solidFill>
              <a:srgbClr val="DCE6E9"/>
            </a:solidFill>
            <a:prstDash val="solid"/>
          </a:ln>
        </p:spPr>
      </p:sp>
      <p:sp>
        <p:nvSpPr>
          <p:cNvPr id="131" name="Text 129"/>
          <p:cNvSpPr/>
          <p:nvPr/>
        </p:nvSpPr>
        <p:spPr>
          <a:xfrm>
            <a:off x="621792" y="5079492"/>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Validación en entorno simulado</a:t>
            </a:r>
            <a:endParaRPr lang="en-US" sz="950" dirty="0"/>
          </a:p>
        </p:txBody>
      </p:sp>
      <p:sp>
        <p:nvSpPr>
          <p:cNvPr id="132" name="Shape 130"/>
          <p:cNvSpPr/>
          <p:nvPr/>
        </p:nvSpPr>
        <p:spPr>
          <a:xfrm>
            <a:off x="4069080" y="5079492"/>
            <a:ext cx="843280" cy="397764"/>
          </a:xfrm>
          <a:prstGeom prst="rect">
            <a:avLst/>
          </a:prstGeom>
          <a:solidFill>
            <a:srgbClr val="E4EFF1"/>
          </a:solidFill>
          <a:ln w="6350">
            <a:solidFill>
              <a:srgbClr val="DCE6E9"/>
            </a:solidFill>
            <a:prstDash val="solid"/>
          </a:ln>
        </p:spPr>
      </p:sp>
      <p:sp>
        <p:nvSpPr>
          <p:cNvPr id="133" name="Shape 131"/>
          <p:cNvSpPr/>
          <p:nvPr/>
        </p:nvSpPr>
        <p:spPr>
          <a:xfrm>
            <a:off x="4912360" y="5079492"/>
            <a:ext cx="843280" cy="397764"/>
          </a:xfrm>
          <a:prstGeom prst="rect">
            <a:avLst/>
          </a:prstGeom>
          <a:solidFill>
            <a:srgbClr val="E4EFF1"/>
          </a:solidFill>
          <a:ln w="6350">
            <a:solidFill>
              <a:srgbClr val="DCE6E9"/>
            </a:solidFill>
            <a:prstDash val="solid"/>
          </a:ln>
        </p:spPr>
      </p:sp>
      <p:sp>
        <p:nvSpPr>
          <p:cNvPr id="134" name="Shape 132"/>
          <p:cNvSpPr/>
          <p:nvPr/>
        </p:nvSpPr>
        <p:spPr>
          <a:xfrm>
            <a:off x="5755640" y="5079492"/>
            <a:ext cx="843280" cy="397764"/>
          </a:xfrm>
          <a:prstGeom prst="rect">
            <a:avLst/>
          </a:prstGeom>
          <a:solidFill>
            <a:srgbClr val="E4EFF1"/>
          </a:solidFill>
          <a:ln w="6350">
            <a:solidFill>
              <a:srgbClr val="DCE6E9"/>
            </a:solidFill>
            <a:prstDash val="solid"/>
          </a:ln>
        </p:spPr>
      </p:sp>
      <p:sp>
        <p:nvSpPr>
          <p:cNvPr id="135" name="Shape 133"/>
          <p:cNvSpPr/>
          <p:nvPr/>
        </p:nvSpPr>
        <p:spPr>
          <a:xfrm>
            <a:off x="6598920" y="5079492"/>
            <a:ext cx="843280" cy="397764"/>
          </a:xfrm>
          <a:prstGeom prst="rect">
            <a:avLst/>
          </a:prstGeom>
          <a:solidFill>
            <a:srgbClr val="E4EFF1"/>
          </a:solidFill>
          <a:ln w="6350">
            <a:solidFill>
              <a:srgbClr val="DCE6E9"/>
            </a:solidFill>
            <a:prstDash val="solid"/>
          </a:ln>
        </p:spPr>
      </p:sp>
      <p:sp>
        <p:nvSpPr>
          <p:cNvPr id="136" name="Shape 134"/>
          <p:cNvSpPr/>
          <p:nvPr/>
        </p:nvSpPr>
        <p:spPr>
          <a:xfrm>
            <a:off x="7442200" y="5079492"/>
            <a:ext cx="843280" cy="397764"/>
          </a:xfrm>
          <a:prstGeom prst="rect">
            <a:avLst/>
          </a:prstGeom>
          <a:solidFill>
            <a:srgbClr val="E4EFF1"/>
          </a:solidFill>
          <a:ln w="6350">
            <a:solidFill>
              <a:srgbClr val="DCE6E9"/>
            </a:solidFill>
            <a:prstDash val="solid"/>
          </a:ln>
        </p:spPr>
      </p:sp>
      <p:sp>
        <p:nvSpPr>
          <p:cNvPr id="137" name="Shape 135"/>
          <p:cNvSpPr/>
          <p:nvPr/>
        </p:nvSpPr>
        <p:spPr>
          <a:xfrm>
            <a:off x="8285480" y="5079492"/>
            <a:ext cx="843280" cy="397764"/>
          </a:xfrm>
          <a:prstGeom prst="rect">
            <a:avLst/>
          </a:prstGeom>
          <a:solidFill>
            <a:srgbClr val="E4EFF1"/>
          </a:solidFill>
          <a:ln w="6350">
            <a:solidFill>
              <a:srgbClr val="DCE6E9"/>
            </a:solidFill>
            <a:prstDash val="solid"/>
          </a:ln>
        </p:spPr>
      </p:sp>
      <p:sp>
        <p:nvSpPr>
          <p:cNvPr id="138" name="Shape 136"/>
          <p:cNvSpPr/>
          <p:nvPr/>
        </p:nvSpPr>
        <p:spPr>
          <a:xfrm>
            <a:off x="9128760" y="5079492"/>
            <a:ext cx="843280" cy="397764"/>
          </a:xfrm>
          <a:prstGeom prst="rect">
            <a:avLst/>
          </a:prstGeom>
          <a:solidFill>
            <a:srgbClr val="E4EFF1"/>
          </a:solidFill>
          <a:ln w="6350">
            <a:solidFill>
              <a:srgbClr val="DCE6E9"/>
            </a:solidFill>
            <a:prstDash val="solid"/>
          </a:ln>
        </p:spPr>
      </p:sp>
      <p:sp>
        <p:nvSpPr>
          <p:cNvPr id="139" name="Shape 137"/>
          <p:cNvSpPr/>
          <p:nvPr/>
        </p:nvSpPr>
        <p:spPr>
          <a:xfrm>
            <a:off x="9972040" y="5079492"/>
            <a:ext cx="843280" cy="397764"/>
          </a:xfrm>
          <a:prstGeom prst="rect">
            <a:avLst/>
          </a:prstGeom>
          <a:solidFill>
            <a:srgbClr val="E4EFF1"/>
          </a:solidFill>
          <a:ln w="6350">
            <a:solidFill>
              <a:srgbClr val="DCE6E9"/>
            </a:solidFill>
            <a:prstDash val="solid"/>
          </a:ln>
        </p:spPr>
      </p:sp>
      <p:sp>
        <p:nvSpPr>
          <p:cNvPr id="140" name="Shape 138"/>
          <p:cNvSpPr/>
          <p:nvPr/>
        </p:nvSpPr>
        <p:spPr>
          <a:xfrm>
            <a:off x="10815320" y="5079492"/>
            <a:ext cx="843280" cy="397764"/>
          </a:xfrm>
          <a:prstGeom prst="rect">
            <a:avLst/>
          </a:prstGeom>
          <a:solidFill>
            <a:srgbClr val="E4EFF1"/>
          </a:solidFill>
          <a:ln w="6350">
            <a:solidFill>
              <a:srgbClr val="DCE6E9"/>
            </a:solidFill>
            <a:prstDash val="solid"/>
          </a:ln>
        </p:spPr>
      </p:sp>
      <p:sp>
        <p:nvSpPr>
          <p:cNvPr id="141" name="Shape 139"/>
          <p:cNvSpPr/>
          <p:nvPr/>
        </p:nvSpPr>
        <p:spPr>
          <a:xfrm>
            <a:off x="9999472" y="5134356"/>
            <a:ext cx="788416" cy="288036"/>
          </a:xfrm>
          <a:prstGeom prst="roundRect">
            <a:avLst>
              <a:gd name="adj" fmla="val 12698"/>
            </a:avLst>
          </a:prstGeom>
          <a:solidFill>
            <a:srgbClr val="0B3C5D"/>
          </a:solidFill>
          <a:ln/>
        </p:spPr>
      </p:sp>
      <p:sp>
        <p:nvSpPr>
          <p:cNvPr id="142" name="Shape 140"/>
          <p:cNvSpPr/>
          <p:nvPr/>
        </p:nvSpPr>
        <p:spPr>
          <a:xfrm>
            <a:off x="548640" y="5477256"/>
            <a:ext cx="3520440" cy="397764"/>
          </a:xfrm>
          <a:prstGeom prst="rect">
            <a:avLst/>
          </a:prstGeom>
          <a:solidFill>
            <a:srgbClr val="FFFFFF"/>
          </a:solidFill>
          <a:ln w="6350">
            <a:solidFill>
              <a:srgbClr val="DCE6E9"/>
            </a:solidFill>
            <a:prstDash val="solid"/>
          </a:ln>
        </p:spPr>
      </p:sp>
      <p:sp>
        <p:nvSpPr>
          <p:cNvPr id="143" name="Text 141"/>
          <p:cNvSpPr/>
          <p:nvPr/>
        </p:nvSpPr>
        <p:spPr>
          <a:xfrm>
            <a:off x="621792" y="5477256"/>
            <a:ext cx="3374136" cy="397764"/>
          </a:xfrm>
          <a:prstGeom prst="rect">
            <a:avLst/>
          </a:prstGeom>
          <a:noFill/>
          <a:ln/>
        </p:spPr>
        <p:txBody>
          <a:bodyPr wrap="square" rtlCol="0" anchor="ctr"/>
          <a:lstStyle/>
          <a:p>
            <a:pPr algn="l" indent="0" marL="0">
              <a:buNone/>
            </a:pPr>
            <a:r>
              <a:rPr lang="en-US" sz="950" dirty="0">
                <a:solidFill>
                  <a:srgbClr val="22333B"/>
                </a:solidFill>
                <a:latin typeface="Calibri" pitchFamily="34" charset="0"/>
                <a:ea typeface="Calibri" pitchFamily="34" charset="-122"/>
                <a:cs typeface="Calibri" pitchFamily="34" charset="-120"/>
              </a:rPr>
              <a:t>Consolidación y cierre del proyecto</a:t>
            </a:r>
            <a:endParaRPr lang="en-US" sz="950" dirty="0"/>
          </a:p>
        </p:txBody>
      </p:sp>
      <p:sp>
        <p:nvSpPr>
          <p:cNvPr id="144" name="Shape 142"/>
          <p:cNvSpPr/>
          <p:nvPr/>
        </p:nvSpPr>
        <p:spPr>
          <a:xfrm>
            <a:off x="4069080" y="5477256"/>
            <a:ext cx="843280" cy="397764"/>
          </a:xfrm>
          <a:prstGeom prst="rect">
            <a:avLst/>
          </a:prstGeom>
          <a:solidFill>
            <a:srgbClr val="FFFFFF"/>
          </a:solidFill>
          <a:ln w="6350">
            <a:solidFill>
              <a:srgbClr val="DCE6E9"/>
            </a:solidFill>
            <a:prstDash val="solid"/>
          </a:ln>
        </p:spPr>
      </p:sp>
      <p:sp>
        <p:nvSpPr>
          <p:cNvPr id="145" name="Shape 143"/>
          <p:cNvSpPr/>
          <p:nvPr/>
        </p:nvSpPr>
        <p:spPr>
          <a:xfrm>
            <a:off x="4912360" y="5477256"/>
            <a:ext cx="843280" cy="397764"/>
          </a:xfrm>
          <a:prstGeom prst="rect">
            <a:avLst/>
          </a:prstGeom>
          <a:solidFill>
            <a:srgbClr val="FFFFFF"/>
          </a:solidFill>
          <a:ln w="6350">
            <a:solidFill>
              <a:srgbClr val="DCE6E9"/>
            </a:solidFill>
            <a:prstDash val="solid"/>
          </a:ln>
        </p:spPr>
      </p:sp>
      <p:sp>
        <p:nvSpPr>
          <p:cNvPr id="146" name="Shape 144"/>
          <p:cNvSpPr/>
          <p:nvPr/>
        </p:nvSpPr>
        <p:spPr>
          <a:xfrm>
            <a:off x="5755640" y="5477256"/>
            <a:ext cx="843280" cy="397764"/>
          </a:xfrm>
          <a:prstGeom prst="rect">
            <a:avLst/>
          </a:prstGeom>
          <a:solidFill>
            <a:srgbClr val="FFFFFF"/>
          </a:solidFill>
          <a:ln w="6350">
            <a:solidFill>
              <a:srgbClr val="DCE6E9"/>
            </a:solidFill>
            <a:prstDash val="solid"/>
          </a:ln>
        </p:spPr>
      </p:sp>
      <p:sp>
        <p:nvSpPr>
          <p:cNvPr id="147" name="Shape 145"/>
          <p:cNvSpPr/>
          <p:nvPr/>
        </p:nvSpPr>
        <p:spPr>
          <a:xfrm>
            <a:off x="6598920" y="5477256"/>
            <a:ext cx="843280" cy="397764"/>
          </a:xfrm>
          <a:prstGeom prst="rect">
            <a:avLst/>
          </a:prstGeom>
          <a:solidFill>
            <a:srgbClr val="FFFFFF"/>
          </a:solidFill>
          <a:ln w="6350">
            <a:solidFill>
              <a:srgbClr val="DCE6E9"/>
            </a:solidFill>
            <a:prstDash val="solid"/>
          </a:ln>
        </p:spPr>
      </p:sp>
      <p:sp>
        <p:nvSpPr>
          <p:cNvPr id="148" name="Shape 146"/>
          <p:cNvSpPr/>
          <p:nvPr/>
        </p:nvSpPr>
        <p:spPr>
          <a:xfrm>
            <a:off x="7442200" y="5477256"/>
            <a:ext cx="843280" cy="397764"/>
          </a:xfrm>
          <a:prstGeom prst="rect">
            <a:avLst/>
          </a:prstGeom>
          <a:solidFill>
            <a:srgbClr val="FFFFFF"/>
          </a:solidFill>
          <a:ln w="6350">
            <a:solidFill>
              <a:srgbClr val="DCE6E9"/>
            </a:solidFill>
            <a:prstDash val="solid"/>
          </a:ln>
        </p:spPr>
      </p:sp>
      <p:sp>
        <p:nvSpPr>
          <p:cNvPr id="149" name="Shape 147"/>
          <p:cNvSpPr/>
          <p:nvPr/>
        </p:nvSpPr>
        <p:spPr>
          <a:xfrm>
            <a:off x="8285480" y="5477256"/>
            <a:ext cx="843280" cy="397764"/>
          </a:xfrm>
          <a:prstGeom prst="rect">
            <a:avLst/>
          </a:prstGeom>
          <a:solidFill>
            <a:srgbClr val="FFFFFF"/>
          </a:solidFill>
          <a:ln w="6350">
            <a:solidFill>
              <a:srgbClr val="DCE6E9"/>
            </a:solidFill>
            <a:prstDash val="solid"/>
          </a:ln>
        </p:spPr>
      </p:sp>
      <p:sp>
        <p:nvSpPr>
          <p:cNvPr id="150" name="Shape 148"/>
          <p:cNvSpPr/>
          <p:nvPr/>
        </p:nvSpPr>
        <p:spPr>
          <a:xfrm>
            <a:off x="9128760" y="5477256"/>
            <a:ext cx="843280" cy="397764"/>
          </a:xfrm>
          <a:prstGeom prst="rect">
            <a:avLst/>
          </a:prstGeom>
          <a:solidFill>
            <a:srgbClr val="FFFFFF"/>
          </a:solidFill>
          <a:ln w="6350">
            <a:solidFill>
              <a:srgbClr val="DCE6E9"/>
            </a:solidFill>
            <a:prstDash val="solid"/>
          </a:ln>
        </p:spPr>
      </p:sp>
      <p:sp>
        <p:nvSpPr>
          <p:cNvPr id="151" name="Shape 149"/>
          <p:cNvSpPr/>
          <p:nvPr/>
        </p:nvSpPr>
        <p:spPr>
          <a:xfrm>
            <a:off x="9972040" y="5477256"/>
            <a:ext cx="843280" cy="397764"/>
          </a:xfrm>
          <a:prstGeom prst="rect">
            <a:avLst/>
          </a:prstGeom>
          <a:solidFill>
            <a:srgbClr val="FFFFFF"/>
          </a:solidFill>
          <a:ln w="6350">
            <a:solidFill>
              <a:srgbClr val="DCE6E9"/>
            </a:solidFill>
            <a:prstDash val="solid"/>
          </a:ln>
        </p:spPr>
      </p:sp>
      <p:sp>
        <p:nvSpPr>
          <p:cNvPr id="152" name="Shape 150"/>
          <p:cNvSpPr/>
          <p:nvPr/>
        </p:nvSpPr>
        <p:spPr>
          <a:xfrm>
            <a:off x="10815320" y="5477256"/>
            <a:ext cx="843280" cy="397764"/>
          </a:xfrm>
          <a:prstGeom prst="rect">
            <a:avLst/>
          </a:prstGeom>
          <a:solidFill>
            <a:srgbClr val="FFFFFF"/>
          </a:solidFill>
          <a:ln w="6350">
            <a:solidFill>
              <a:srgbClr val="DCE6E9"/>
            </a:solidFill>
            <a:prstDash val="solid"/>
          </a:ln>
        </p:spPr>
      </p:sp>
      <p:sp>
        <p:nvSpPr>
          <p:cNvPr id="153" name="Shape 151"/>
          <p:cNvSpPr/>
          <p:nvPr/>
        </p:nvSpPr>
        <p:spPr>
          <a:xfrm>
            <a:off x="10842752" y="5532120"/>
            <a:ext cx="788416" cy="288036"/>
          </a:xfrm>
          <a:prstGeom prst="roundRect">
            <a:avLst>
              <a:gd name="adj" fmla="val 12698"/>
            </a:avLst>
          </a:prstGeom>
          <a:solidFill>
            <a:srgbClr val="1C7293"/>
          </a:solidFill>
          <a:ln/>
        </p:spPr>
      </p:sp>
      <p:sp>
        <p:nvSpPr>
          <p:cNvPr id="154" name="Text 152"/>
          <p:cNvSpPr/>
          <p:nvPr/>
        </p:nvSpPr>
        <p:spPr>
          <a:xfrm>
            <a:off x="548640" y="5948172"/>
            <a:ext cx="11109960" cy="256032"/>
          </a:xfrm>
          <a:prstGeom prst="rect">
            <a:avLst/>
          </a:prstGeom>
          <a:noFill/>
          <a:ln/>
        </p:spPr>
        <p:txBody>
          <a:bodyPr wrap="square" rtlCol="0" anchor="ctr"/>
          <a:lstStyle/>
          <a:p>
            <a:pPr indent="0" marL="0">
              <a:buNone/>
            </a:pPr>
            <a:r>
              <a:rPr lang="en-US" sz="1000" i="1" dirty="0">
                <a:solidFill>
                  <a:srgbClr val="6B7B8C"/>
                </a:solidFill>
                <a:latin typeface="Calibri" pitchFamily="34" charset="0"/>
                <a:ea typeface="Calibri" pitchFamily="34" charset="-122"/>
                <a:cs typeface="Calibri" pitchFamily="34" charset="-120"/>
              </a:rPr>
              <a:t>Cronograma correspondiente a la Fase 2 del semestre (semanas 5–13), dentro del periodo académico del 10 de agosto al 23 de noviembre de 2026.</a:t>
            </a:r>
            <a:endParaRPr lang="en-US" sz="1000" dirty="0"/>
          </a:p>
        </p:txBody>
      </p:sp>
      <p:sp>
        <p:nvSpPr>
          <p:cNvPr id="155" name="Text 153"/>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156" name="Text 154"/>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9"/>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E76F51"/>
                </a:solidFill>
                <a:latin typeface="Calibri" pitchFamily="34" charset="0"/>
                <a:ea typeface="Calibri" pitchFamily="34" charset="-122"/>
                <a:cs typeface="Calibri" pitchFamily="34" charset="-120"/>
              </a:rPr>
              <a:t>8. EVIDENCIAS</a:t>
            </a:r>
            <a:endParaRPr lang="en-US" sz="1200" dirty="0"/>
          </a:p>
        </p:txBody>
      </p:sp>
      <p:sp>
        <p:nvSpPr>
          <p:cNvPr id="3" name="Text 1"/>
          <p:cNvSpPr/>
          <p:nvPr/>
        </p:nvSpPr>
        <p:spPr>
          <a:xfrm>
            <a:off x="548640" y="384048"/>
            <a:ext cx="11091672" cy="640080"/>
          </a:xfrm>
          <a:prstGeom prst="rect">
            <a:avLst/>
          </a:prstGeom>
          <a:noFill/>
          <a:ln/>
        </p:spPr>
        <p:txBody>
          <a:bodyPr wrap="square" rtlCol="0" anchor="ctr"/>
          <a:lstStyle/>
          <a:p>
            <a:pPr algn="l" indent="0" marL="0">
              <a:buNone/>
            </a:pPr>
            <a:r>
              <a:rPr lang="en-US" sz="3000" b="1" dirty="0">
                <a:solidFill>
                  <a:srgbClr val="0B3C5D"/>
                </a:solidFill>
                <a:latin typeface="Cambria" pitchFamily="34" charset="0"/>
                <a:ea typeface="Cambria" pitchFamily="34" charset="-122"/>
                <a:cs typeface="Cambria" pitchFamily="34" charset="-120"/>
              </a:rPr>
              <a:t>Evidencias del Proyecto APT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5120640"/>
        </p:xfrm>
        <a:graphic>
          <a:graphicData uri="http://schemas.openxmlformats.org/drawingml/2006/table">
            <a:tbl>
              <a:tblPr/>
              <a:tblGrid>
                <a:gridCol w="3063240"/>
                <a:gridCol w="1188720"/>
                <a:gridCol w="6858000"/>
              </a:tblGrid>
              <a:tr h="7315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Evidencia</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Tipo</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Justificación</a:t>
                      </a:r>
                      <a:endParaRPr lang="en-US" sz="120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0B3C5D"/>
                    </a:solidFill>
                  </a:tcPr>
                </a:tc>
              </a:tr>
              <a:tr h="731520">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Autoevaluación de Competencias</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2333B"/>
                          </a:solidFill>
                          <a:latin typeface="Calibri" pitchFamily="34" charset="0"/>
                          <a:ea typeface="Calibri" pitchFamily="34" charset="-122"/>
                          <a:cs typeface="Calibri" pitchFamily="34" charset="-120"/>
                        </a:rPr>
                        <a:t>Avance</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Permite evaluar el logro de las competencias del perfil de egreso, identificando fortalezas y áreas de mejora.</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731520">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Diario de Reflexión</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l" indent="0" marL="0">
                        <a:buNone/>
                      </a:pPr>
                      <a:r>
                        <a:rPr lang="en-US" sz="1150" b="1" dirty="0">
                          <a:solidFill>
                            <a:srgbClr val="22333B"/>
                          </a:solidFill>
                          <a:latin typeface="Calibri" pitchFamily="34" charset="0"/>
                          <a:ea typeface="Calibri" pitchFamily="34" charset="-122"/>
                          <a:cs typeface="Calibri" pitchFamily="34" charset="-120"/>
                        </a:rPr>
                        <a:t>Avance</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Permite reconocer fortalezas, oportunidades de mejora e intereses profesionales, orientando el proyecto hacia ellos.</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r h="731520">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Autoevaluación del Proyecto</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2333B"/>
                          </a:solidFill>
                          <a:latin typeface="Calibri" pitchFamily="34" charset="0"/>
                          <a:ea typeface="Calibri" pitchFamily="34" charset="-122"/>
                          <a:cs typeface="Calibri" pitchFamily="34" charset="-120"/>
                        </a:rPr>
                        <a:t>Avance</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Permite identificar aspectos por mejorar en objetivos, metodología, planificación y aspectos formales.</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731520">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Definición del Proyecto APT</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l" indent="0" marL="0">
                        <a:buNone/>
                      </a:pPr>
                      <a:r>
                        <a:rPr lang="en-US" sz="1150" b="1" dirty="0">
                          <a:solidFill>
                            <a:srgbClr val="22333B"/>
                          </a:solidFill>
                          <a:latin typeface="Calibri" pitchFamily="34" charset="0"/>
                          <a:ea typeface="Calibri" pitchFamily="34" charset="-122"/>
                          <a:cs typeface="Calibri" pitchFamily="34" charset="-120"/>
                        </a:rPr>
                        <a:t>Avance</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Permite planificar y organizar el desarrollo, estableciendo actividades, recursos, responsables y tiempos.</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r h="731520">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Presentación del Proyecto</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2333B"/>
                          </a:solidFill>
                          <a:latin typeface="Calibri" pitchFamily="34" charset="0"/>
                          <a:ea typeface="Calibri" pitchFamily="34" charset="-122"/>
                          <a:cs typeface="Calibri" pitchFamily="34" charset="-120"/>
                        </a:rPr>
                        <a:t>Avance</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Permite evidenciar de manera visual el trabajo realizado, los avances y los resultados obtenidos.</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FFFFFF"/>
                    </a:solidFill>
                  </a:tcPr>
                </a:tc>
              </a:tr>
              <a:tr h="731520">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Planilla de Evaluación Fase 1</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l" indent="0" marL="0">
                        <a:buNone/>
                      </a:pPr>
                      <a:r>
                        <a:rPr lang="en-US" sz="1150" b="1" dirty="0">
                          <a:solidFill>
                            <a:srgbClr val="22333B"/>
                          </a:solidFill>
                          <a:latin typeface="Calibri" pitchFamily="34" charset="0"/>
                          <a:ea typeface="Calibri" pitchFamily="34" charset="-122"/>
                          <a:cs typeface="Calibri" pitchFamily="34" charset="-120"/>
                        </a:rPr>
                        <a:t>Final</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c>
                  <a:txBody>
                    <a:bodyPr/>
                    <a:lstStyle/>
                    <a:p>
                      <a:pPr algn="l" indent="0" marL="0">
                        <a:buNone/>
                      </a:pPr>
                      <a:r>
                        <a:rPr lang="en-US" sz="1150" dirty="0">
                          <a:solidFill>
                            <a:srgbClr val="22333B"/>
                          </a:solidFill>
                          <a:latin typeface="Calibri" pitchFamily="34" charset="0"/>
                          <a:ea typeface="Calibri" pitchFamily="34" charset="-122"/>
                          <a:cs typeface="Calibri" pitchFamily="34" charset="-120"/>
                        </a:rPr>
                        <a:t>Permite evidenciar el nivel de cumplimiento de los criterios y la retroalimentación de la primera fase.</a:t>
                      </a:r>
                      <a:endParaRPr lang="en-US" sz="1150" dirty="0">
                        <a:latin typeface="Calibri" charset="0"/>
                        <a:ea typeface="Calibri" charset="0"/>
                        <a:cs typeface="Calibri" charset="0"/>
                      </a:endParaRPr>
                    </a:p>
                  </a:txBody>
                  <a:tcPr marL="91440" marR="91440" marT="45720" marB="45720" anchor="ctr">
                    <a:lnL w="9525" cap="flat" cmpd="sng" algn="ctr">
                      <a:solidFill>
                        <a:srgbClr val="DCE6E9"/>
                      </a:solidFill>
                      <a:prstDash val="solid"/>
                      <a:round/>
                      <a:headEnd type="none" w="med" len="med"/>
                      <a:tailEnd type="none" w="med" len="med"/>
                    </a:lnL>
                    <a:lnR w="9525" cap="flat" cmpd="sng" algn="ctr">
                      <a:solidFill>
                        <a:srgbClr val="DCE6E9"/>
                      </a:solidFill>
                      <a:prstDash val="solid"/>
                      <a:round/>
                      <a:headEnd type="none" w="med" len="med"/>
                      <a:tailEnd type="none" w="med" len="med"/>
                    </a:lnR>
                    <a:lnT w="9525" cap="flat" cmpd="sng" algn="ctr">
                      <a:solidFill>
                        <a:srgbClr val="DCE6E9"/>
                      </a:solidFill>
                      <a:prstDash val="solid"/>
                      <a:round/>
                      <a:headEnd type="none" w="med" len="med"/>
                      <a:tailEnd type="none" w="med" len="med"/>
                    </a:lnT>
                    <a:lnB w="9525" cap="flat" cmpd="sng" algn="ctr">
                      <a:solidFill>
                        <a:srgbClr val="DCE6E9"/>
                      </a:solidFill>
                      <a:prstDash val="solid"/>
                      <a:round/>
                      <a:headEnd type="none" w="med" len="med"/>
                      <a:tailEnd type="none" w="med" len="med"/>
                    </a:lnB>
                    <a:solidFill>
                      <a:srgbClr val="E4EFF1"/>
                    </a:solidFill>
                  </a:tcPr>
                </a:tc>
              </a:tr>
            </a:tbl>
          </a:graphicData>
        </a:graphic>
      </p:graphicFrame>
      <p:sp>
        <p:nvSpPr>
          <p:cNvPr id="5" name="Text 2"/>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6B7B8C"/>
                </a:solidFill>
                <a:latin typeface="Calibri" pitchFamily="34" charset="0"/>
                <a:ea typeface="Calibri" pitchFamily="34" charset="-122"/>
                <a:cs typeface="Calibri" pitchFamily="34" charset="-120"/>
              </a:rPr>
              <a:t>Proyecto APT — EasyStock  |  Tienda Girasol</a:t>
            </a:r>
            <a:endParaRPr lang="en-US" sz="900" dirty="0"/>
          </a:p>
        </p:txBody>
      </p:sp>
      <p:sp>
        <p:nvSpPr>
          <p:cNvPr id="6" name="Text 3"/>
          <p:cNvSpPr/>
          <p:nvPr/>
        </p:nvSpPr>
        <p:spPr>
          <a:xfrm>
            <a:off x="11457432" y="6519672"/>
            <a:ext cx="365760" cy="274320"/>
          </a:xfrm>
          <a:prstGeom prst="rect">
            <a:avLst/>
          </a:prstGeom>
          <a:noFill/>
          <a:ln/>
        </p:spPr>
        <p:txBody>
          <a:bodyPr wrap="square" rtlCol="0" anchor="ctr"/>
          <a:lstStyle/>
          <a:p>
            <a:pPr algn="r" indent="0" marL="0">
              <a:buNone/>
            </a:pPr>
            <a:r>
              <a:rPr lang="en-US" sz="900" dirty="0">
                <a:solidFill>
                  <a:srgbClr val="6B7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082A42"/>
          </a:solidFill>
          <a:ln/>
        </p:spPr>
      </p:sp>
      <p:sp>
        <p:nvSpPr>
          <p:cNvPr id="3" name="Shape 1"/>
          <p:cNvSpPr/>
          <p:nvPr/>
        </p:nvSpPr>
        <p:spPr>
          <a:xfrm>
            <a:off x="9875520" y="4114800"/>
            <a:ext cx="4114800" cy="4114800"/>
          </a:xfrm>
          <a:prstGeom prst="ellipse">
            <a:avLst/>
          </a:prstGeom>
          <a:solidFill>
            <a:srgbClr val="082A42"/>
          </a:solidFill>
          <a:ln/>
        </p:spPr>
      </p:sp>
      <p:sp>
        <p:nvSpPr>
          <p:cNvPr id="4" name="Shape 2"/>
          <p:cNvSpPr/>
          <p:nvPr/>
        </p:nvSpPr>
        <p:spPr>
          <a:xfrm>
            <a:off x="5413248" y="1828800"/>
            <a:ext cx="1371600" cy="1371600"/>
          </a:xfrm>
          <a:prstGeom prst="ellipse">
            <a:avLst/>
          </a:prstGeom>
          <a:solidFill>
            <a:srgbClr val="E76F51"/>
          </a:solidFill>
          <a:ln/>
        </p:spPr>
      </p:sp>
      <p:pic>
        <p:nvPicPr>
          <p:cNvPr id="5" name="Image 0" descr="/home/claude/proyecto_apt/icons/handshake.png">    </p:cNvPr>
          <p:cNvPicPr>
            <a:picLocks noChangeAspect="1"/>
          </p:cNvPicPr>
          <p:nvPr/>
        </p:nvPicPr>
        <p:blipFill>
          <a:blip r:embed="rId1"/>
          <a:stretch>
            <a:fillRect/>
          </a:stretch>
        </p:blipFill>
        <p:spPr>
          <a:xfrm>
            <a:off x="5742432" y="2157984"/>
            <a:ext cx="713232" cy="713232"/>
          </a:xfrm>
          <a:prstGeom prst="rect">
            <a:avLst/>
          </a:prstGeom>
        </p:spPr>
      </p:pic>
      <p:sp>
        <p:nvSpPr>
          <p:cNvPr id="6" name="Text 3"/>
          <p:cNvSpPr/>
          <p:nvPr/>
        </p:nvSpPr>
        <p:spPr>
          <a:xfrm>
            <a:off x="548640" y="3429000"/>
            <a:ext cx="11091672" cy="8229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Gracias</a:t>
            </a:r>
            <a:endParaRPr lang="en-US" sz="4000" dirty="0"/>
          </a:p>
        </p:txBody>
      </p:sp>
      <p:sp>
        <p:nvSpPr>
          <p:cNvPr id="7" name="Text 4"/>
          <p:cNvSpPr/>
          <p:nvPr/>
        </p:nvSpPr>
        <p:spPr>
          <a:xfrm>
            <a:off x="1463040" y="4160520"/>
            <a:ext cx="9262872" cy="457200"/>
          </a:xfrm>
          <a:prstGeom prst="rect">
            <a:avLst/>
          </a:prstGeom>
          <a:noFill/>
          <a:ln/>
        </p:spPr>
        <p:txBody>
          <a:bodyPr wrap="square" rtlCol="0" anchor="ctr"/>
          <a:lstStyle/>
          <a:p>
            <a:pPr algn="ctr" indent="0" marL="0">
              <a:buNone/>
            </a:pPr>
            <a:r>
              <a:rPr lang="en-US" sz="1400" i="1" dirty="0">
                <a:solidFill>
                  <a:srgbClr val="BFDCE4"/>
                </a:solidFill>
                <a:latin typeface="Calibri" pitchFamily="34" charset="0"/>
                <a:ea typeface="Calibri" pitchFamily="34" charset="-122"/>
                <a:cs typeface="Calibri" pitchFamily="34" charset="-120"/>
              </a:rPr>
              <a:t>EasyStock — Plataforma de Punto de Venta y Gestión de Inventario para Tienda Girasol</a:t>
            </a:r>
            <a:endParaRPr lang="en-US" sz="1400" dirty="0"/>
          </a:p>
        </p:txBody>
      </p:sp>
      <p:sp>
        <p:nvSpPr>
          <p:cNvPr id="8" name="Text 5"/>
          <p:cNvSpPr/>
          <p:nvPr/>
        </p:nvSpPr>
        <p:spPr>
          <a:xfrm>
            <a:off x="1463040" y="4800600"/>
            <a:ext cx="9262872"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Isabel Alvarado   ·   Bárbara Ortega   ·   Matías Parancán</a:t>
            </a:r>
            <a:endParaRPr lang="en-US" sz="1300" dirty="0"/>
          </a:p>
        </p:txBody>
      </p:sp>
      <p:sp>
        <p:nvSpPr>
          <p:cNvPr id="9" name="Text 6"/>
          <p:cNvSpPr/>
          <p:nvPr/>
        </p:nvSpPr>
        <p:spPr>
          <a:xfrm>
            <a:off x="1463040" y="5166360"/>
            <a:ext cx="9262872" cy="365760"/>
          </a:xfrm>
          <a:prstGeom prst="rect">
            <a:avLst/>
          </a:prstGeom>
          <a:noFill/>
          <a:ln/>
        </p:spPr>
        <p:txBody>
          <a:bodyPr wrap="square" rtlCol="0" anchor="ctr"/>
          <a:lstStyle/>
          <a:p>
            <a:pPr algn="ctr" indent="0" marL="0">
              <a:buNone/>
            </a:pPr>
            <a:r>
              <a:rPr lang="en-US" sz="1200" dirty="0">
                <a:solidFill>
                  <a:srgbClr val="9FD0DE"/>
                </a:solidFill>
                <a:latin typeface="Calibri" pitchFamily="34" charset="0"/>
                <a:ea typeface="Calibri" pitchFamily="34" charset="-122"/>
                <a:cs typeface="Calibri" pitchFamily="34" charset="-120"/>
              </a:rPr>
              <a:t>Ingeniería en Informática — Duoc UC, Sede Puerto Montt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EasyStock — Proyecto APT Fase 1</dc:title>
  <dc:subject>PptxGenJS Presentation</dc:subject>
  <dc:creator>Isabel Alvarado, Bárbara Ortega, Matías Parancán</dc:creator>
  <cp:lastModifiedBy>Isabel Alvarado, Bárbara Ortega, Matías Parancán</cp:lastModifiedBy>
  <cp:revision>1</cp:revision>
  <dcterms:created xsi:type="dcterms:W3CDTF">2026-08-31T05:38:23Z</dcterms:created>
  <dcterms:modified xsi:type="dcterms:W3CDTF">2026-08-31T05:38:24Z</dcterms:modified>
</cp:coreProperties>
</file>